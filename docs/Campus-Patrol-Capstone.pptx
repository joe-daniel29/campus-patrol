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Campus Patrol is a command-center dashboard for a fleet of quadruped patrol rovers on a college campus, inspired by my robotics project. Over the next slides I will walk through the app, then every DevOps stage: Git, Docker, CI/CD with a security gate, the container registry, Terraform on AWS, Kubernetes with Helm, autoscaling, observability and troubleshooting.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a security team running a fleet of patrol rovers needs a single place to see where every rover is, how much battery it has, and what it has detected. Rovers raise four kinds of detection events: unrecognised person after hours, door left open, vehicle in a restricted area, and the SOS button. Staff acknowledge and resolve them as incidents. There are no physical robots in this project; a simulator posts telemetry and events to the exact API real hardware would call. Privacy by design: only metadata is stored, never images or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halves. Top: delivery. A push to main runs GitHub Actions: tests, then three images are built, scanned by Trivy, and pushed to GitHub Container Registry tagged with the full commit SHA. Bottom: runtime on AWS in Mumbai. Terraform builds the VPC and an EKS 1.31 cluster. A browser hits the AWS load balancer, the nginx Ingress routes / to the React frontend and /api to the FastAPI backend, which stores data in PostgreSQL on an EBS volume. The simulator plays the robots. Prometheus scrapes the backend's /metrics and Grafana visualises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actual dashboard. React plus Vite, dark panel layout inspired by Foxglove. Four panels: the map with live rover positions inside campus zones, the rover table with status and battery, the event stream with severity and model confidence, and incidents that staff move from open to acknowledged to resolved. The header shows rovers online, open incidents and events in the last hour. This screenshot is the local Docker Compose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is FastAPI with SQLAlchemy and Alembic migrations on PostgreSQL 16. Endpoints cover rovers, telemetry, zones, events, incidents and summary stats. Three operational endpoints matter for Kubernetes: /health for liveness, /ready which actually checks the database, and /metrics for Prometheus. The test suite is 15 pytest tests on in-memory SQLite, isolated from the environment by pinning settings in conftest. They run in about a tenth of a second and gate every CI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work is in one GitHub repo with 86 commits. I used Conventional Commit prefixes so the history reads like a changelog: feat for features, fix for bugs, ci for pipeline changes and so on. On the left is the GitHub view; each commit shows its check status, and you can see one with a red X where a pipeline step failed, which I then fixed in the next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image runs as a non-root user: the backend as uid 10001 and the frontend on the unprivileged nginx image as uid 101. The frontend uses a multi-stage build, so Node and the build tools never ship. Docker Compose brings up the whole stack locally with one command: Postgres with a health check, the backend which runs migrations before starting, the frontend and the simulator. The bottom strip proves the same images run as non-root inside the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workflow, ci.yml, triggered on push. Backend tests and the frontend build run first. If they pass, a matrix job builds the three images in parallel, scans each one with Trivy, and only then pushes to GitHub Container Registry, tagged with the full git commit SHA so every running image traces back to an exact commit. The deploy job to EKS exists in the workflow but is gated off with a flag, because I chose not to store cloud credentials in GitHub; I deployed with Helm from my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security gate doing its job. The first scan of the frontend image found 41 vulnerabilities, 39 HIGH and 2 CRITICAL, all in the old nginx-unprivileged 1.27-alpine base image. One example is CVE-2026-31789, a heap buffer overflow in OpenSSL libcrypto3 3.3.3, fixed in 3.3.7; it is only exploitable on 32-bit systems, but the gate fails on any fixable HIGH or CRITICAL, so the push was blocked. Left: the failed run, image (frontend) red and deploy skipped. The fix was to move to nginx-unprivileged 1.30-alpine, which cleared all 41. Right: the same scan step now passing.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Images go to GitHub Container Registry: backend, frontend and simulator. Instead of a mutable latest tag, each image is tagged with the full commit SHA. The bottom screenshot closes the loop: kubectl shows all three Deployments in the cluster running images tagged 2378e70, which is exactly the latest commit on main from the Git slide. So for any running pod I can say precisely which code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AWS infrastructure is Terraform. In Mumbai: a VPC on 10.20.0.0/16 with two public and two private subnets across two availability zones and a single NAT gateway to keep cost down. On top, an EKS 1.31 cluster with a managed node group of three t3.medium nodes that can grow to five, plus the core add-ons including the EBS CSI driver for persistent volumes. The plan is 59 resources to add. The console screenshot shows the result: the VPC and the cluster Active.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in the cluster comes from one Helm chart. The backend Deployment has a HorizontalPodAutoscaler from 2 to 6 replicas at 60 percent CPU; the frontend runs 2 replicas. PostgreSQL is a StatefulSet on an EBS gp2 volume with a generated password Secret. Services are ClusterIP only; the only public entry is the nginx Ingress behind an AWS load balancer. The chart also ships the monitoring pieces: ServiceMonitor, alert rules and the Grafana dashboard. The screenshot shows everything Running and Helm at revision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dashboard, now served from EKS through the AWS load balancer and the nginx Ingress. The Ingress sends /api to the backend and everything else to the frontend, so the browser talks to one hostname. Backend and frontend Services stay ClusterIP; nothing else is exposed to the internet. The simulator in the cluster is driving 8 rovers and you can see 259 events in the last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prove autoscaling I reused the simulator as a load generator with 200 rovers. Backend CPU climbed past the 60 percent target, and the HorizontalPodAutoscaler, using metrics-server, scaled the backend from 2 to its maximum of 6 replicas. Throughout the test there were zero 5xx errors and p95 latency stayed around 335 milliseconds. The load-test script also removes its extra rovers when it stops.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exposes standard HTTP metrics plus domain metrics: patrol_rovers_online, patrol_events_total by type and severity, patrol_telemetry_total, open incidents, and battery per rover. A ServiceMonitor in the Helm chart tells the kube-prometheus-stack to scrape them; Prometheus shows both backend pods UP. Three alert rules ship with the chart: RoverOffline, BackendHighErrorRate and IncidentBacklog.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Scrolling further down the Prometheus target page: the API server, CoreDNS, Grafana, kube-proxy on all three nodes, kube-state-metrics and the kubelets are all UP. This means the same Prometheus covers both my application and the platform it runs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Grafana dashboard has 11 panels and is not hand-built in the UI: it is JSON inside a ConfigMap in the Helm chart, picked up by Grafana's sidecar, so it is version-controlled. Top row: rovers online, rovers registered, open incidents, backend pods, 5xx error ratio and telemetry rate. Below: request rate and p95 latency per endpoint, backend CPU against replica count, detection events by type, and battery per rover.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troubleshooting module I deliberately broke the deployment three ways and fixed each live. One: a bad image tag gives ImagePullBackOff; describe pod shows the pull error, fix the tag. Two: a Service selector that does not match the pod labels; the pods are fine but the Service has no endpoints, so traffic goes nowhere. Three: a failing readiness probe; the pod is Running but shows 0 of 1 Ready, so it gets no traffic. The scenarios and fixes are documented in the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real problems I hit. The Trivy GitHub Action first failed to resolve because of a tag format issue and then a removed transitive dependency; pinning v0.36.0 fixed it. The scan then caught 41 CVEs, fixed by the base image bump. Terraform's node group creation timed out with a 409 conflict even though AWS had created it; I imported it into state and re-applied with zero drift. The Postgres volume sat Pending because EKS has no default StorageClass, so the chart now names gp2. Multiple backend replicas raced to run migrations; a Postgres advisory lock serialises them. And the simulator ran as PID 1 and ignored SIGTERM, so pods took the full grace period to stop; a signal handler fixed that. Lesson: most of DevOps is reading the error carefully.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a working app with a tested API, built into non-root containers, delivered by a CI pipeline with a security gate that actually caught real vulnerabilities, published to a registry with commit-SHA tags, running on an EKS cluster built with Terraform, deployed with one Helm chart, autoscaling under load, and fully observable with Prometheus and Grafana. Thank you,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jp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014"/>
        </a:solidFill>
      </p:bgPr>
    </p:bg>
    <p:spTree>
      <p:nvGrpSpPr>
        <p:cNvPr id="1" name=""/>
        <p:cNvGrpSpPr/>
        <p:nvPr/>
      </p:nvGrpSpPr>
      <p:grpSpPr>
        <a:xfrm>
          <a:off x="0" y="0"/>
          <a:ext cx="0" cy="0"/>
          <a:chOff x="0" y="0"/>
          <a:chExt cx="0" cy="0"/>
        </a:xfrm>
      </p:grpSpPr>
      <p:sp>
        <p:nvSpPr>
          <p:cNvPr id="2" name="Text 0"/>
          <p:cNvSpPr/>
          <p:nvPr/>
        </p:nvSpPr>
        <p:spPr>
          <a:xfrm>
            <a:off x="548640" y="1417320"/>
            <a:ext cx="5486400" cy="292608"/>
          </a:xfrm>
          <a:prstGeom prst="rect">
            <a:avLst/>
          </a:prstGeom>
          <a:noFill/>
          <a:ln/>
        </p:spPr>
        <p:txBody>
          <a:bodyPr wrap="square" lIns="0" tIns="0" rIns="0" bIns="0" rtlCol="0" anchor="t"/>
          <a:lstStyle/>
          <a:p>
            <a:pPr indent="0" marL="0">
              <a:buNone/>
            </a:pPr>
            <a:r>
              <a:rPr lang="en-US" sz="1400" b="1" spc="300" kern="0" dirty="0">
                <a:solidFill>
                  <a:srgbClr val="8B7BF0"/>
                </a:solidFill>
                <a:latin typeface="Calibri" pitchFamily="34" charset="0"/>
                <a:ea typeface="Calibri" pitchFamily="34" charset="-122"/>
                <a:cs typeface="Calibri" pitchFamily="34" charset="-120"/>
              </a:rPr>
              <a:t>CAPSTONE PROJECT</a:t>
            </a:r>
            <a:endParaRPr lang="en-US" sz="1400" dirty="0"/>
          </a:p>
        </p:txBody>
      </p:sp>
      <p:sp>
        <p:nvSpPr>
          <p:cNvPr id="3" name="Text 1"/>
          <p:cNvSpPr/>
          <p:nvPr/>
        </p:nvSpPr>
        <p:spPr>
          <a:xfrm>
            <a:off x="548640" y="1783080"/>
            <a:ext cx="5669280" cy="1005840"/>
          </a:xfrm>
          <a:prstGeom prst="rect">
            <a:avLst/>
          </a:prstGeom>
          <a:noFill/>
          <a:ln/>
        </p:spPr>
        <p:txBody>
          <a:bodyPr wrap="square" lIns="0" tIns="0" rIns="0" bIns="0" rtlCol="0" anchor="t"/>
          <a:lstStyle/>
          <a:p>
            <a:pPr indent="0" marL="0">
              <a:buNone/>
            </a:pPr>
            <a:r>
              <a:rPr lang="en-US" sz="6000" b="1" dirty="0">
                <a:solidFill>
                  <a:srgbClr val="E8EAF0"/>
                </a:solidFill>
                <a:latin typeface="Calibri" pitchFamily="34" charset="0"/>
                <a:ea typeface="Calibri" pitchFamily="34" charset="-122"/>
                <a:cs typeface="Calibri" pitchFamily="34" charset="-120"/>
              </a:rPr>
              <a:t>Campus Patrol</a:t>
            </a:r>
            <a:endParaRPr lang="en-US" sz="6000" dirty="0"/>
          </a:p>
        </p:txBody>
      </p:sp>
      <p:sp>
        <p:nvSpPr>
          <p:cNvPr id="4" name="Text 2"/>
          <p:cNvSpPr/>
          <p:nvPr/>
        </p:nvSpPr>
        <p:spPr>
          <a:xfrm>
            <a:off x="548640" y="2788920"/>
            <a:ext cx="5669280" cy="548640"/>
          </a:xfrm>
          <a:prstGeom prst="rect">
            <a:avLst/>
          </a:prstGeom>
          <a:noFill/>
          <a:ln/>
        </p:spPr>
        <p:txBody>
          <a:bodyPr wrap="square" lIns="0" tIns="0" rIns="0" bIns="0" rtlCol="0" anchor="t"/>
          <a:lstStyle/>
          <a:p>
            <a:pPr indent="0" marL="0">
              <a:buNone/>
            </a:pPr>
            <a:r>
              <a:rPr lang="en-US" sz="2800" dirty="0">
                <a:solidFill>
                  <a:srgbClr val="8B7BF0"/>
                </a:solidFill>
                <a:latin typeface="Calibri" pitchFamily="34" charset="0"/>
                <a:ea typeface="Calibri" pitchFamily="34" charset="-122"/>
                <a:cs typeface="Calibri" pitchFamily="34" charset="-120"/>
              </a:rPr>
              <a:t>DevOps Capstone</a:t>
            </a:r>
            <a:endParaRPr lang="en-US" sz="2800" dirty="0"/>
          </a:p>
        </p:txBody>
      </p:sp>
      <p:sp>
        <p:nvSpPr>
          <p:cNvPr id="5" name="Text 3"/>
          <p:cNvSpPr/>
          <p:nvPr/>
        </p:nvSpPr>
        <p:spPr>
          <a:xfrm>
            <a:off x="548640" y="3520440"/>
            <a:ext cx="5120640" cy="822960"/>
          </a:xfrm>
          <a:prstGeom prst="rect">
            <a:avLst/>
          </a:prstGeom>
          <a:noFill/>
          <a:ln/>
        </p:spPr>
        <p:txBody>
          <a:bodyPr wrap="square" lIns="0" tIns="0" rIns="0" bIns="0" rtlCol="0" anchor="t"/>
          <a:lstStyle/>
          <a:p>
            <a:pPr indent="0" marL="0">
              <a:buNone/>
            </a:pPr>
            <a:r>
              <a:rPr lang="en-US" sz="1600" dirty="0">
                <a:solidFill>
                  <a:srgbClr val="9BA1AE"/>
                </a:solidFill>
                <a:latin typeface="Calibri" pitchFamily="34" charset="0"/>
                <a:ea typeface="Calibri" pitchFamily="34" charset="-122"/>
                <a:cs typeface="Calibri" pitchFamily="34" charset="-120"/>
              </a:rPr>
              <a:t>A command center for a fleet of campus patrol rovers, built, shipped, run and observed end to end.</a:t>
            </a:r>
            <a:endParaRPr lang="en-US" sz="1600" dirty="0"/>
          </a:p>
        </p:txBody>
      </p:sp>
      <p:sp>
        <p:nvSpPr>
          <p:cNvPr id="6" name="Text 4"/>
          <p:cNvSpPr/>
          <p:nvPr/>
        </p:nvSpPr>
        <p:spPr>
          <a:xfrm>
            <a:off x="548640" y="4892040"/>
            <a:ext cx="5486400" cy="365760"/>
          </a:xfrm>
          <a:prstGeom prst="rect">
            <a:avLst/>
          </a:prstGeom>
          <a:noFill/>
          <a:ln/>
        </p:spPr>
        <p:txBody>
          <a:bodyPr wrap="square" lIns="0" tIns="0" rIns="0" bIns="0" rtlCol="0" anchor="t"/>
          <a:lstStyle/>
          <a:p>
            <a:pPr indent="0" marL="0">
              <a:buNone/>
            </a:pPr>
            <a:r>
              <a:rPr lang="en-US" sz="2000" b="1" dirty="0">
                <a:solidFill>
                  <a:srgbClr val="E8EAF0"/>
                </a:solidFill>
                <a:latin typeface="Calibri" pitchFamily="34" charset="0"/>
                <a:ea typeface="Calibri" pitchFamily="34" charset="-122"/>
                <a:cs typeface="Calibri" pitchFamily="34" charset="-120"/>
              </a:rPr>
              <a:t>Joe Daniel</a:t>
            </a:r>
            <a:endParaRPr lang="en-US" sz="2000" dirty="0"/>
          </a:p>
        </p:txBody>
      </p:sp>
      <p:sp>
        <p:nvSpPr>
          <p:cNvPr id="7" name="Text 5"/>
          <p:cNvSpPr/>
          <p:nvPr/>
        </p:nvSpPr>
        <p:spPr>
          <a:xfrm>
            <a:off x="548640" y="5303520"/>
            <a:ext cx="5486400" cy="320040"/>
          </a:xfrm>
          <a:prstGeom prst="rect">
            <a:avLst/>
          </a:prstGeom>
          <a:noFill/>
          <a:ln/>
        </p:spPr>
        <p:txBody>
          <a:bodyPr wrap="square" lIns="0" tIns="0" rIns="0" bIns="0" rtlCol="0" anchor="t"/>
          <a:lstStyle/>
          <a:p>
            <a:pPr indent="0" marL="0">
              <a:buNone/>
            </a:pPr>
            <a:r>
              <a:rPr lang="en-US" sz="1400" dirty="0">
                <a:solidFill>
                  <a:srgbClr val="9BA1AE"/>
                </a:solidFill>
                <a:latin typeface="Courier New" pitchFamily="34" charset="0"/>
                <a:ea typeface="Courier New" pitchFamily="34" charset="-122"/>
                <a:cs typeface="Courier New" pitchFamily="34" charset="-120"/>
              </a:rPr>
              <a:t>github.com/Joe-Daniel29/campus-patrol</a:t>
            </a:r>
            <a:endParaRPr lang="en-US" sz="1400" dirty="0"/>
          </a:p>
        </p:txBody>
      </p:sp>
      <p:sp>
        <p:nvSpPr>
          <p:cNvPr id="8" name="Shape 6"/>
          <p:cNvSpPr/>
          <p:nvPr/>
        </p:nvSpPr>
        <p:spPr>
          <a:xfrm>
            <a:off x="6400800" y="1783080"/>
            <a:ext cx="5239512" cy="2526052"/>
          </a:xfrm>
          <a:prstGeom prst="roundRect">
            <a:avLst>
              <a:gd name="adj" fmla="val 2172"/>
            </a:avLst>
          </a:prstGeom>
          <a:solidFill>
            <a:srgbClr val="171A21"/>
          </a:solidFill>
          <a:ln w="9525">
            <a:solidFill>
              <a:srgbClr val="2C313C"/>
            </a:solidFill>
            <a:prstDash val="solid"/>
          </a:ln>
        </p:spPr>
      </p:sp>
      <p:pic>
        <p:nvPicPr>
          <p:cNvPr id="9" name="Image 0" descr="Live map: 8 rovers patrolling campus zones">    </p:cNvPr>
          <p:cNvPicPr>
            <a:picLocks noChangeAspect="1"/>
          </p:cNvPicPr>
          <p:nvPr/>
        </p:nvPicPr>
        <p:blipFill>
          <a:blip r:embed="rId1"/>
          <a:stretch>
            <a:fillRect/>
          </a:stretch>
        </p:blipFill>
        <p:spPr>
          <a:xfrm>
            <a:off x="6455664" y="1837944"/>
            <a:ext cx="5129784" cy="2416324"/>
          </a:xfrm>
          <a:prstGeom prst="rect">
            <a:avLst/>
          </a:prstGeom>
        </p:spPr>
      </p:pic>
      <p:sp>
        <p:nvSpPr>
          <p:cNvPr id="10" name="Text 7"/>
          <p:cNvSpPr/>
          <p:nvPr/>
        </p:nvSpPr>
        <p:spPr>
          <a:xfrm>
            <a:off x="6400800" y="4382284"/>
            <a:ext cx="5239512" cy="274320"/>
          </a:xfrm>
          <a:prstGeom prst="rect">
            <a:avLst/>
          </a:prstGeom>
          <a:noFill/>
          <a:ln/>
        </p:spPr>
        <p:txBody>
          <a:bodyPr wrap="square" lIns="0" tIns="0" rIns="0" bIns="0" rtlCol="0" anchor="t"/>
          <a:lstStyle/>
          <a:p>
            <a:pPr indent="0" marL="0">
              <a:buNone/>
            </a:pPr>
            <a:r>
              <a:rPr lang="en-US" sz="1200" dirty="0">
                <a:solidFill>
                  <a:srgbClr val="9BA1AE"/>
                </a:solidFill>
                <a:latin typeface="Calibri" pitchFamily="34" charset="0"/>
                <a:ea typeface="Calibri" pitchFamily="34" charset="-122"/>
                <a:cs typeface="Calibri" pitchFamily="34" charset="-120"/>
              </a:rPr>
              <a:t>Live map: 8 rovers patrolling campus zones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014"/>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300" kern="0" dirty="0">
                <a:solidFill>
                  <a:srgbClr val="8B7BF0"/>
                </a:solidFill>
                <a:latin typeface="Calibri" pitchFamily="34" charset="0"/>
                <a:ea typeface="Calibri" pitchFamily="34" charset="-122"/>
                <a:cs typeface="Calibri" pitchFamily="34" charset="-120"/>
              </a:rPr>
              <a:t>PROBLEM &amp; IDEA</a:t>
            </a:r>
            <a:endParaRPr lang="en-US" sz="1200" dirty="0"/>
          </a:p>
        </p:txBody>
      </p:sp>
      <p:sp>
        <p:nvSpPr>
          <p:cNvPr id="3" name="Text 1"/>
          <p:cNvSpPr/>
          <p:nvPr/>
        </p:nvSpPr>
        <p:spPr>
          <a:xfrm>
            <a:off x="548640" y="676656"/>
            <a:ext cx="11064240" cy="603504"/>
          </a:xfrm>
          <a:prstGeom prst="rect">
            <a:avLst/>
          </a:prstGeom>
          <a:noFill/>
          <a:ln/>
        </p:spPr>
        <p:txBody>
          <a:bodyPr wrap="square" lIns="0" tIns="0" rIns="0" bIns="0" rtlCol="0" anchor="t"/>
          <a:lstStyle/>
          <a:p>
            <a:pPr indent="0" marL="0">
              <a:buNone/>
            </a:pPr>
            <a:r>
              <a:rPr lang="en-US" sz="3400" b="1" dirty="0">
                <a:solidFill>
                  <a:srgbClr val="E8EAF0"/>
                </a:solidFill>
                <a:latin typeface="Calibri" pitchFamily="34" charset="0"/>
                <a:ea typeface="Calibri" pitchFamily="34" charset="-122"/>
                <a:cs typeface="Calibri" pitchFamily="34" charset="-120"/>
              </a:rPr>
              <a:t>Security staff need one screen for a robot fleet</a:t>
            </a:r>
            <a:endParaRPr lang="en-US" sz="3400" dirty="0"/>
          </a:p>
        </p:txBody>
      </p:sp>
      <p:sp>
        <p:nvSpPr>
          <p:cNvPr id="4" name="Text 2"/>
          <p:cNvSpPr/>
          <p:nvPr/>
        </p:nvSpPr>
        <p:spPr>
          <a:xfrm>
            <a:off x="548640" y="1554480"/>
            <a:ext cx="5120640" cy="1188720"/>
          </a:xfrm>
          <a:prstGeom prst="rect">
            <a:avLst/>
          </a:prstGeom>
          <a:noFill/>
          <a:ln/>
        </p:spPr>
        <p:txBody>
          <a:bodyPr wrap="square" lIns="0" tIns="0" rIns="0" bIns="0" rtlCol="0" anchor="t"/>
          <a:lstStyle/>
          <a:p>
            <a:pPr indent="0" marL="0">
              <a:buNone/>
            </a:pPr>
            <a:r>
              <a:rPr lang="en-US" sz="1800" dirty="0">
                <a:solidFill>
                  <a:srgbClr val="E8EAF0"/>
                </a:solidFill>
                <a:latin typeface="Calibri" pitchFamily="34" charset="0"/>
                <a:ea typeface="Calibri" pitchFamily="34" charset="-122"/>
                <a:cs typeface="Calibri" pitchFamily="34" charset="-120"/>
              </a:rPr>
              <a:t>Quadruped rovers patrol the campus, report their pose and battery, and raise detection events. Staff triage those events as incidents.</a:t>
            </a:r>
            <a:endParaRPr lang="en-US" sz="1800" dirty="0"/>
          </a:p>
        </p:txBody>
      </p:sp>
      <p:sp>
        <p:nvSpPr>
          <p:cNvPr id="5" name="Text 3"/>
          <p:cNvSpPr/>
          <p:nvPr/>
        </p:nvSpPr>
        <p:spPr>
          <a:xfrm>
            <a:off x="548640" y="2926080"/>
            <a:ext cx="5120640" cy="2377440"/>
          </a:xfrm>
          <a:prstGeom prst="rect">
            <a:avLst/>
          </a:prstGeom>
          <a:noFill/>
          <a:ln/>
        </p:spPr>
        <p:txBody>
          <a:bodyPr wrap="square" lIns="0" tIns="0" rIns="0" bIns="0" rtlCol="0" anchor="t"/>
          <a:lstStyle/>
          <a:p>
            <a:pPr marL="203200" indent="-203200">
              <a:spcAft>
                <a:spcPts val="1200"/>
              </a:spcAft>
              <a:buClr>
                <a:srgbClr val="8B7BF0"/>
              </a:buClr>
              <a:buSzPct val="100000"/>
              <a:buChar char="•"/>
            </a:pPr>
            <a:r>
              <a:rPr lang="en-US" sz="1600" b="1" dirty="0">
                <a:solidFill>
                  <a:srgbClr val="E8EAF0"/>
                </a:solidFill>
                <a:latin typeface="Calibri" pitchFamily="34" charset="0"/>
                <a:ea typeface="Calibri" pitchFamily="34" charset="-122"/>
                <a:cs typeface="Calibri" pitchFamily="34" charset="-120"/>
              </a:rPr>
              <a:t>No physical robots needed. </a:t>
            </a:r>
            <a:pPr indent="0" marL="0">
              <a:buNone/>
            </a:pPr>
            <a:r>
              <a:rPr lang="en-US" sz="1600" dirty="0">
                <a:solidFill>
                  <a:srgbClr val="9BA1AE"/>
                </a:solidFill>
                <a:latin typeface="Calibri" pitchFamily="34" charset="0"/>
                <a:ea typeface="Calibri" pitchFamily="34" charset="-122"/>
                <a:cs typeface="Calibri" pitchFamily="34" charset="-120"/>
              </a:rPr>
              <a:t>A simulator posts telemetry and events to the same API real hardware would use.</a:t>
            </a:r>
            <a:endParaRPr lang="en-US" sz="1600" dirty="0"/>
          </a:p>
          <a:p>
            <a:pPr marL="203200" indent="-203200">
              <a:spcAft>
                <a:spcPts val="1200"/>
              </a:spcAft>
              <a:buClr>
                <a:srgbClr val="8B7BF0"/>
              </a:buClr>
              <a:buSzPct val="100000"/>
              <a:buChar char="•"/>
            </a:pPr>
            <a:r>
              <a:rPr lang="en-US" sz="1600" b="1" dirty="0">
                <a:solidFill>
                  <a:srgbClr val="E8EAF0"/>
                </a:solidFill>
                <a:latin typeface="Calibri" pitchFamily="34" charset="0"/>
                <a:ea typeface="Calibri" pitchFamily="34" charset="-122"/>
                <a:cs typeface="Calibri" pitchFamily="34" charset="-120"/>
              </a:rPr>
              <a:t>Privacy by design. </a:t>
            </a:r>
            <a:pPr indent="0" marL="0">
              <a:buNone/>
            </a:pPr>
            <a:r>
              <a:rPr lang="en-US" sz="1600" dirty="0">
                <a:solidFill>
                  <a:srgbClr val="9BA1AE"/>
                </a:solidFill>
                <a:latin typeface="Calibri" pitchFamily="34" charset="0"/>
                <a:ea typeface="Calibri" pitchFamily="34" charset="-122"/>
                <a:cs typeface="Calibri" pitchFamily="34" charset="-120"/>
              </a:rPr>
              <a:t>Only event metadata is stored, never images or video.</a:t>
            </a:r>
            <a:endParaRPr lang="en-US" sz="1600" dirty="0"/>
          </a:p>
          <a:p>
            <a:pPr marL="203200" indent="-203200">
              <a:spcAft>
                <a:spcPts val="1200"/>
              </a:spcAft>
              <a:buClr>
                <a:srgbClr val="8B7BF0"/>
              </a:buClr>
              <a:buSzPct val="100000"/>
              <a:buChar char="•"/>
            </a:pPr>
            <a:r>
              <a:rPr lang="en-US" sz="1600" b="1" dirty="0">
                <a:solidFill>
                  <a:srgbClr val="E8EAF0"/>
                </a:solidFill>
                <a:latin typeface="Calibri" pitchFamily="34" charset="0"/>
                <a:ea typeface="Calibri" pitchFamily="34" charset="-122"/>
                <a:cs typeface="Calibri" pitchFamily="34" charset="-120"/>
              </a:rPr>
              <a:t>Inspired by </a:t>
            </a:r>
            <a:pPr indent="0" marL="0">
              <a:buNone/>
            </a:pPr>
            <a:r>
              <a:rPr lang="en-US" sz="1600" dirty="0">
                <a:solidFill>
                  <a:srgbClr val="9BA1AE"/>
                </a:solidFill>
                <a:latin typeface="Calibri" pitchFamily="34" charset="0"/>
                <a:ea typeface="Calibri" pitchFamily="34" charset="-122"/>
                <a:cs typeface="Calibri" pitchFamily="34" charset="-120"/>
              </a:rPr>
              <a:t>my own robotics project.</a:t>
            </a:r>
            <a:endParaRPr lang="en-US" sz="1600" dirty="0"/>
          </a:p>
        </p:txBody>
      </p:sp>
      <p:sp>
        <p:nvSpPr>
          <p:cNvPr id="6" name="Shape 4"/>
          <p:cNvSpPr/>
          <p:nvPr/>
        </p:nvSpPr>
        <p:spPr>
          <a:xfrm>
            <a:off x="6309360" y="1554480"/>
            <a:ext cx="2514600" cy="1600200"/>
          </a:xfrm>
          <a:prstGeom prst="roundRect">
            <a:avLst>
              <a:gd name="adj" fmla="val 4571"/>
            </a:avLst>
          </a:prstGeom>
          <a:solidFill>
            <a:srgbClr val="171A21"/>
          </a:solidFill>
          <a:ln w="9525">
            <a:solidFill>
              <a:srgbClr val="2C313C"/>
            </a:solidFill>
            <a:prstDash val="solid"/>
          </a:ln>
        </p:spPr>
      </p:sp>
      <p:sp>
        <p:nvSpPr>
          <p:cNvPr id="7" name="Shape 5"/>
          <p:cNvSpPr/>
          <p:nvPr/>
        </p:nvSpPr>
        <p:spPr>
          <a:xfrm>
            <a:off x="6537960" y="1783080"/>
            <a:ext cx="1005840" cy="310896"/>
          </a:xfrm>
          <a:prstGeom prst="roundRect">
            <a:avLst>
              <a:gd name="adj" fmla="val 50000"/>
            </a:avLst>
          </a:prstGeom>
          <a:solidFill>
            <a:srgbClr val="33291A"/>
          </a:solidFill>
          <a:ln w="9525">
            <a:solidFill>
              <a:srgbClr val="E0B04A"/>
            </a:solidFill>
            <a:prstDash val="solid"/>
          </a:ln>
        </p:spPr>
      </p:sp>
      <p:sp>
        <p:nvSpPr>
          <p:cNvPr id="8" name="Text 6"/>
          <p:cNvSpPr/>
          <p:nvPr/>
        </p:nvSpPr>
        <p:spPr>
          <a:xfrm>
            <a:off x="6537960" y="1783080"/>
            <a:ext cx="1005840" cy="310896"/>
          </a:xfrm>
          <a:prstGeom prst="rect">
            <a:avLst/>
          </a:prstGeom>
          <a:noFill/>
          <a:ln/>
        </p:spPr>
        <p:txBody>
          <a:bodyPr wrap="square" lIns="0" tIns="0" rIns="0" bIns="0" rtlCol="0" anchor="ctr"/>
          <a:lstStyle/>
          <a:p>
            <a:pPr algn="ctr" indent="0" marL="0">
              <a:buNone/>
            </a:pPr>
            <a:r>
              <a:rPr lang="en-US" sz="1200" b="1" spc="100" kern="0" dirty="0">
                <a:solidFill>
                  <a:srgbClr val="E0B04A"/>
                </a:solidFill>
                <a:latin typeface="Calibri" pitchFamily="34" charset="0"/>
                <a:ea typeface="Calibri" pitchFamily="34" charset="-122"/>
                <a:cs typeface="Calibri" pitchFamily="34" charset="-120"/>
              </a:rPr>
              <a:t>WARNING</a:t>
            </a:r>
            <a:endParaRPr lang="en-US" sz="1200" dirty="0"/>
          </a:p>
        </p:txBody>
      </p:sp>
      <p:sp>
        <p:nvSpPr>
          <p:cNvPr id="9" name="Text 7"/>
          <p:cNvSpPr/>
          <p:nvPr/>
        </p:nvSpPr>
        <p:spPr>
          <a:xfrm>
            <a:off x="6537960" y="2240280"/>
            <a:ext cx="2148840" cy="365760"/>
          </a:xfrm>
          <a:prstGeom prst="rect">
            <a:avLst/>
          </a:prstGeom>
          <a:noFill/>
          <a:ln/>
        </p:spPr>
        <p:txBody>
          <a:bodyPr wrap="square" lIns="0" tIns="0" rIns="0" bIns="0" rtlCol="0" anchor="t"/>
          <a:lstStyle/>
          <a:p>
            <a:pPr indent="0" marL="0">
              <a:buNone/>
            </a:pPr>
            <a:r>
              <a:rPr lang="en-US" sz="1600" b="1" dirty="0">
                <a:solidFill>
                  <a:srgbClr val="E8EAF0"/>
                </a:solidFill>
                <a:latin typeface="Calibri" pitchFamily="34" charset="0"/>
                <a:ea typeface="Calibri" pitchFamily="34" charset="-122"/>
                <a:cs typeface="Calibri" pitchFamily="34" charset="-120"/>
              </a:rPr>
              <a:t>Unrecognised person</a:t>
            </a:r>
            <a:endParaRPr lang="en-US" sz="1600" dirty="0"/>
          </a:p>
        </p:txBody>
      </p:sp>
      <p:sp>
        <p:nvSpPr>
          <p:cNvPr id="10" name="Text 8"/>
          <p:cNvSpPr/>
          <p:nvPr/>
        </p:nvSpPr>
        <p:spPr>
          <a:xfrm>
            <a:off x="6537960" y="2633472"/>
            <a:ext cx="2148840" cy="320040"/>
          </a:xfrm>
          <a:prstGeom prst="rect">
            <a:avLst/>
          </a:prstGeom>
          <a:noFill/>
          <a:ln/>
        </p:spPr>
        <p:txBody>
          <a:bodyPr wrap="square" lIns="0" tIns="0" rIns="0" bIns="0" rtlCol="0" anchor="t"/>
          <a:lstStyle/>
          <a:p>
            <a:pPr indent="0" marL="0">
              <a:buNone/>
            </a:pPr>
            <a:r>
              <a:rPr lang="en-US" sz="1400" dirty="0">
                <a:solidFill>
                  <a:srgbClr val="9BA1AE"/>
                </a:solidFill>
                <a:latin typeface="Calibri" pitchFamily="34" charset="0"/>
                <a:ea typeface="Calibri" pitchFamily="34" charset="-122"/>
                <a:cs typeface="Calibri" pitchFamily="34" charset="-120"/>
              </a:rPr>
              <a:t>after hours</a:t>
            </a:r>
            <a:endParaRPr lang="en-US" sz="1400" dirty="0"/>
          </a:p>
        </p:txBody>
      </p:sp>
      <p:sp>
        <p:nvSpPr>
          <p:cNvPr id="11" name="Shape 9"/>
          <p:cNvSpPr/>
          <p:nvPr/>
        </p:nvSpPr>
        <p:spPr>
          <a:xfrm>
            <a:off x="9098280" y="1554480"/>
            <a:ext cx="2514600" cy="1600200"/>
          </a:xfrm>
          <a:prstGeom prst="roundRect">
            <a:avLst>
              <a:gd name="adj" fmla="val 4571"/>
            </a:avLst>
          </a:prstGeom>
          <a:solidFill>
            <a:srgbClr val="171A21"/>
          </a:solidFill>
          <a:ln w="9525">
            <a:solidFill>
              <a:srgbClr val="2C313C"/>
            </a:solidFill>
            <a:prstDash val="solid"/>
          </a:ln>
        </p:spPr>
      </p:sp>
      <p:sp>
        <p:nvSpPr>
          <p:cNvPr id="12" name="Shape 10"/>
          <p:cNvSpPr/>
          <p:nvPr/>
        </p:nvSpPr>
        <p:spPr>
          <a:xfrm>
            <a:off x="9326880" y="1783080"/>
            <a:ext cx="1005840" cy="310896"/>
          </a:xfrm>
          <a:prstGeom prst="roundRect">
            <a:avLst>
              <a:gd name="adj" fmla="val 50000"/>
            </a:avLst>
          </a:prstGeom>
          <a:solidFill>
            <a:srgbClr val="33291A"/>
          </a:solidFill>
          <a:ln w="9525">
            <a:solidFill>
              <a:srgbClr val="E0B04A"/>
            </a:solidFill>
            <a:prstDash val="solid"/>
          </a:ln>
        </p:spPr>
      </p:sp>
      <p:sp>
        <p:nvSpPr>
          <p:cNvPr id="13" name="Text 11"/>
          <p:cNvSpPr/>
          <p:nvPr/>
        </p:nvSpPr>
        <p:spPr>
          <a:xfrm>
            <a:off x="9326880" y="1783080"/>
            <a:ext cx="1005840" cy="310896"/>
          </a:xfrm>
          <a:prstGeom prst="rect">
            <a:avLst/>
          </a:prstGeom>
          <a:noFill/>
          <a:ln/>
        </p:spPr>
        <p:txBody>
          <a:bodyPr wrap="square" lIns="0" tIns="0" rIns="0" bIns="0" rtlCol="0" anchor="ctr"/>
          <a:lstStyle/>
          <a:p>
            <a:pPr algn="ctr" indent="0" marL="0">
              <a:buNone/>
            </a:pPr>
            <a:r>
              <a:rPr lang="en-US" sz="1200" b="1" spc="100" kern="0" dirty="0">
                <a:solidFill>
                  <a:srgbClr val="E0B04A"/>
                </a:solidFill>
                <a:latin typeface="Calibri" pitchFamily="34" charset="0"/>
                <a:ea typeface="Calibri" pitchFamily="34" charset="-122"/>
                <a:cs typeface="Calibri" pitchFamily="34" charset="-120"/>
              </a:rPr>
              <a:t>WARNING</a:t>
            </a:r>
            <a:endParaRPr lang="en-US" sz="1200" dirty="0"/>
          </a:p>
        </p:txBody>
      </p:sp>
      <p:sp>
        <p:nvSpPr>
          <p:cNvPr id="14" name="Text 12"/>
          <p:cNvSpPr/>
          <p:nvPr/>
        </p:nvSpPr>
        <p:spPr>
          <a:xfrm>
            <a:off x="9326880" y="2240280"/>
            <a:ext cx="2148840" cy="365760"/>
          </a:xfrm>
          <a:prstGeom prst="rect">
            <a:avLst/>
          </a:prstGeom>
          <a:noFill/>
          <a:ln/>
        </p:spPr>
        <p:txBody>
          <a:bodyPr wrap="square" lIns="0" tIns="0" rIns="0" bIns="0" rtlCol="0" anchor="t"/>
          <a:lstStyle/>
          <a:p>
            <a:pPr indent="0" marL="0">
              <a:buNone/>
            </a:pPr>
            <a:r>
              <a:rPr lang="en-US" sz="1600" b="1" dirty="0">
                <a:solidFill>
                  <a:srgbClr val="E8EAF0"/>
                </a:solidFill>
                <a:latin typeface="Calibri" pitchFamily="34" charset="0"/>
                <a:ea typeface="Calibri" pitchFamily="34" charset="-122"/>
                <a:cs typeface="Calibri" pitchFamily="34" charset="-120"/>
              </a:rPr>
              <a:t>Door left open</a:t>
            </a:r>
            <a:endParaRPr lang="en-US" sz="1600" dirty="0"/>
          </a:p>
        </p:txBody>
      </p:sp>
      <p:sp>
        <p:nvSpPr>
          <p:cNvPr id="15" name="Text 13"/>
          <p:cNvSpPr/>
          <p:nvPr/>
        </p:nvSpPr>
        <p:spPr>
          <a:xfrm>
            <a:off x="9326880" y="2633472"/>
            <a:ext cx="2148840" cy="320040"/>
          </a:xfrm>
          <a:prstGeom prst="rect">
            <a:avLst/>
          </a:prstGeom>
          <a:noFill/>
          <a:ln/>
        </p:spPr>
        <p:txBody>
          <a:bodyPr wrap="square" lIns="0" tIns="0" rIns="0" bIns="0" rtlCol="0" anchor="t"/>
          <a:lstStyle/>
          <a:p>
            <a:pPr indent="0" marL="0">
              <a:buNone/>
            </a:pPr>
            <a:r>
              <a:rPr lang="en-US" sz="1400" dirty="0">
                <a:solidFill>
                  <a:srgbClr val="9BA1AE"/>
                </a:solidFill>
                <a:latin typeface="Calibri" pitchFamily="34" charset="0"/>
                <a:ea typeface="Calibri" pitchFamily="34" charset="-122"/>
                <a:cs typeface="Calibri" pitchFamily="34" charset="-120"/>
              </a:rPr>
              <a:t>outside access hours</a:t>
            </a:r>
            <a:endParaRPr lang="en-US" sz="1400" dirty="0"/>
          </a:p>
        </p:txBody>
      </p:sp>
      <p:sp>
        <p:nvSpPr>
          <p:cNvPr id="16" name="Shape 14"/>
          <p:cNvSpPr/>
          <p:nvPr/>
        </p:nvSpPr>
        <p:spPr>
          <a:xfrm>
            <a:off x="6309360" y="3429000"/>
            <a:ext cx="2514600" cy="1600200"/>
          </a:xfrm>
          <a:prstGeom prst="roundRect">
            <a:avLst>
              <a:gd name="adj" fmla="val 4571"/>
            </a:avLst>
          </a:prstGeom>
          <a:solidFill>
            <a:srgbClr val="171A21"/>
          </a:solidFill>
          <a:ln w="9525">
            <a:solidFill>
              <a:srgbClr val="2C313C"/>
            </a:solidFill>
            <a:prstDash val="solid"/>
          </a:ln>
        </p:spPr>
      </p:sp>
      <p:sp>
        <p:nvSpPr>
          <p:cNvPr id="17" name="Shape 15"/>
          <p:cNvSpPr/>
          <p:nvPr/>
        </p:nvSpPr>
        <p:spPr>
          <a:xfrm>
            <a:off x="6537960" y="3657600"/>
            <a:ext cx="1005840" cy="310896"/>
          </a:xfrm>
          <a:prstGeom prst="roundRect">
            <a:avLst>
              <a:gd name="adj" fmla="val 50000"/>
            </a:avLst>
          </a:prstGeom>
          <a:solidFill>
            <a:srgbClr val="33291A"/>
          </a:solidFill>
          <a:ln w="9525">
            <a:solidFill>
              <a:srgbClr val="E0B04A"/>
            </a:solidFill>
            <a:prstDash val="solid"/>
          </a:ln>
        </p:spPr>
      </p:sp>
      <p:sp>
        <p:nvSpPr>
          <p:cNvPr id="18" name="Text 16"/>
          <p:cNvSpPr/>
          <p:nvPr/>
        </p:nvSpPr>
        <p:spPr>
          <a:xfrm>
            <a:off x="6537960" y="3657600"/>
            <a:ext cx="1005840" cy="310896"/>
          </a:xfrm>
          <a:prstGeom prst="rect">
            <a:avLst/>
          </a:prstGeom>
          <a:noFill/>
          <a:ln/>
        </p:spPr>
        <p:txBody>
          <a:bodyPr wrap="square" lIns="0" tIns="0" rIns="0" bIns="0" rtlCol="0" anchor="ctr"/>
          <a:lstStyle/>
          <a:p>
            <a:pPr algn="ctr" indent="0" marL="0">
              <a:buNone/>
            </a:pPr>
            <a:r>
              <a:rPr lang="en-US" sz="1200" b="1" spc="100" kern="0" dirty="0">
                <a:solidFill>
                  <a:srgbClr val="E0B04A"/>
                </a:solidFill>
                <a:latin typeface="Calibri" pitchFamily="34" charset="0"/>
                <a:ea typeface="Calibri" pitchFamily="34" charset="-122"/>
                <a:cs typeface="Calibri" pitchFamily="34" charset="-120"/>
              </a:rPr>
              <a:t>WARNING</a:t>
            </a:r>
            <a:endParaRPr lang="en-US" sz="1200" dirty="0"/>
          </a:p>
        </p:txBody>
      </p:sp>
      <p:sp>
        <p:nvSpPr>
          <p:cNvPr id="19" name="Text 17"/>
          <p:cNvSpPr/>
          <p:nvPr/>
        </p:nvSpPr>
        <p:spPr>
          <a:xfrm>
            <a:off x="6537960" y="4114800"/>
            <a:ext cx="2148840" cy="365760"/>
          </a:xfrm>
          <a:prstGeom prst="rect">
            <a:avLst/>
          </a:prstGeom>
          <a:noFill/>
          <a:ln/>
        </p:spPr>
        <p:txBody>
          <a:bodyPr wrap="square" lIns="0" tIns="0" rIns="0" bIns="0" rtlCol="0" anchor="t"/>
          <a:lstStyle/>
          <a:p>
            <a:pPr indent="0" marL="0">
              <a:buNone/>
            </a:pPr>
            <a:r>
              <a:rPr lang="en-US" sz="1600" b="1" dirty="0">
                <a:solidFill>
                  <a:srgbClr val="E8EAF0"/>
                </a:solidFill>
                <a:latin typeface="Calibri" pitchFamily="34" charset="0"/>
                <a:ea typeface="Calibri" pitchFamily="34" charset="-122"/>
                <a:cs typeface="Calibri" pitchFamily="34" charset="-120"/>
              </a:rPr>
              <a:t>Vehicle</a:t>
            </a:r>
            <a:endParaRPr lang="en-US" sz="1600" dirty="0"/>
          </a:p>
        </p:txBody>
      </p:sp>
      <p:sp>
        <p:nvSpPr>
          <p:cNvPr id="20" name="Text 18"/>
          <p:cNvSpPr/>
          <p:nvPr/>
        </p:nvSpPr>
        <p:spPr>
          <a:xfrm>
            <a:off x="6537960" y="4507992"/>
            <a:ext cx="2148840" cy="320040"/>
          </a:xfrm>
          <a:prstGeom prst="rect">
            <a:avLst/>
          </a:prstGeom>
          <a:noFill/>
          <a:ln/>
        </p:spPr>
        <p:txBody>
          <a:bodyPr wrap="square" lIns="0" tIns="0" rIns="0" bIns="0" rtlCol="0" anchor="t"/>
          <a:lstStyle/>
          <a:p>
            <a:pPr indent="0" marL="0">
              <a:buNone/>
            </a:pPr>
            <a:r>
              <a:rPr lang="en-US" sz="1400" dirty="0">
                <a:solidFill>
                  <a:srgbClr val="9BA1AE"/>
                </a:solidFill>
                <a:latin typeface="Calibri" pitchFamily="34" charset="0"/>
                <a:ea typeface="Calibri" pitchFamily="34" charset="-122"/>
                <a:cs typeface="Calibri" pitchFamily="34" charset="-120"/>
              </a:rPr>
              <a:t>in a restricted area</a:t>
            </a:r>
            <a:endParaRPr lang="en-US" sz="1400" dirty="0"/>
          </a:p>
        </p:txBody>
      </p:sp>
      <p:sp>
        <p:nvSpPr>
          <p:cNvPr id="21" name="Shape 19"/>
          <p:cNvSpPr/>
          <p:nvPr/>
        </p:nvSpPr>
        <p:spPr>
          <a:xfrm>
            <a:off x="9098280" y="3429000"/>
            <a:ext cx="2514600" cy="1600200"/>
          </a:xfrm>
          <a:prstGeom prst="roundRect">
            <a:avLst>
              <a:gd name="adj" fmla="val 4571"/>
            </a:avLst>
          </a:prstGeom>
          <a:solidFill>
            <a:srgbClr val="171A21"/>
          </a:solidFill>
          <a:ln w="9525">
            <a:solidFill>
              <a:srgbClr val="2C313C"/>
            </a:solidFill>
            <a:prstDash val="solid"/>
          </a:ln>
        </p:spPr>
      </p:sp>
      <p:sp>
        <p:nvSpPr>
          <p:cNvPr id="22" name="Shape 20"/>
          <p:cNvSpPr/>
          <p:nvPr/>
        </p:nvSpPr>
        <p:spPr>
          <a:xfrm>
            <a:off x="9326880" y="3657600"/>
            <a:ext cx="1051560" cy="310896"/>
          </a:xfrm>
          <a:prstGeom prst="roundRect">
            <a:avLst>
              <a:gd name="adj" fmla="val 50000"/>
            </a:avLst>
          </a:prstGeom>
          <a:solidFill>
            <a:srgbClr val="36191A"/>
          </a:solidFill>
          <a:ln w="9525">
            <a:solidFill>
              <a:srgbClr val="E5615B"/>
            </a:solidFill>
            <a:prstDash val="solid"/>
          </a:ln>
        </p:spPr>
      </p:sp>
      <p:sp>
        <p:nvSpPr>
          <p:cNvPr id="23" name="Text 21"/>
          <p:cNvSpPr/>
          <p:nvPr/>
        </p:nvSpPr>
        <p:spPr>
          <a:xfrm>
            <a:off x="9326880" y="3657600"/>
            <a:ext cx="1051560" cy="310896"/>
          </a:xfrm>
          <a:prstGeom prst="rect">
            <a:avLst/>
          </a:prstGeom>
          <a:noFill/>
          <a:ln/>
        </p:spPr>
        <p:txBody>
          <a:bodyPr wrap="square" lIns="0" tIns="0" rIns="0" bIns="0" rtlCol="0" anchor="ctr"/>
          <a:lstStyle/>
          <a:p>
            <a:pPr algn="ctr" indent="0" marL="0">
              <a:buNone/>
            </a:pPr>
            <a:r>
              <a:rPr lang="en-US" sz="1200" b="1" spc="100" kern="0" dirty="0">
                <a:solidFill>
                  <a:srgbClr val="E5615B"/>
                </a:solidFill>
                <a:latin typeface="Calibri" pitchFamily="34" charset="0"/>
                <a:ea typeface="Calibri" pitchFamily="34" charset="-122"/>
                <a:cs typeface="Calibri" pitchFamily="34" charset="-120"/>
              </a:rPr>
              <a:t>CRITICAL</a:t>
            </a:r>
            <a:endParaRPr lang="en-US" sz="1200" dirty="0"/>
          </a:p>
        </p:txBody>
      </p:sp>
      <p:sp>
        <p:nvSpPr>
          <p:cNvPr id="24" name="Text 22"/>
          <p:cNvSpPr/>
          <p:nvPr/>
        </p:nvSpPr>
        <p:spPr>
          <a:xfrm>
            <a:off x="9326880" y="4114800"/>
            <a:ext cx="2148840" cy="365760"/>
          </a:xfrm>
          <a:prstGeom prst="rect">
            <a:avLst/>
          </a:prstGeom>
          <a:noFill/>
          <a:ln/>
        </p:spPr>
        <p:txBody>
          <a:bodyPr wrap="square" lIns="0" tIns="0" rIns="0" bIns="0" rtlCol="0" anchor="t"/>
          <a:lstStyle/>
          <a:p>
            <a:pPr indent="0" marL="0">
              <a:buNone/>
            </a:pPr>
            <a:r>
              <a:rPr lang="en-US" sz="1600" b="1" dirty="0">
                <a:solidFill>
                  <a:srgbClr val="E8EAF0"/>
                </a:solidFill>
                <a:latin typeface="Calibri" pitchFamily="34" charset="0"/>
                <a:ea typeface="Calibri" pitchFamily="34" charset="-122"/>
                <a:cs typeface="Calibri" pitchFamily="34" charset="-120"/>
              </a:rPr>
              <a:t>SOS button</a:t>
            </a:r>
            <a:endParaRPr lang="en-US" sz="1600" dirty="0"/>
          </a:p>
        </p:txBody>
      </p:sp>
      <p:sp>
        <p:nvSpPr>
          <p:cNvPr id="25" name="Text 23"/>
          <p:cNvSpPr/>
          <p:nvPr/>
        </p:nvSpPr>
        <p:spPr>
          <a:xfrm>
            <a:off x="9326880" y="4507992"/>
            <a:ext cx="2148840" cy="320040"/>
          </a:xfrm>
          <a:prstGeom prst="rect">
            <a:avLst/>
          </a:prstGeom>
          <a:noFill/>
          <a:ln/>
        </p:spPr>
        <p:txBody>
          <a:bodyPr wrap="square" lIns="0" tIns="0" rIns="0" bIns="0" rtlCol="0" anchor="t"/>
          <a:lstStyle/>
          <a:p>
            <a:pPr indent="0" marL="0">
              <a:buNone/>
            </a:pPr>
            <a:r>
              <a:rPr lang="en-US" sz="1400" dirty="0">
                <a:solidFill>
                  <a:srgbClr val="9BA1AE"/>
                </a:solidFill>
                <a:latin typeface="Calibri" pitchFamily="34" charset="0"/>
                <a:ea typeface="Calibri" pitchFamily="34" charset="-122"/>
                <a:cs typeface="Calibri" pitchFamily="34" charset="-120"/>
              </a:rPr>
              <a:t>pressed on a rover</a:t>
            </a:r>
            <a:endParaRPr lang="en-US" sz="1400" dirty="0"/>
          </a:p>
        </p:txBody>
      </p:sp>
      <p:sp>
        <p:nvSpPr>
          <p:cNvPr id="26" name="Text 24"/>
          <p:cNvSpPr/>
          <p:nvPr/>
        </p:nvSpPr>
        <p:spPr>
          <a:xfrm>
            <a:off x="6309360" y="5138928"/>
            <a:ext cx="5303520" cy="274320"/>
          </a:xfrm>
          <a:prstGeom prst="rect">
            <a:avLst/>
          </a:prstGeom>
          <a:noFill/>
          <a:ln/>
        </p:spPr>
        <p:txBody>
          <a:bodyPr wrap="square" lIns="0" tIns="0" rIns="0" bIns="0" rtlCol="0" anchor="t"/>
          <a:lstStyle/>
          <a:p>
            <a:pPr indent="0" marL="0">
              <a:buNone/>
            </a:pPr>
            <a:r>
              <a:rPr lang="en-US" sz="1200" dirty="0">
                <a:solidFill>
                  <a:srgbClr val="9BA1AE"/>
                </a:solidFill>
                <a:latin typeface="Calibri" pitchFamily="34" charset="0"/>
                <a:ea typeface="Calibri" pitchFamily="34" charset="-122"/>
                <a:cs typeface="Calibri" pitchFamily="34" charset="-120"/>
              </a:rPr>
              <a:t>Detection events a rover can raise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014"/>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300" kern="0" dirty="0">
                <a:solidFill>
                  <a:srgbClr val="8B7BF0"/>
                </a:solidFill>
                <a:latin typeface="Calibri" pitchFamily="34" charset="0"/>
                <a:ea typeface="Calibri" pitchFamily="34" charset="-122"/>
                <a:cs typeface="Calibri" pitchFamily="34" charset="-120"/>
              </a:rPr>
              <a:t>ARCHITECTURE</a:t>
            </a:r>
            <a:endParaRPr lang="en-US" sz="1200" dirty="0"/>
          </a:p>
        </p:txBody>
      </p:sp>
      <p:sp>
        <p:nvSpPr>
          <p:cNvPr id="3" name="Text 1"/>
          <p:cNvSpPr/>
          <p:nvPr/>
        </p:nvSpPr>
        <p:spPr>
          <a:xfrm>
            <a:off x="548640" y="676656"/>
            <a:ext cx="11064240" cy="603504"/>
          </a:xfrm>
          <a:prstGeom prst="rect">
            <a:avLst/>
          </a:prstGeom>
          <a:noFill/>
          <a:ln/>
        </p:spPr>
        <p:txBody>
          <a:bodyPr wrap="square" lIns="0" tIns="0" rIns="0" bIns="0" rtlCol="0" anchor="t"/>
          <a:lstStyle/>
          <a:p>
            <a:pPr indent="0" marL="0">
              <a:buNone/>
            </a:pPr>
            <a:r>
              <a:rPr lang="en-US" sz="3400" b="1" dirty="0">
                <a:solidFill>
                  <a:srgbClr val="E8EAF0"/>
                </a:solidFill>
                <a:latin typeface="Calibri" pitchFamily="34" charset="0"/>
                <a:ea typeface="Calibri" pitchFamily="34" charset="-122"/>
                <a:cs typeface="Calibri" pitchFamily="34" charset="-120"/>
              </a:rPr>
              <a:t>From git push to a running fleet dashboard</a:t>
            </a:r>
            <a:endParaRPr lang="en-US" sz="3400" dirty="0"/>
          </a:p>
        </p:txBody>
      </p:sp>
      <p:sp>
        <p:nvSpPr>
          <p:cNvPr id="4" name="Text 2"/>
          <p:cNvSpPr/>
          <p:nvPr/>
        </p:nvSpPr>
        <p:spPr>
          <a:xfrm>
            <a:off x="10469880" y="1728216"/>
            <a:ext cx="1188720" cy="274320"/>
          </a:xfrm>
          <a:prstGeom prst="rect">
            <a:avLst/>
          </a:prstGeom>
          <a:noFill/>
          <a:ln/>
        </p:spPr>
        <p:txBody>
          <a:bodyPr wrap="square" lIns="0" tIns="0" rIns="0" bIns="0" rtlCol="0" anchor="t"/>
          <a:lstStyle/>
          <a:p>
            <a:pPr indent="0" marL="0">
              <a:buNone/>
            </a:pPr>
            <a:r>
              <a:rPr lang="en-US" sz="1200" b="1" spc="200" kern="0" dirty="0">
                <a:solidFill>
                  <a:srgbClr val="9BA1AE"/>
                </a:solidFill>
                <a:latin typeface="Calibri" pitchFamily="34" charset="0"/>
                <a:ea typeface="Calibri" pitchFamily="34" charset="-122"/>
                <a:cs typeface="Calibri" pitchFamily="34" charset="-120"/>
              </a:rPr>
              <a:t>DELIVERY</a:t>
            </a:r>
            <a:endParaRPr lang="en-US" sz="1200" dirty="0"/>
          </a:p>
        </p:txBody>
      </p:sp>
      <p:sp>
        <p:nvSpPr>
          <p:cNvPr id="5" name="Shape 3"/>
          <p:cNvSpPr/>
          <p:nvPr/>
        </p:nvSpPr>
        <p:spPr>
          <a:xfrm>
            <a:off x="548640" y="1481328"/>
            <a:ext cx="2057400" cy="749808"/>
          </a:xfrm>
          <a:prstGeom prst="roundRect">
            <a:avLst>
              <a:gd name="adj" fmla="val 9756"/>
            </a:avLst>
          </a:prstGeom>
          <a:solidFill>
            <a:srgbClr val="1F232C"/>
          </a:solidFill>
          <a:ln w="9525">
            <a:solidFill>
              <a:srgbClr val="2C313C"/>
            </a:solidFill>
            <a:prstDash val="solid"/>
          </a:ln>
        </p:spPr>
      </p:sp>
      <p:sp>
        <p:nvSpPr>
          <p:cNvPr id="6" name="Text 4"/>
          <p:cNvSpPr/>
          <p:nvPr/>
        </p:nvSpPr>
        <p:spPr>
          <a:xfrm>
            <a:off x="621792" y="1481328"/>
            <a:ext cx="1911096" cy="749808"/>
          </a:xfrm>
          <a:prstGeom prst="rect">
            <a:avLst/>
          </a:prstGeom>
          <a:noFill/>
          <a:ln/>
        </p:spPr>
        <p:txBody>
          <a:bodyPr wrap="square" lIns="0" tIns="0" rIns="0" bIns="0" rtlCol="0" anchor="ctr"/>
          <a:lstStyle/>
          <a:p>
            <a:pPr algn="ctr" indent="0" marL="0">
              <a:buNone/>
            </a:pPr>
            <a:r>
              <a:rPr lang="en-US" sz="1400" b="1" dirty="0">
                <a:solidFill>
                  <a:srgbClr val="E8EAF0"/>
                </a:solidFill>
                <a:latin typeface="Calibri" pitchFamily="34" charset="0"/>
                <a:ea typeface="Calibri" pitchFamily="34" charset="-122"/>
                <a:cs typeface="Calibri" pitchFamily="34" charset="-120"/>
              </a:rPr>
              <a:t>Developer</a:t>
            </a:r>
            <a:endParaRPr lang="en-US" sz="1400" dirty="0"/>
          </a:p>
          <a:p>
            <a:pPr algn="ctr" indent="0" marL="0">
              <a:buNone/>
            </a:pPr>
            <a:r>
              <a:rPr lang="en-US" sz="1200" dirty="0">
                <a:solidFill>
                  <a:srgbClr val="9BA1AE"/>
                </a:solidFill>
                <a:latin typeface="Calibri" pitchFamily="34" charset="0"/>
                <a:ea typeface="Calibri" pitchFamily="34" charset="-122"/>
                <a:cs typeface="Calibri" pitchFamily="34" charset="-120"/>
              </a:rPr>
              <a:t>git push to main</a:t>
            </a:r>
            <a:endParaRPr lang="en-US" sz="1400" dirty="0"/>
          </a:p>
        </p:txBody>
      </p:sp>
      <p:sp>
        <p:nvSpPr>
          <p:cNvPr id="7" name="Shape 5"/>
          <p:cNvSpPr/>
          <p:nvPr/>
        </p:nvSpPr>
        <p:spPr>
          <a:xfrm>
            <a:off x="3090672" y="1481328"/>
            <a:ext cx="2057400" cy="749808"/>
          </a:xfrm>
          <a:prstGeom prst="roundRect">
            <a:avLst>
              <a:gd name="adj" fmla="val 9756"/>
            </a:avLst>
          </a:prstGeom>
          <a:solidFill>
            <a:srgbClr val="1F232C"/>
          </a:solidFill>
          <a:ln w="9525">
            <a:solidFill>
              <a:srgbClr val="2C313C"/>
            </a:solidFill>
            <a:prstDash val="solid"/>
          </a:ln>
        </p:spPr>
      </p:sp>
      <p:sp>
        <p:nvSpPr>
          <p:cNvPr id="8" name="Text 6"/>
          <p:cNvSpPr/>
          <p:nvPr/>
        </p:nvSpPr>
        <p:spPr>
          <a:xfrm>
            <a:off x="3163824" y="1481328"/>
            <a:ext cx="1911096" cy="749808"/>
          </a:xfrm>
          <a:prstGeom prst="rect">
            <a:avLst/>
          </a:prstGeom>
          <a:noFill/>
          <a:ln/>
        </p:spPr>
        <p:txBody>
          <a:bodyPr wrap="square" lIns="0" tIns="0" rIns="0" bIns="0" rtlCol="0" anchor="ctr"/>
          <a:lstStyle/>
          <a:p>
            <a:pPr algn="ctr" indent="0" marL="0">
              <a:buNone/>
            </a:pPr>
            <a:r>
              <a:rPr lang="en-US" sz="1400" b="1" dirty="0">
                <a:solidFill>
                  <a:srgbClr val="E8EAF0"/>
                </a:solidFill>
                <a:latin typeface="Calibri" pitchFamily="34" charset="0"/>
                <a:ea typeface="Calibri" pitchFamily="34" charset="-122"/>
                <a:cs typeface="Calibri" pitchFamily="34" charset="-120"/>
              </a:rPr>
              <a:t>GitHub Actions</a:t>
            </a:r>
            <a:endParaRPr lang="en-US" sz="1400" dirty="0"/>
          </a:p>
          <a:p>
            <a:pPr algn="ctr" indent="0" marL="0">
              <a:buNone/>
            </a:pPr>
            <a:r>
              <a:rPr lang="en-US" sz="1200" dirty="0">
                <a:solidFill>
                  <a:srgbClr val="9BA1AE"/>
                </a:solidFill>
                <a:latin typeface="Calibri" pitchFamily="34" charset="0"/>
                <a:ea typeface="Calibri" pitchFamily="34" charset="-122"/>
                <a:cs typeface="Calibri" pitchFamily="34" charset="-120"/>
              </a:rPr>
              <a:t>tests + image builds</a:t>
            </a:r>
            <a:endParaRPr lang="en-US" sz="1400" dirty="0"/>
          </a:p>
        </p:txBody>
      </p:sp>
      <p:sp>
        <p:nvSpPr>
          <p:cNvPr id="9" name="Shape 7"/>
          <p:cNvSpPr/>
          <p:nvPr/>
        </p:nvSpPr>
        <p:spPr>
          <a:xfrm>
            <a:off x="5632704" y="1481328"/>
            <a:ext cx="2057400" cy="749808"/>
          </a:xfrm>
          <a:prstGeom prst="roundRect">
            <a:avLst>
              <a:gd name="adj" fmla="val 9756"/>
            </a:avLst>
          </a:prstGeom>
          <a:solidFill>
            <a:srgbClr val="1F232C"/>
          </a:solidFill>
          <a:ln w="9525">
            <a:solidFill>
              <a:srgbClr val="8B7BF0"/>
            </a:solidFill>
            <a:prstDash val="solid"/>
          </a:ln>
        </p:spPr>
      </p:sp>
      <p:sp>
        <p:nvSpPr>
          <p:cNvPr id="10" name="Text 8"/>
          <p:cNvSpPr/>
          <p:nvPr/>
        </p:nvSpPr>
        <p:spPr>
          <a:xfrm>
            <a:off x="5705856" y="1481328"/>
            <a:ext cx="1911096" cy="749808"/>
          </a:xfrm>
          <a:prstGeom prst="rect">
            <a:avLst/>
          </a:prstGeom>
          <a:noFill/>
          <a:ln/>
        </p:spPr>
        <p:txBody>
          <a:bodyPr wrap="square" lIns="0" tIns="0" rIns="0" bIns="0" rtlCol="0" anchor="ctr"/>
          <a:lstStyle/>
          <a:p>
            <a:pPr algn="ctr" indent="0" marL="0">
              <a:buNone/>
            </a:pPr>
            <a:r>
              <a:rPr lang="en-US" sz="1400" b="1" dirty="0">
                <a:solidFill>
                  <a:srgbClr val="E8EAF0"/>
                </a:solidFill>
                <a:latin typeface="Calibri" pitchFamily="34" charset="0"/>
                <a:ea typeface="Calibri" pitchFamily="34" charset="-122"/>
                <a:cs typeface="Calibri" pitchFamily="34" charset="-120"/>
              </a:rPr>
              <a:t>Trivy gate</a:t>
            </a:r>
            <a:endParaRPr lang="en-US" sz="1400" dirty="0"/>
          </a:p>
          <a:p>
            <a:pPr algn="ctr" indent="0" marL="0">
              <a:buNone/>
            </a:pPr>
            <a:r>
              <a:rPr lang="en-US" sz="1200" dirty="0">
                <a:solidFill>
                  <a:srgbClr val="9BA1AE"/>
                </a:solidFill>
                <a:latin typeface="Calibri" pitchFamily="34" charset="0"/>
                <a:ea typeface="Calibri" pitchFamily="34" charset="-122"/>
                <a:cs typeface="Calibri" pitchFamily="34" charset="-120"/>
              </a:rPr>
              <a:t>HIGH / CRITICAL fails</a:t>
            </a:r>
            <a:endParaRPr lang="en-US" sz="1400" dirty="0"/>
          </a:p>
        </p:txBody>
      </p:sp>
      <p:sp>
        <p:nvSpPr>
          <p:cNvPr id="11" name="Shape 9"/>
          <p:cNvSpPr/>
          <p:nvPr/>
        </p:nvSpPr>
        <p:spPr>
          <a:xfrm>
            <a:off x="8174736" y="1481328"/>
            <a:ext cx="2057400" cy="749808"/>
          </a:xfrm>
          <a:prstGeom prst="roundRect">
            <a:avLst>
              <a:gd name="adj" fmla="val 9756"/>
            </a:avLst>
          </a:prstGeom>
          <a:solidFill>
            <a:srgbClr val="1F232C"/>
          </a:solidFill>
          <a:ln w="9525">
            <a:solidFill>
              <a:srgbClr val="2C313C"/>
            </a:solidFill>
            <a:prstDash val="solid"/>
          </a:ln>
        </p:spPr>
      </p:sp>
      <p:sp>
        <p:nvSpPr>
          <p:cNvPr id="12" name="Text 10"/>
          <p:cNvSpPr/>
          <p:nvPr/>
        </p:nvSpPr>
        <p:spPr>
          <a:xfrm>
            <a:off x="8247888" y="1481328"/>
            <a:ext cx="1911096" cy="749808"/>
          </a:xfrm>
          <a:prstGeom prst="rect">
            <a:avLst/>
          </a:prstGeom>
          <a:noFill/>
          <a:ln/>
        </p:spPr>
        <p:txBody>
          <a:bodyPr wrap="square" lIns="0" tIns="0" rIns="0" bIns="0" rtlCol="0" anchor="ctr"/>
          <a:lstStyle/>
          <a:p>
            <a:pPr algn="ctr" indent="0" marL="0">
              <a:buNone/>
            </a:pPr>
            <a:r>
              <a:rPr lang="en-US" sz="1400" b="1" dirty="0">
                <a:solidFill>
                  <a:srgbClr val="E8EAF0"/>
                </a:solidFill>
                <a:latin typeface="Calibri" pitchFamily="34" charset="0"/>
                <a:ea typeface="Calibri" pitchFamily="34" charset="-122"/>
                <a:cs typeface="Calibri" pitchFamily="34" charset="-120"/>
              </a:rPr>
              <a:t>GHCR</a:t>
            </a:r>
            <a:endParaRPr lang="en-US" sz="1400" dirty="0"/>
          </a:p>
          <a:p>
            <a:pPr algn="ctr" indent="0" marL="0">
              <a:buNone/>
            </a:pPr>
            <a:r>
              <a:rPr lang="en-US" sz="1200" dirty="0">
                <a:solidFill>
                  <a:srgbClr val="9BA1AE"/>
                </a:solidFill>
                <a:latin typeface="Calibri" pitchFamily="34" charset="0"/>
                <a:ea typeface="Calibri" pitchFamily="34" charset="-122"/>
                <a:cs typeface="Calibri" pitchFamily="34" charset="-120"/>
              </a:rPr>
              <a:t>tag = full commit SHA</a:t>
            </a:r>
            <a:endParaRPr lang="en-US" sz="1400" dirty="0"/>
          </a:p>
        </p:txBody>
      </p:sp>
      <p:sp>
        <p:nvSpPr>
          <p:cNvPr id="13" name="Shape 11"/>
          <p:cNvSpPr/>
          <p:nvPr/>
        </p:nvSpPr>
        <p:spPr>
          <a:xfrm>
            <a:off x="2606040" y="1856232"/>
            <a:ext cx="484632" cy="0"/>
          </a:xfrm>
          <a:prstGeom prst="line">
            <a:avLst/>
          </a:prstGeom>
          <a:noFill/>
          <a:ln w="19050">
            <a:solidFill>
              <a:srgbClr val="9BA1AE"/>
            </a:solidFill>
            <a:prstDash val="solid"/>
            <a:tailEnd type="triangle"/>
          </a:ln>
        </p:spPr>
      </p:sp>
      <p:sp>
        <p:nvSpPr>
          <p:cNvPr id="14" name="Shape 12"/>
          <p:cNvSpPr/>
          <p:nvPr/>
        </p:nvSpPr>
        <p:spPr>
          <a:xfrm>
            <a:off x="5148072" y="1856232"/>
            <a:ext cx="484632" cy="0"/>
          </a:xfrm>
          <a:prstGeom prst="line">
            <a:avLst/>
          </a:prstGeom>
          <a:noFill/>
          <a:ln w="19050">
            <a:solidFill>
              <a:srgbClr val="9BA1AE"/>
            </a:solidFill>
            <a:prstDash val="solid"/>
            <a:tailEnd type="triangle"/>
          </a:ln>
        </p:spPr>
      </p:sp>
      <p:sp>
        <p:nvSpPr>
          <p:cNvPr id="15" name="Shape 13"/>
          <p:cNvSpPr/>
          <p:nvPr/>
        </p:nvSpPr>
        <p:spPr>
          <a:xfrm>
            <a:off x="7690104" y="1856232"/>
            <a:ext cx="484632" cy="0"/>
          </a:xfrm>
          <a:prstGeom prst="line">
            <a:avLst/>
          </a:prstGeom>
          <a:noFill/>
          <a:ln w="19050">
            <a:solidFill>
              <a:srgbClr val="9BA1AE"/>
            </a:solidFill>
            <a:prstDash val="solid"/>
            <a:tailEnd type="triangle"/>
          </a:ln>
        </p:spPr>
      </p:sp>
      <p:sp>
        <p:nvSpPr>
          <p:cNvPr id="16" name="Shape 14"/>
          <p:cNvSpPr/>
          <p:nvPr/>
        </p:nvSpPr>
        <p:spPr>
          <a:xfrm>
            <a:off x="548640" y="2788920"/>
            <a:ext cx="11094415" cy="3566160"/>
          </a:xfrm>
          <a:prstGeom prst="roundRect">
            <a:avLst>
              <a:gd name="adj" fmla="val 2051"/>
            </a:avLst>
          </a:prstGeom>
          <a:solidFill>
            <a:srgbClr val="12141A"/>
          </a:solidFill>
          <a:ln w="9525">
            <a:solidFill>
              <a:srgbClr val="2C313C"/>
            </a:solidFill>
            <a:prstDash val="dash"/>
          </a:ln>
        </p:spPr>
      </p:sp>
      <p:sp>
        <p:nvSpPr>
          <p:cNvPr id="17" name="Text 15"/>
          <p:cNvSpPr/>
          <p:nvPr/>
        </p:nvSpPr>
        <p:spPr>
          <a:xfrm>
            <a:off x="777240" y="2926080"/>
            <a:ext cx="7315200" cy="274320"/>
          </a:xfrm>
          <a:prstGeom prst="rect">
            <a:avLst/>
          </a:prstGeom>
          <a:noFill/>
          <a:ln/>
        </p:spPr>
        <p:txBody>
          <a:bodyPr wrap="square" lIns="0" tIns="0" rIns="0" bIns="0" rtlCol="0" anchor="t"/>
          <a:lstStyle/>
          <a:p>
            <a:pPr indent="0" marL="0">
              <a:buNone/>
            </a:pPr>
            <a:r>
              <a:rPr lang="en-US" sz="1200" b="1" spc="100" kern="0" dirty="0">
                <a:solidFill>
                  <a:srgbClr val="9BA1AE"/>
                </a:solidFill>
                <a:latin typeface="Calibri" pitchFamily="34" charset="0"/>
                <a:ea typeface="Calibri" pitchFamily="34" charset="-122"/>
                <a:cs typeface="Calibri" pitchFamily="34" charset="-120"/>
              </a:rPr>
              <a:t>AWS ap-south-1  ·  VPC 10.20.0.0/16  ·  EKS 1.31  ·  3 × t3.medium</a:t>
            </a:r>
            <a:endParaRPr lang="en-US" sz="1200" dirty="0"/>
          </a:p>
        </p:txBody>
      </p:sp>
      <p:sp>
        <p:nvSpPr>
          <p:cNvPr id="18" name="Shape 16"/>
          <p:cNvSpPr/>
          <p:nvPr/>
        </p:nvSpPr>
        <p:spPr>
          <a:xfrm>
            <a:off x="9203436" y="2231136"/>
            <a:ext cx="0" cy="557784"/>
          </a:xfrm>
          <a:prstGeom prst="line">
            <a:avLst/>
          </a:prstGeom>
          <a:noFill/>
          <a:ln w="19050">
            <a:solidFill>
              <a:srgbClr val="9BA1AE"/>
            </a:solidFill>
            <a:prstDash val="solid"/>
            <a:tailEnd type="triangle"/>
          </a:ln>
        </p:spPr>
      </p:sp>
      <p:sp>
        <p:nvSpPr>
          <p:cNvPr id="19" name="Text 17"/>
          <p:cNvSpPr/>
          <p:nvPr/>
        </p:nvSpPr>
        <p:spPr>
          <a:xfrm>
            <a:off x="9313164" y="2322576"/>
            <a:ext cx="1371600" cy="274320"/>
          </a:xfrm>
          <a:prstGeom prst="rect">
            <a:avLst/>
          </a:prstGeom>
          <a:noFill/>
          <a:ln/>
        </p:spPr>
        <p:txBody>
          <a:bodyPr wrap="square" lIns="0" tIns="0" rIns="0" bIns="0" rtlCol="0" anchor="t"/>
          <a:lstStyle/>
          <a:p>
            <a:pPr indent="0" marL="0">
              <a:buNone/>
            </a:pPr>
            <a:r>
              <a:rPr lang="en-US" sz="1200" dirty="0">
                <a:solidFill>
                  <a:srgbClr val="9BA1AE"/>
                </a:solidFill>
                <a:latin typeface="Calibri" pitchFamily="34" charset="0"/>
                <a:ea typeface="Calibri" pitchFamily="34" charset="-122"/>
                <a:cs typeface="Calibri" pitchFamily="34" charset="-120"/>
              </a:rPr>
              <a:t>pull by SHA</a:t>
            </a:r>
            <a:endParaRPr lang="en-US" sz="1200" dirty="0"/>
          </a:p>
        </p:txBody>
      </p:sp>
      <p:sp>
        <p:nvSpPr>
          <p:cNvPr id="20" name="Shape 18"/>
          <p:cNvSpPr/>
          <p:nvPr/>
        </p:nvSpPr>
        <p:spPr>
          <a:xfrm>
            <a:off x="822960" y="4315968"/>
            <a:ext cx="1783080" cy="749808"/>
          </a:xfrm>
          <a:prstGeom prst="roundRect">
            <a:avLst>
              <a:gd name="adj" fmla="val 9756"/>
            </a:avLst>
          </a:prstGeom>
          <a:solidFill>
            <a:srgbClr val="1F232C"/>
          </a:solidFill>
          <a:ln w="9525">
            <a:solidFill>
              <a:srgbClr val="2C313C"/>
            </a:solidFill>
            <a:prstDash val="solid"/>
          </a:ln>
        </p:spPr>
      </p:sp>
      <p:sp>
        <p:nvSpPr>
          <p:cNvPr id="21" name="Text 19"/>
          <p:cNvSpPr/>
          <p:nvPr/>
        </p:nvSpPr>
        <p:spPr>
          <a:xfrm>
            <a:off x="896112" y="4315968"/>
            <a:ext cx="1636776" cy="749808"/>
          </a:xfrm>
          <a:prstGeom prst="rect">
            <a:avLst/>
          </a:prstGeom>
          <a:noFill/>
          <a:ln/>
        </p:spPr>
        <p:txBody>
          <a:bodyPr wrap="square" lIns="0" tIns="0" rIns="0" bIns="0" rtlCol="0" anchor="ctr"/>
          <a:lstStyle/>
          <a:p>
            <a:pPr algn="ctr" indent="0" marL="0">
              <a:buNone/>
            </a:pPr>
            <a:r>
              <a:rPr lang="en-US" sz="1400" b="1" dirty="0">
                <a:solidFill>
                  <a:srgbClr val="E8EAF0"/>
                </a:solidFill>
                <a:latin typeface="Calibri" pitchFamily="34" charset="0"/>
                <a:ea typeface="Calibri" pitchFamily="34" charset="-122"/>
                <a:cs typeface="Calibri" pitchFamily="34" charset="-120"/>
              </a:rPr>
              <a:t>Load balancer</a:t>
            </a:r>
            <a:endParaRPr lang="en-US" sz="1400" dirty="0"/>
          </a:p>
          <a:p>
            <a:pPr algn="ctr" indent="0" marL="0">
              <a:buNone/>
            </a:pPr>
            <a:r>
              <a:rPr lang="en-US" sz="1200" dirty="0">
                <a:solidFill>
                  <a:srgbClr val="9BA1AE"/>
                </a:solidFill>
                <a:latin typeface="Calibri" pitchFamily="34" charset="0"/>
                <a:ea typeface="Calibri" pitchFamily="34" charset="-122"/>
                <a:cs typeface="Calibri" pitchFamily="34" charset="-120"/>
              </a:rPr>
              <a:t>AWS ELB</a:t>
            </a:r>
            <a:endParaRPr lang="en-US" sz="1400" dirty="0"/>
          </a:p>
        </p:txBody>
      </p:sp>
      <p:sp>
        <p:nvSpPr>
          <p:cNvPr id="22" name="Shape 20"/>
          <p:cNvSpPr/>
          <p:nvPr/>
        </p:nvSpPr>
        <p:spPr>
          <a:xfrm>
            <a:off x="2926080" y="4315968"/>
            <a:ext cx="1783080" cy="749808"/>
          </a:xfrm>
          <a:prstGeom prst="roundRect">
            <a:avLst>
              <a:gd name="adj" fmla="val 9756"/>
            </a:avLst>
          </a:prstGeom>
          <a:solidFill>
            <a:srgbClr val="1F232C"/>
          </a:solidFill>
          <a:ln w="9525">
            <a:solidFill>
              <a:srgbClr val="2C313C"/>
            </a:solidFill>
            <a:prstDash val="solid"/>
          </a:ln>
        </p:spPr>
      </p:sp>
      <p:sp>
        <p:nvSpPr>
          <p:cNvPr id="23" name="Text 21"/>
          <p:cNvSpPr/>
          <p:nvPr/>
        </p:nvSpPr>
        <p:spPr>
          <a:xfrm>
            <a:off x="2999232" y="4315968"/>
            <a:ext cx="1636776" cy="749808"/>
          </a:xfrm>
          <a:prstGeom prst="rect">
            <a:avLst/>
          </a:prstGeom>
          <a:noFill/>
          <a:ln/>
        </p:spPr>
        <p:txBody>
          <a:bodyPr wrap="square" lIns="0" tIns="0" rIns="0" bIns="0" rtlCol="0" anchor="ctr"/>
          <a:lstStyle/>
          <a:p>
            <a:pPr algn="ctr" indent="0" marL="0">
              <a:buNone/>
            </a:pPr>
            <a:r>
              <a:rPr lang="en-US" sz="1400" b="1" dirty="0">
                <a:solidFill>
                  <a:srgbClr val="E8EAF0"/>
                </a:solidFill>
                <a:latin typeface="Calibri" pitchFamily="34" charset="0"/>
                <a:ea typeface="Calibri" pitchFamily="34" charset="-122"/>
                <a:cs typeface="Calibri" pitchFamily="34" charset="-120"/>
              </a:rPr>
              <a:t>Ingress</a:t>
            </a:r>
            <a:endParaRPr lang="en-US" sz="1400" dirty="0"/>
          </a:p>
          <a:p>
            <a:pPr algn="ctr" indent="0" marL="0">
              <a:buNone/>
            </a:pPr>
            <a:r>
              <a:rPr lang="en-US" sz="1200" dirty="0">
                <a:solidFill>
                  <a:srgbClr val="9BA1AE"/>
                </a:solidFill>
                <a:latin typeface="Calibri" pitchFamily="34" charset="0"/>
                <a:ea typeface="Calibri" pitchFamily="34" charset="-122"/>
                <a:cs typeface="Calibri" pitchFamily="34" charset="-120"/>
              </a:rPr>
              <a:t>ingress-nginx</a:t>
            </a:r>
            <a:endParaRPr lang="en-US" sz="1400" dirty="0"/>
          </a:p>
        </p:txBody>
      </p:sp>
      <p:sp>
        <p:nvSpPr>
          <p:cNvPr id="24" name="Shape 22"/>
          <p:cNvSpPr/>
          <p:nvPr/>
        </p:nvSpPr>
        <p:spPr>
          <a:xfrm>
            <a:off x="5074920" y="3310128"/>
            <a:ext cx="2331720" cy="749808"/>
          </a:xfrm>
          <a:prstGeom prst="roundRect">
            <a:avLst>
              <a:gd name="adj" fmla="val 9756"/>
            </a:avLst>
          </a:prstGeom>
          <a:solidFill>
            <a:srgbClr val="1F232C"/>
          </a:solidFill>
          <a:ln w="9525">
            <a:solidFill>
              <a:srgbClr val="2C313C"/>
            </a:solidFill>
            <a:prstDash val="solid"/>
          </a:ln>
        </p:spPr>
      </p:sp>
      <p:sp>
        <p:nvSpPr>
          <p:cNvPr id="25" name="Text 23"/>
          <p:cNvSpPr/>
          <p:nvPr/>
        </p:nvSpPr>
        <p:spPr>
          <a:xfrm>
            <a:off x="5148072" y="3310128"/>
            <a:ext cx="2185416" cy="749808"/>
          </a:xfrm>
          <a:prstGeom prst="rect">
            <a:avLst/>
          </a:prstGeom>
          <a:noFill/>
          <a:ln/>
        </p:spPr>
        <p:txBody>
          <a:bodyPr wrap="square" lIns="0" tIns="0" rIns="0" bIns="0" rtlCol="0" anchor="ctr"/>
          <a:lstStyle/>
          <a:p>
            <a:pPr algn="ctr" indent="0" marL="0">
              <a:buNone/>
            </a:pPr>
            <a:r>
              <a:rPr lang="en-US" sz="1400" b="1" dirty="0">
                <a:solidFill>
                  <a:srgbClr val="E8EAF0"/>
                </a:solidFill>
                <a:latin typeface="Calibri" pitchFamily="34" charset="0"/>
                <a:ea typeface="Calibri" pitchFamily="34" charset="-122"/>
                <a:cs typeface="Calibri" pitchFamily="34" charset="-120"/>
              </a:rPr>
              <a:t>Frontend</a:t>
            </a:r>
            <a:endParaRPr lang="en-US" sz="1400" dirty="0"/>
          </a:p>
          <a:p>
            <a:pPr algn="ctr" indent="0" marL="0">
              <a:buNone/>
            </a:pPr>
            <a:r>
              <a:rPr lang="en-US" sz="1200" dirty="0">
                <a:solidFill>
                  <a:srgbClr val="9BA1AE"/>
                </a:solidFill>
                <a:latin typeface="Calibri" pitchFamily="34" charset="0"/>
                <a:ea typeface="Calibri" pitchFamily="34" charset="-122"/>
                <a:cs typeface="Calibri" pitchFamily="34" charset="-120"/>
              </a:rPr>
              <a:t>React · nginx · 2 pods · /</a:t>
            </a:r>
            <a:endParaRPr lang="en-US" sz="1400" dirty="0"/>
          </a:p>
        </p:txBody>
      </p:sp>
      <p:sp>
        <p:nvSpPr>
          <p:cNvPr id="26" name="Shape 24"/>
          <p:cNvSpPr/>
          <p:nvPr/>
        </p:nvSpPr>
        <p:spPr>
          <a:xfrm>
            <a:off x="5074920" y="4315968"/>
            <a:ext cx="2331720" cy="749808"/>
          </a:xfrm>
          <a:prstGeom prst="roundRect">
            <a:avLst>
              <a:gd name="adj" fmla="val 9756"/>
            </a:avLst>
          </a:prstGeom>
          <a:solidFill>
            <a:srgbClr val="1F232C"/>
          </a:solidFill>
          <a:ln w="9525">
            <a:solidFill>
              <a:srgbClr val="8B7BF0"/>
            </a:solidFill>
            <a:prstDash val="solid"/>
          </a:ln>
        </p:spPr>
      </p:sp>
      <p:sp>
        <p:nvSpPr>
          <p:cNvPr id="27" name="Text 25"/>
          <p:cNvSpPr/>
          <p:nvPr/>
        </p:nvSpPr>
        <p:spPr>
          <a:xfrm>
            <a:off x="5148072" y="4315968"/>
            <a:ext cx="2185416" cy="749808"/>
          </a:xfrm>
          <a:prstGeom prst="rect">
            <a:avLst/>
          </a:prstGeom>
          <a:noFill/>
          <a:ln/>
        </p:spPr>
        <p:txBody>
          <a:bodyPr wrap="square" lIns="0" tIns="0" rIns="0" bIns="0" rtlCol="0" anchor="ctr"/>
          <a:lstStyle/>
          <a:p>
            <a:pPr algn="ctr" indent="0" marL="0">
              <a:buNone/>
            </a:pPr>
            <a:r>
              <a:rPr lang="en-US" sz="1400" b="1" dirty="0">
                <a:solidFill>
                  <a:srgbClr val="E8EAF0"/>
                </a:solidFill>
                <a:latin typeface="Calibri" pitchFamily="34" charset="0"/>
                <a:ea typeface="Calibri" pitchFamily="34" charset="-122"/>
                <a:cs typeface="Calibri" pitchFamily="34" charset="-120"/>
              </a:rPr>
              <a:t>Backend</a:t>
            </a:r>
            <a:endParaRPr lang="en-US" sz="1400" dirty="0"/>
          </a:p>
          <a:p>
            <a:pPr algn="ctr" indent="0" marL="0">
              <a:buNone/>
            </a:pPr>
            <a:r>
              <a:rPr lang="en-US" sz="1200" dirty="0">
                <a:solidFill>
                  <a:srgbClr val="9BA1AE"/>
                </a:solidFill>
                <a:latin typeface="Calibri" pitchFamily="34" charset="0"/>
                <a:ea typeface="Calibri" pitchFamily="34" charset="-122"/>
                <a:cs typeface="Calibri" pitchFamily="34" charset="-120"/>
              </a:rPr>
              <a:t>FastAPI · HPA 2–6 · /api</a:t>
            </a:r>
            <a:endParaRPr lang="en-US" sz="1400" dirty="0"/>
          </a:p>
        </p:txBody>
      </p:sp>
      <p:sp>
        <p:nvSpPr>
          <p:cNvPr id="28" name="Shape 26"/>
          <p:cNvSpPr/>
          <p:nvPr/>
        </p:nvSpPr>
        <p:spPr>
          <a:xfrm>
            <a:off x="7863840" y="4315968"/>
            <a:ext cx="2057400" cy="749808"/>
          </a:xfrm>
          <a:prstGeom prst="roundRect">
            <a:avLst>
              <a:gd name="adj" fmla="val 9756"/>
            </a:avLst>
          </a:prstGeom>
          <a:solidFill>
            <a:srgbClr val="1F232C"/>
          </a:solidFill>
          <a:ln w="9525">
            <a:solidFill>
              <a:srgbClr val="2C313C"/>
            </a:solidFill>
            <a:prstDash val="solid"/>
          </a:ln>
        </p:spPr>
      </p:sp>
      <p:sp>
        <p:nvSpPr>
          <p:cNvPr id="29" name="Text 27"/>
          <p:cNvSpPr/>
          <p:nvPr/>
        </p:nvSpPr>
        <p:spPr>
          <a:xfrm>
            <a:off x="7936992" y="4315968"/>
            <a:ext cx="1911096" cy="749808"/>
          </a:xfrm>
          <a:prstGeom prst="rect">
            <a:avLst/>
          </a:prstGeom>
          <a:noFill/>
          <a:ln/>
        </p:spPr>
        <p:txBody>
          <a:bodyPr wrap="square" lIns="0" tIns="0" rIns="0" bIns="0" rtlCol="0" anchor="ctr"/>
          <a:lstStyle/>
          <a:p>
            <a:pPr algn="ctr" indent="0" marL="0">
              <a:buNone/>
            </a:pPr>
            <a:r>
              <a:rPr lang="en-US" sz="1400" b="1" dirty="0">
                <a:solidFill>
                  <a:srgbClr val="E8EAF0"/>
                </a:solidFill>
                <a:latin typeface="Calibri" pitchFamily="34" charset="0"/>
                <a:ea typeface="Calibri" pitchFamily="34" charset="-122"/>
                <a:cs typeface="Calibri" pitchFamily="34" charset="-120"/>
              </a:rPr>
              <a:t>PostgreSQL 16</a:t>
            </a:r>
            <a:endParaRPr lang="en-US" sz="1400" dirty="0"/>
          </a:p>
          <a:p>
            <a:pPr algn="ctr" indent="0" marL="0">
              <a:buNone/>
            </a:pPr>
            <a:r>
              <a:rPr lang="en-US" sz="1200" dirty="0">
                <a:solidFill>
                  <a:srgbClr val="9BA1AE"/>
                </a:solidFill>
                <a:latin typeface="Calibri" pitchFamily="34" charset="0"/>
                <a:ea typeface="Calibri" pitchFamily="34" charset="-122"/>
                <a:cs typeface="Calibri" pitchFamily="34" charset="-120"/>
              </a:rPr>
              <a:t>StatefulSet · gp2 EBS</a:t>
            </a:r>
            <a:endParaRPr lang="en-US" sz="1400" dirty="0"/>
          </a:p>
        </p:txBody>
      </p:sp>
      <p:sp>
        <p:nvSpPr>
          <p:cNvPr id="30" name="Shape 28"/>
          <p:cNvSpPr/>
          <p:nvPr/>
        </p:nvSpPr>
        <p:spPr>
          <a:xfrm>
            <a:off x="7863840" y="3310128"/>
            <a:ext cx="2057400" cy="749808"/>
          </a:xfrm>
          <a:prstGeom prst="roundRect">
            <a:avLst>
              <a:gd name="adj" fmla="val 9756"/>
            </a:avLst>
          </a:prstGeom>
          <a:solidFill>
            <a:srgbClr val="1F232C"/>
          </a:solidFill>
          <a:ln w="9525">
            <a:solidFill>
              <a:srgbClr val="2C313C"/>
            </a:solidFill>
            <a:prstDash val="solid"/>
          </a:ln>
        </p:spPr>
      </p:sp>
      <p:sp>
        <p:nvSpPr>
          <p:cNvPr id="31" name="Text 29"/>
          <p:cNvSpPr/>
          <p:nvPr/>
        </p:nvSpPr>
        <p:spPr>
          <a:xfrm>
            <a:off x="7936992" y="3310128"/>
            <a:ext cx="1911096" cy="749808"/>
          </a:xfrm>
          <a:prstGeom prst="rect">
            <a:avLst/>
          </a:prstGeom>
          <a:noFill/>
          <a:ln/>
        </p:spPr>
        <p:txBody>
          <a:bodyPr wrap="square" lIns="0" tIns="0" rIns="0" bIns="0" rtlCol="0" anchor="ctr"/>
          <a:lstStyle/>
          <a:p>
            <a:pPr algn="ctr" indent="0" marL="0">
              <a:buNone/>
            </a:pPr>
            <a:r>
              <a:rPr lang="en-US" sz="1400" b="1" dirty="0">
                <a:solidFill>
                  <a:srgbClr val="E8EAF0"/>
                </a:solidFill>
                <a:latin typeface="Calibri" pitchFamily="34" charset="0"/>
                <a:ea typeface="Calibri" pitchFamily="34" charset="-122"/>
                <a:cs typeface="Calibri" pitchFamily="34" charset="-120"/>
              </a:rPr>
              <a:t>Rover simulator</a:t>
            </a:r>
            <a:endParaRPr lang="en-US" sz="1400" dirty="0"/>
          </a:p>
          <a:p>
            <a:pPr algn="ctr" indent="0" marL="0">
              <a:buNone/>
            </a:pPr>
            <a:r>
              <a:rPr lang="en-US" sz="1200" dirty="0">
                <a:solidFill>
                  <a:srgbClr val="9BA1AE"/>
                </a:solidFill>
                <a:latin typeface="Calibri" pitchFamily="34" charset="0"/>
                <a:ea typeface="Calibri" pitchFamily="34" charset="-122"/>
                <a:cs typeface="Calibri" pitchFamily="34" charset="-120"/>
              </a:rPr>
              <a:t>asyncio · load generator</a:t>
            </a:r>
            <a:endParaRPr lang="en-US" sz="1400" dirty="0"/>
          </a:p>
        </p:txBody>
      </p:sp>
      <p:sp>
        <p:nvSpPr>
          <p:cNvPr id="32" name="Shape 30"/>
          <p:cNvSpPr/>
          <p:nvPr/>
        </p:nvSpPr>
        <p:spPr>
          <a:xfrm>
            <a:off x="5074920" y="5349240"/>
            <a:ext cx="2331720" cy="749808"/>
          </a:xfrm>
          <a:prstGeom prst="roundRect">
            <a:avLst>
              <a:gd name="adj" fmla="val 9756"/>
            </a:avLst>
          </a:prstGeom>
          <a:solidFill>
            <a:srgbClr val="1F232C"/>
          </a:solidFill>
          <a:ln w="9525">
            <a:solidFill>
              <a:srgbClr val="2C313C"/>
            </a:solidFill>
            <a:prstDash val="solid"/>
          </a:ln>
        </p:spPr>
      </p:sp>
      <p:sp>
        <p:nvSpPr>
          <p:cNvPr id="33" name="Text 31"/>
          <p:cNvSpPr/>
          <p:nvPr/>
        </p:nvSpPr>
        <p:spPr>
          <a:xfrm>
            <a:off x="5148072" y="5349240"/>
            <a:ext cx="2185416" cy="749808"/>
          </a:xfrm>
          <a:prstGeom prst="rect">
            <a:avLst/>
          </a:prstGeom>
          <a:noFill/>
          <a:ln/>
        </p:spPr>
        <p:txBody>
          <a:bodyPr wrap="square" lIns="0" tIns="0" rIns="0" bIns="0" rtlCol="0" anchor="ctr"/>
          <a:lstStyle/>
          <a:p>
            <a:pPr algn="ctr" indent="0" marL="0">
              <a:buNone/>
            </a:pPr>
            <a:r>
              <a:rPr lang="en-US" sz="1400" b="1" dirty="0">
                <a:solidFill>
                  <a:srgbClr val="E8EAF0"/>
                </a:solidFill>
                <a:latin typeface="Calibri" pitchFamily="34" charset="0"/>
                <a:ea typeface="Calibri" pitchFamily="34" charset="-122"/>
                <a:cs typeface="Calibri" pitchFamily="34" charset="-120"/>
              </a:rPr>
              <a:t>Prometheus</a:t>
            </a:r>
            <a:endParaRPr lang="en-US" sz="1400" dirty="0"/>
          </a:p>
          <a:p>
            <a:pPr algn="ctr" indent="0" marL="0">
              <a:buNone/>
            </a:pPr>
            <a:r>
              <a:rPr lang="en-US" sz="1200" dirty="0">
                <a:solidFill>
                  <a:srgbClr val="9BA1AE"/>
                </a:solidFill>
                <a:latin typeface="Calibri" pitchFamily="34" charset="0"/>
                <a:ea typeface="Calibri" pitchFamily="34" charset="-122"/>
                <a:cs typeface="Calibri" pitchFamily="34" charset="-120"/>
              </a:rPr>
              <a:t>ServiceMonitor · 3 alerts</a:t>
            </a:r>
            <a:endParaRPr lang="en-US" sz="1400" dirty="0"/>
          </a:p>
        </p:txBody>
      </p:sp>
      <p:sp>
        <p:nvSpPr>
          <p:cNvPr id="34" name="Shape 32"/>
          <p:cNvSpPr/>
          <p:nvPr/>
        </p:nvSpPr>
        <p:spPr>
          <a:xfrm>
            <a:off x="7863840" y="5349240"/>
            <a:ext cx="2057400" cy="749808"/>
          </a:xfrm>
          <a:prstGeom prst="roundRect">
            <a:avLst>
              <a:gd name="adj" fmla="val 9756"/>
            </a:avLst>
          </a:prstGeom>
          <a:solidFill>
            <a:srgbClr val="1F232C"/>
          </a:solidFill>
          <a:ln w="9525">
            <a:solidFill>
              <a:srgbClr val="2C313C"/>
            </a:solidFill>
            <a:prstDash val="solid"/>
          </a:ln>
        </p:spPr>
      </p:sp>
      <p:sp>
        <p:nvSpPr>
          <p:cNvPr id="35" name="Text 33"/>
          <p:cNvSpPr/>
          <p:nvPr/>
        </p:nvSpPr>
        <p:spPr>
          <a:xfrm>
            <a:off x="7936992" y="5349240"/>
            <a:ext cx="1911096" cy="749808"/>
          </a:xfrm>
          <a:prstGeom prst="rect">
            <a:avLst/>
          </a:prstGeom>
          <a:noFill/>
          <a:ln/>
        </p:spPr>
        <p:txBody>
          <a:bodyPr wrap="square" lIns="0" tIns="0" rIns="0" bIns="0" rtlCol="0" anchor="ctr"/>
          <a:lstStyle/>
          <a:p>
            <a:pPr algn="ctr" indent="0" marL="0">
              <a:buNone/>
            </a:pPr>
            <a:r>
              <a:rPr lang="en-US" sz="1400" b="1" dirty="0">
                <a:solidFill>
                  <a:srgbClr val="E8EAF0"/>
                </a:solidFill>
                <a:latin typeface="Calibri" pitchFamily="34" charset="0"/>
                <a:ea typeface="Calibri" pitchFamily="34" charset="-122"/>
                <a:cs typeface="Calibri" pitchFamily="34" charset="-120"/>
              </a:rPr>
              <a:t>Grafana</a:t>
            </a:r>
            <a:endParaRPr lang="en-US" sz="1400" dirty="0"/>
          </a:p>
          <a:p>
            <a:pPr algn="ctr" indent="0" marL="0">
              <a:buNone/>
            </a:pPr>
            <a:r>
              <a:rPr lang="en-US" sz="1200" dirty="0">
                <a:solidFill>
                  <a:srgbClr val="9BA1AE"/>
                </a:solidFill>
                <a:latin typeface="Calibri" pitchFamily="34" charset="0"/>
                <a:ea typeface="Calibri" pitchFamily="34" charset="-122"/>
                <a:cs typeface="Calibri" pitchFamily="34" charset="-120"/>
              </a:rPr>
              <a:t>11-panel dashboard</a:t>
            </a:r>
            <a:endParaRPr lang="en-US" sz="1400" dirty="0"/>
          </a:p>
        </p:txBody>
      </p:sp>
      <p:sp>
        <p:nvSpPr>
          <p:cNvPr id="36" name="Shape 34"/>
          <p:cNvSpPr/>
          <p:nvPr/>
        </p:nvSpPr>
        <p:spPr>
          <a:xfrm>
            <a:off x="2606040" y="4690872"/>
            <a:ext cx="320040" cy="0"/>
          </a:xfrm>
          <a:prstGeom prst="line">
            <a:avLst/>
          </a:prstGeom>
          <a:noFill/>
          <a:ln w="19050">
            <a:solidFill>
              <a:srgbClr val="9BA1AE"/>
            </a:solidFill>
            <a:prstDash val="solid"/>
            <a:tailEnd type="triangle"/>
          </a:ln>
        </p:spPr>
      </p:sp>
      <p:sp>
        <p:nvSpPr>
          <p:cNvPr id="37" name="Shape 35"/>
          <p:cNvSpPr/>
          <p:nvPr/>
        </p:nvSpPr>
        <p:spPr>
          <a:xfrm>
            <a:off x="4709160" y="4690872"/>
            <a:ext cx="365760" cy="0"/>
          </a:xfrm>
          <a:prstGeom prst="line">
            <a:avLst/>
          </a:prstGeom>
          <a:noFill/>
          <a:ln w="19050">
            <a:solidFill>
              <a:srgbClr val="9BA1AE"/>
            </a:solidFill>
            <a:prstDash val="solid"/>
            <a:tailEnd type="triangle"/>
          </a:ln>
        </p:spPr>
      </p:sp>
      <p:sp>
        <p:nvSpPr>
          <p:cNvPr id="38" name="Shape 36"/>
          <p:cNvSpPr/>
          <p:nvPr/>
        </p:nvSpPr>
        <p:spPr>
          <a:xfrm flipV="1">
            <a:off x="4709160" y="3877056"/>
            <a:ext cx="365760" cy="621792"/>
          </a:xfrm>
          <a:prstGeom prst="line">
            <a:avLst/>
          </a:prstGeom>
          <a:noFill/>
          <a:ln w="19050">
            <a:solidFill>
              <a:srgbClr val="9BA1AE"/>
            </a:solidFill>
            <a:prstDash val="solid"/>
            <a:tailEnd type="triangle"/>
          </a:ln>
        </p:spPr>
      </p:sp>
      <p:sp>
        <p:nvSpPr>
          <p:cNvPr id="39" name="Shape 37"/>
          <p:cNvSpPr/>
          <p:nvPr/>
        </p:nvSpPr>
        <p:spPr>
          <a:xfrm>
            <a:off x="7406640" y="4690872"/>
            <a:ext cx="457200" cy="0"/>
          </a:xfrm>
          <a:prstGeom prst="line">
            <a:avLst/>
          </a:prstGeom>
          <a:noFill/>
          <a:ln w="19050">
            <a:solidFill>
              <a:srgbClr val="9BA1AE"/>
            </a:solidFill>
            <a:prstDash val="solid"/>
            <a:tailEnd type="triangle"/>
          </a:ln>
        </p:spPr>
      </p:sp>
      <p:sp>
        <p:nvSpPr>
          <p:cNvPr id="40" name="Shape 38"/>
          <p:cNvSpPr/>
          <p:nvPr/>
        </p:nvSpPr>
        <p:spPr>
          <a:xfrm flipV="1">
            <a:off x="7406640" y="3922776"/>
            <a:ext cx="457200" cy="530352"/>
          </a:xfrm>
          <a:prstGeom prst="line">
            <a:avLst/>
          </a:prstGeom>
          <a:noFill/>
          <a:ln w="19050">
            <a:solidFill>
              <a:srgbClr val="9BA1AE"/>
            </a:solidFill>
            <a:prstDash val="solid"/>
            <a:headEnd type="triangle"/>
          </a:ln>
        </p:spPr>
      </p:sp>
      <p:sp>
        <p:nvSpPr>
          <p:cNvPr id="41" name="Shape 39"/>
          <p:cNvSpPr/>
          <p:nvPr/>
        </p:nvSpPr>
        <p:spPr>
          <a:xfrm flipV="1">
            <a:off x="6240780" y="5065776"/>
            <a:ext cx="0" cy="283464"/>
          </a:xfrm>
          <a:prstGeom prst="line">
            <a:avLst/>
          </a:prstGeom>
          <a:noFill/>
          <a:ln w="19050">
            <a:solidFill>
              <a:srgbClr val="9BA1AE"/>
            </a:solidFill>
            <a:prstDash val="dash"/>
            <a:tailEnd type="triangle"/>
          </a:ln>
        </p:spPr>
      </p:sp>
      <p:sp>
        <p:nvSpPr>
          <p:cNvPr id="42" name="Shape 40"/>
          <p:cNvSpPr/>
          <p:nvPr/>
        </p:nvSpPr>
        <p:spPr>
          <a:xfrm>
            <a:off x="7406640" y="5724144"/>
            <a:ext cx="457200" cy="0"/>
          </a:xfrm>
          <a:prstGeom prst="line">
            <a:avLst/>
          </a:prstGeom>
          <a:noFill/>
          <a:ln w="19050">
            <a:solidFill>
              <a:srgbClr val="9BA1AE"/>
            </a:solidFill>
            <a:prstDash val="solid"/>
            <a:tailEnd type="triangle"/>
          </a:ln>
        </p:spPr>
      </p:sp>
      <p:sp>
        <p:nvSpPr>
          <p:cNvPr id="43" name="Text 41"/>
          <p:cNvSpPr/>
          <p:nvPr/>
        </p:nvSpPr>
        <p:spPr>
          <a:xfrm>
            <a:off x="6355080" y="5084064"/>
            <a:ext cx="1371600" cy="256032"/>
          </a:xfrm>
          <a:prstGeom prst="rect">
            <a:avLst/>
          </a:prstGeom>
          <a:noFill/>
          <a:ln/>
        </p:spPr>
        <p:txBody>
          <a:bodyPr wrap="square" lIns="0" tIns="0" rIns="0" bIns="0" rtlCol="0" anchor="t"/>
          <a:lstStyle/>
          <a:p>
            <a:pPr indent="0" marL="0">
              <a:buNone/>
            </a:pPr>
            <a:r>
              <a:rPr lang="en-US" sz="1200" dirty="0">
                <a:solidFill>
                  <a:srgbClr val="9BA1AE"/>
                </a:solidFill>
                <a:latin typeface="Calibri" pitchFamily="34" charset="0"/>
                <a:ea typeface="Calibri" pitchFamily="34" charset="-122"/>
                <a:cs typeface="Calibri" pitchFamily="34" charset="-120"/>
              </a:rPr>
              <a:t>scrapes /metrics</a:t>
            </a:r>
            <a:endParaRPr lang="en-US" sz="1200" dirty="0"/>
          </a:p>
        </p:txBody>
      </p:sp>
      <p:sp>
        <p:nvSpPr>
          <p:cNvPr id="44" name="Text 42"/>
          <p:cNvSpPr/>
          <p:nvPr/>
        </p:nvSpPr>
        <p:spPr>
          <a:xfrm>
            <a:off x="822960" y="3538728"/>
            <a:ext cx="1783080" cy="274320"/>
          </a:xfrm>
          <a:prstGeom prst="rect">
            <a:avLst/>
          </a:prstGeom>
          <a:noFill/>
          <a:ln/>
        </p:spPr>
        <p:txBody>
          <a:bodyPr wrap="square" lIns="0" tIns="0" rIns="0" bIns="0" rtlCol="0" anchor="t"/>
          <a:lstStyle/>
          <a:p>
            <a:pPr algn="ctr" indent="0" marL="0">
              <a:buNone/>
            </a:pPr>
            <a:r>
              <a:rPr lang="en-US" sz="1400" dirty="0">
                <a:solidFill>
                  <a:srgbClr val="9BA1AE"/>
                </a:solidFill>
                <a:latin typeface="Calibri" pitchFamily="34" charset="0"/>
                <a:ea typeface="Calibri" pitchFamily="34" charset="-122"/>
                <a:cs typeface="Calibri" pitchFamily="34" charset="-120"/>
              </a:rPr>
              <a:t>Browser</a:t>
            </a:r>
            <a:endParaRPr lang="en-US" sz="1400" dirty="0"/>
          </a:p>
        </p:txBody>
      </p:sp>
      <p:sp>
        <p:nvSpPr>
          <p:cNvPr id="45" name="Shape 43"/>
          <p:cNvSpPr/>
          <p:nvPr/>
        </p:nvSpPr>
        <p:spPr>
          <a:xfrm>
            <a:off x="1714500" y="3858768"/>
            <a:ext cx="0" cy="457200"/>
          </a:xfrm>
          <a:prstGeom prst="line">
            <a:avLst/>
          </a:prstGeom>
          <a:noFill/>
          <a:ln w="19050">
            <a:solidFill>
              <a:srgbClr val="9BA1AE"/>
            </a:solidFill>
            <a:prstDash val="solid"/>
            <a:tailEnd type="triangle"/>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014"/>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300" kern="0" dirty="0">
                <a:solidFill>
                  <a:srgbClr val="8B7BF0"/>
                </a:solidFill>
                <a:latin typeface="Calibri" pitchFamily="34" charset="0"/>
                <a:ea typeface="Calibri" pitchFamily="34" charset="-122"/>
                <a:cs typeface="Calibri" pitchFamily="34" charset="-120"/>
              </a:rPr>
              <a:t>THE APP</a:t>
            </a:r>
            <a:endParaRPr lang="en-US" sz="1200" dirty="0"/>
          </a:p>
        </p:txBody>
      </p:sp>
      <p:sp>
        <p:nvSpPr>
          <p:cNvPr id="3" name="Text 1"/>
          <p:cNvSpPr/>
          <p:nvPr/>
        </p:nvSpPr>
        <p:spPr>
          <a:xfrm>
            <a:off x="548640" y="676656"/>
            <a:ext cx="11064240" cy="603504"/>
          </a:xfrm>
          <a:prstGeom prst="rect">
            <a:avLst/>
          </a:prstGeom>
          <a:noFill/>
          <a:ln/>
        </p:spPr>
        <p:txBody>
          <a:bodyPr wrap="square" lIns="0" tIns="0" rIns="0" bIns="0" rtlCol="0" anchor="t"/>
          <a:lstStyle/>
          <a:p>
            <a:pPr indent="0" marL="0">
              <a:buNone/>
            </a:pPr>
            <a:r>
              <a:rPr lang="en-US" sz="3400" b="1" dirty="0">
                <a:solidFill>
                  <a:srgbClr val="E8EAF0"/>
                </a:solidFill>
                <a:latin typeface="Calibri" pitchFamily="34" charset="0"/>
                <a:ea typeface="Calibri" pitchFamily="34" charset="-122"/>
                <a:cs typeface="Calibri" pitchFamily="34" charset="-120"/>
              </a:rPr>
              <a:t>A Foxglove-style dashboard for the fleet</a:t>
            </a:r>
            <a:endParaRPr lang="en-US" sz="3400" dirty="0"/>
          </a:p>
        </p:txBody>
      </p:sp>
      <p:sp>
        <p:nvSpPr>
          <p:cNvPr id="4" name="Shape 2"/>
          <p:cNvSpPr/>
          <p:nvPr/>
        </p:nvSpPr>
        <p:spPr>
          <a:xfrm>
            <a:off x="3977640" y="1463040"/>
            <a:ext cx="7662672" cy="4387058"/>
          </a:xfrm>
          <a:prstGeom prst="roundRect">
            <a:avLst>
              <a:gd name="adj" fmla="val 1251"/>
            </a:avLst>
          </a:prstGeom>
          <a:solidFill>
            <a:srgbClr val="171A21"/>
          </a:solidFill>
          <a:ln w="9525">
            <a:solidFill>
              <a:srgbClr val="2C313C"/>
            </a:solidFill>
            <a:prstDash val="solid"/>
          </a:ln>
        </p:spPr>
      </p:sp>
      <p:pic>
        <p:nvPicPr>
          <p:cNvPr id="5" name="Image 0" descr="Running locally with Docker Compose: 8/8 rovers online, 8 open incidents">    </p:cNvPr>
          <p:cNvPicPr>
            <a:picLocks noChangeAspect="1"/>
          </p:cNvPicPr>
          <p:nvPr/>
        </p:nvPicPr>
        <p:blipFill>
          <a:blip r:embed="rId1"/>
          <a:stretch>
            <a:fillRect/>
          </a:stretch>
        </p:blipFill>
        <p:spPr>
          <a:xfrm>
            <a:off x="4032504" y="1517904"/>
            <a:ext cx="7552944" cy="4277330"/>
          </a:xfrm>
          <a:prstGeom prst="rect">
            <a:avLst/>
          </a:prstGeom>
        </p:spPr>
      </p:pic>
      <p:sp>
        <p:nvSpPr>
          <p:cNvPr id="6" name="Text 3"/>
          <p:cNvSpPr/>
          <p:nvPr/>
        </p:nvSpPr>
        <p:spPr>
          <a:xfrm>
            <a:off x="3977640" y="5923250"/>
            <a:ext cx="7662672" cy="274320"/>
          </a:xfrm>
          <a:prstGeom prst="rect">
            <a:avLst/>
          </a:prstGeom>
          <a:noFill/>
          <a:ln/>
        </p:spPr>
        <p:txBody>
          <a:bodyPr wrap="square" lIns="0" tIns="0" rIns="0" bIns="0" rtlCol="0" anchor="t"/>
          <a:lstStyle/>
          <a:p>
            <a:pPr indent="0" marL="0">
              <a:buNone/>
            </a:pPr>
            <a:r>
              <a:rPr lang="en-US" sz="1200" dirty="0">
                <a:solidFill>
                  <a:srgbClr val="9BA1AE"/>
                </a:solidFill>
                <a:latin typeface="Calibri" pitchFamily="34" charset="0"/>
                <a:ea typeface="Calibri" pitchFamily="34" charset="-122"/>
                <a:cs typeface="Calibri" pitchFamily="34" charset="-120"/>
              </a:rPr>
              <a:t>Running locally with Docker Compose: 8/8 rovers online, 8 open incidents</a:t>
            </a:r>
            <a:endParaRPr lang="en-US" sz="1200" dirty="0"/>
          </a:p>
        </p:txBody>
      </p:sp>
      <p:sp>
        <p:nvSpPr>
          <p:cNvPr id="7" name="Text 4"/>
          <p:cNvSpPr/>
          <p:nvPr/>
        </p:nvSpPr>
        <p:spPr>
          <a:xfrm>
            <a:off x="548640" y="1508760"/>
            <a:ext cx="3063240" cy="347472"/>
          </a:xfrm>
          <a:prstGeom prst="rect">
            <a:avLst/>
          </a:prstGeom>
          <a:noFill/>
          <a:ln/>
        </p:spPr>
        <p:txBody>
          <a:bodyPr wrap="square" lIns="0" tIns="0" rIns="0" bIns="0" rtlCol="0" anchor="t"/>
          <a:lstStyle/>
          <a:p>
            <a:pPr indent="0" marL="0">
              <a:buNone/>
            </a:pPr>
            <a:r>
              <a:rPr lang="en-US" sz="1800" b="1" dirty="0">
                <a:solidFill>
                  <a:srgbClr val="8B7BF0"/>
                </a:solidFill>
                <a:latin typeface="Calibri" pitchFamily="34" charset="0"/>
                <a:ea typeface="Calibri" pitchFamily="34" charset="-122"/>
                <a:cs typeface="Calibri" pitchFamily="34" charset="-120"/>
              </a:rPr>
              <a:t>Map</a:t>
            </a:r>
            <a:endParaRPr lang="en-US" sz="1800" dirty="0"/>
          </a:p>
        </p:txBody>
      </p:sp>
      <p:sp>
        <p:nvSpPr>
          <p:cNvPr id="8" name="Text 5"/>
          <p:cNvSpPr/>
          <p:nvPr/>
        </p:nvSpPr>
        <p:spPr>
          <a:xfrm>
            <a:off x="548640" y="1874520"/>
            <a:ext cx="3063240" cy="640080"/>
          </a:xfrm>
          <a:prstGeom prst="rect">
            <a:avLst/>
          </a:prstGeom>
          <a:noFill/>
          <a:ln/>
        </p:spPr>
        <p:txBody>
          <a:bodyPr wrap="square" lIns="0" tIns="0" rIns="0" bIns="0" rtlCol="0" anchor="t"/>
          <a:lstStyle/>
          <a:p>
            <a:pPr indent="0" marL="0">
              <a:buNone/>
            </a:pPr>
            <a:r>
              <a:rPr lang="en-US" sz="1500" dirty="0">
                <a:solidFill>
                  <a:srgbClr val="9BA1AE"/>
                </a:solidFill>
                <a:latin typeface="Calibri" pitchFamily="34" charset="0"/>
                <a:ea typeface="Calibri" pitchFamily="34" charset="-122"/>
                <a:cs typeface="Calibri" pitchFamily="34" charset="-120"/>
              </a:rPr>
              <a:t>Live rover positions across campus zones</a:t>
            </a:r>
            <a:endParaRPr lang="en-US" sz="1500" dirty="0"/>
          </a:p>
        </p:txBody>
      </p:sp>
      <p:sp>
        <p:nvSpPr>
          <p:cNvPr id="9" name="Text 6"/>
          <p:cNvSpPr/>
          <p:nvPr/>
        </p:nvSpPr>
        <p:spPr>
          <a:xfrm>
            <a:off x="548640" y="2624328"/>
            <a:ext cx="3063240" cy="347472"/>
          </a:xfrm>
          <a:prstGeom prst="rect">
            <a:avLst/>
          </a:prstGeom>
          <a:noFill/>
          <a:ln/>
        </p:spPr>
        <p:txBody>
          <a:bodyPr wrap="square" lIns="0" tIns="0" rIns="0" bIns="0" rtlCol="0" anchor="t"/>
          <a:lstStyle/>
          <a:p>
            <a:pPr indent="0" marL="0">
              <a:buNone/>
            </a:pPr>
            <a:r>
              <a:rPr lang="en-US" sz="1800" b="1" dirty="0">
                <a:solidFill>
                  <a:srgbClr val="8B7BF0"/>
                </a:solidFill>
                <a:latin typeface="Calibri" pitchFamily="34" charset="0"/>
                <a:ea typeface="Calibri" pitchFamily="34" charset="-122"/>
                <a:cs typeface="Calibri" pitchFamily="34" charset="-120"/>
              </a:rPr>
              <a:t>Rovers</a:t>
            </a:r>
            <a:endParaRPr lang="en-US" sz="1800" dirty="0"/>
          </a:p>
        </p:txBody>
      </p:sp>
      <p:sp>
        <p:nvSpPr>
          <p:cNvPr id="10" name="Text 7"/>
          <p:cNvSpPr/>
          <p:nvPr/>
        </p:nvSpPr>
        <p:spPr>
          <a:xfrm>
            <a:off x="548640" y="2990088"/>
            <a:ext cx="3063240" cy="640080"/>
          </a:xfrm>
          <a:prstGeom prst="rect">
            <a:avLst/>
          </a:prstGeom>
          <a:noFill/>
          <a:ln/>
        </p:spPr>
        <p:txBody>
          <a:bodyPr wrap="square" lIns="0" tIns="0" rIns="0" bIns="0" rtlCol="0" anchor="t"/>
          <a:lstStyle/>
          <a:p>
            <a:pPr indent="0" marL="0">
              <a:buNone/>
            </a:pPr>
            <a:r>
              <a:rPr lang="en-US" sz="1500" dirty="0">
                <a:solidFill>
                  <a:srgbClr val="9BA1AE"/>
                </a:solidFill>
                <a:latin typeface="Calibri" pitchFamily="34" charset="0"/>
                <a:ea typeface="Calibri" pitchFamily="34" charset="-122"/>
                <a:cs typeface="Calibri" pitchFamily="34" charset="-120"/>
              </a:rPr>
              <a:t>Status, battery and last-seen per rover</a:t>
            </a:r>
            <a:endParaRPr lang="en-US" sz="1500" dirty="0"/>
          </a:p>
        </p:txBody>
      </p:sp>
      <p:sp>
        <p:nvSpPr>
          <p:cNvPr id="11" name="Text 8"/>
          <p:cNvSpPr/>
          <p:nvPr/>
        </p:nvSpPr>
        <p:spPr>
          <a:xfrm>
            <a:off x="548640" y="3739896"/>
            <a:ext cx="3063240" cy="347472"/>
          </a:xfrm>
          <a:prstGeom prst="rect">
            <a:avLst/>
          </a:prstGeom>
          <a:noFill/>
          <a:ln/>
        </p:spPr>
        <p:txBody>
          <a:bodyPr wrap="square" lIns="0" tIns="0" rIns="0" bIns="0" rtlCol="0" anchor="t"/>
          <a:lstStyle/>
          <a:p>
            <a:pPr indent="0" marL="0">
              <a:buNone/>
            </a:pPr>
            <a:r>
              <a:rPr lang="en-US" sz="1800" b="1" dirty="0">
                <a:solidFill>
                  <a:srgbClr val="8B7BF0"/>
                </a:solidFill>
                <a:latin typeface="Calibri" pitchFamily="34" charset="0"/>
                <a:ea typeface="Calibri" pitchFamily="34" charset="-122"/>
                <a:cs typeface="Calibri" pitchFamily="34" charset="-120"/>
              </a:rPr>
              <a:t>Events</a:t>
            </a:r>
            <a:endParaRPr lang="en-US" sz="1800" dirty="0"/>
          </a:p>
        </p:txBody>
      </p:sp>
      <p:sp>
        <p:nvSpPr>
          <p:cNvPr id="12" name="Text 9"/>
          <p:cNvSpPr/>
          <p:nvPr/>
        </p:nvSpPr>
        <p:spPr>
          <a:xfrm>
            <a:off x="548640" y="4105656"/>
            <a:ext cx="3063240" cy="640080"/>
          </a:xfrm>
          <a:prstGeom prst="rect">
            <a:avLst/>
          </a:prstGeom>
          <a:noFill/>
          <a:ln/>
        </p:spPr>
        <p:txBody>
          <a:bodyPr wrap="square" lIns="0" tIns="0" rIns="0" bIns="0" rtlCol="0" anchor="t"/>
          <a:lstStyle/>
          <a:p>
            <a:pPr indent="0" marL="0">
              <a:buNone/>
            </a:pPr>
            <a:r>
              <a:rPr lang="en-US" sz="1500" dirty="0">
                <a:solidFill>
                  <a:srgbClr val="9BA1AE"/>
                </a:solidFill>
                <a:latin typeface="Calibri" pitchFamily="34" charset="0"/>
                <a:ea typeface="Calibri" pitchFamily="34" charset="-122"/>
                <a:cs typeface="Calibri" pitchFamily="34" charset="-120"/>
              </a:rPr>
              <a:t>Detections with severity, zone and confidence</a:t>
            </a:r>
            <a:endParaRPr lang="en-US" sz="1500" dirty="0"/>
          </a:p>
        </p:txBody>
      </p:sp>
      <p:sp>
        <p:nvSpPr>
          <p:cNvPr id="13" name="Text 10"/>
          <p:cNvSpPr/>
          <p:nvPr/>
        </p:nvSpPr>
        <p:spPr>
          <a:xfrm>
            <a:off x="548640" y="4855464"/>
            <a:ext cx="3063240" cy="347472"/>
          </a:xfrm>
          <a:prstGeom prst="rect">
            <a:avLst/>
          </a:prstGeom>
          <a:noFill/>
          <a:ln/>
        </p:spPr>
        <p:txBody>
          <a:bodyPr wrap="square" lIns="0" tIns="0" rIns="0" bIns="0" rtlCol="0" anchor="t"/>
          <a:lstStyle/>
          <a:p>
            <a:pPr indent="0" marL="0">
              <a:buNone/>
            </a:pPr>
            <a:r>
              <a:rPr lang="en-US" sz="1800" b="1" dirty="0">
                <a:solidFill>
                  <a:srgbClr val="8B7BF0"/>
                </a:solidFill>
                <a:latin typeface="Calibri" pitchFamily="34" charset="0"/>
                <a:ea typeface="Calibri" pitchFamily="34" charset="-122"/>
                <a:cs typeface="Calibri" pitchFamily="34" charset="-120"/>
              </a:rPr>
              <a:t>Incidents</a:t>
            </a:r>
            <a:endParaRPr lang="en-US" sz="1800" dirty="0"/>
          </a:p>
        </p:txBody>
      </p:sp>
      <p:sp>
        <p:nvSpPr>
          <p:cNvPr id="14" name="Text 11"/>
          <p:cNvSpPr/>
          <p:nvPr/>
        </p:nvSpPr>
        <p:spPr>
          <a:xfrm>
            <a:off x="548640" y="5221224"/>
            <a:ext cx="3063240" cy="640080"/>
          </a:xfrm>
          <a:prstGeom prst="rect">
            <a:avLst/>
          </a:prstGeom>
          <a:noFill/>
          <a:ln/>
        </p:spPr>
        <p:txBody>
          <a:bodyPr wrap="square" lIns="0" tIns="0" rIns="0" bIns="0" rtlCol="0" anchor="t"/>
          <a:lstStyle/>
          <a:p>
            <a:pPr indent="0" marL="0">
              <a:buNone/>
            </a:pPr>
            <a:r>
              <a:rPr lang="en-US" sz="1500" dirty="0">
                <a:solidFill>
                  <a:srgbClr val="9BA1AE"/>
                </a:solidFill>
                <a:latin typeface="Calibri" pitchFamily="34" charset="0"/>
                <a:ea typeface="Calibri" pitchFamily="34" charset="-122"/>
                <a:cs typeface="Calibri" pitchFamily="34" charset="-120"/>
              </a:rPr>
              <a:t>Open → acknowledged → resolved triage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014"/>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300" kern="0" dirty="0">
                <a:solidFill>
                  <a:srgbClr val="8B7BF0"/>
                </a:solidFill>
                <a:latin typeface="Calibri" pitchFamily="34" charset="0"/>
                <a:ea typeface="Calibri" pitchFamily="34" charset="-122"/>
                <a:cs typeface="Calibri" pitchFamily="34" charset="-120"/>
              </a:rPr>
              <a:t>API &amp; TESTS</a:t>
            </a:r>
            <a:endParaRPr lang="en-US" sz="1200" dirty="0"/>
          </a:p>
        </p:txBody>
      </p:sp>
      <p:sp>
        <p:nvSpPr>
          <p:cNvPr id="3" name="Text 1"/>
          <p:cNvSpPr/>
          <p:nvPr/>
        </p:nvSpPr>
        <p:spPr>
          <a:xfrm>
            <a:off x="548640" y="676656"/>
            <a:ext cx="11064240" cy="603504"/>
          </a:xfrm>
          <a:prstGeom prst="rect">
            <a:avLst/>
          </a:prstGeom>
          <a:noFill/>
          <a:ln/>
        </p:spPr>
        <p:txBody>
          <a:bodyPr wrap="square" lIns="0" tIns="0" rIns="0" bIns="0" rtlCol="0" anchor="t"/>
          <a:lstStyle/>
          <a:p>
            <a:pPr indent="0" marL="0">
              <a:buNone/>
            </a:pPr>
            <a:r>
              <a:rPr lang="en-US" sz="3400" b="1" dirty="0">
                <a:solidFill>
                  <a:srgbClr val="E8EAF0"/>
                </a:solidFill>
                <a:latin typeface="Calibri" pitchFamily="34" charset="0"/>
                <a:ea typeface="Calibri" pitchFamily="34" charset="-122"/>
                <a:cs typeface="Calibri" pitchFamily="34" charset="-120"/>
              </a:rPr>
              <a:t>A FastAPI backend built for Kubernetes</a:t>
            </a:r>
            <a:endParaRPr lang="en-US" sz="3400" dirty="0"/>
          </a:p>
        </p:txBody>
      </p:sp>
      <p:sp>
        <p:nvSpPr>
          <p:cNvPr id="4" name="Shape 2"/>
          <p:cNvSpPr/>
          <p:nvPr/>
        </p:nvSpPr>
        <p:spPr>
          <a:xfrm>
            <a:off x="548640" y="1508760"/>
            <a:ext cx="4206240" cy="4526280"/>
          </a:xfrm>
          <a:prstGeom prst="roundRect">
            <a:avLst>
              <a:gd name="adj" fmla="val 1739"/>
            </a:avLst>
          </a:prstGeom>
          <a:solidFill>
            <a:srgbClr val="171A21"/>
          </a:solidFill>
          <a:ln w="9525">
            <a:solidFill>
              <a:srgbClr val="2C313C"/>
            </a:solidFill>
            <a:prstDash val="solid"/>
          </a:ln>
        </p:spPr>
      </p:sp>
      <p:sp>
        <p:nvSpPr>
          <p:cNvPr id="5" name="Text 3"/>
          <p:cNvSpPr/>
          <p:nvPr/>
        </p:nvSpPr>
        <p:spPr>
          <a:xfrm>
            <a:off x="822960" y="1691640"/>
            <a:ext cx="3657600" cy="320040"/>
          </a:xfrm>
          <a:prstGeom prst="rect">
            <a:avLst/>
          </a:prstGeom>
          <a:noFill/>
          <a:ln/>
        </p:spPr>
        <p:txBody>
          <a:bodyPr wrap="square" lIns="0" tIns="0" rIns="0" bIns="0" rtlCol="0" anchor="t"/>
          <a:lstStyle/>
          <a:p>
            <a:pPr indent="0" marL="0">
              <a:buNone/>
            </a:pPr>
            <a:r>
              <a:rPr lang="en-US" sz="1600" b="1" dirty="0">
                <a:solidFill>
                  <a:srgbClr val="8B7BF0"/>
                </a:solidFill>
                <a:latin typeface="Calibri" pitchFamily="34" charset="0"/>
                <a:ea typeface="Calibri" pitchFamily="34" charset="-122"/>
                <a:cs typeface="Calibri" pitchFamily="34" charset="-120"/>
              </a:rPr>
              <a:t>REST endpoints</a:t>
            </a:r>
            <a:endParaRPr lang="en-US" sz="1600" dirty="0"/>
          </a:p>
        </p:txBody>
      </p:sp>
      <p:sp>
        <p:nvSpPr>
          <p:cNvPr id="6" name="Text 4"/>
          <p:cNvSpPr/>
          <p:nvPr/>
        </p:nvSpPr>
        <p:spPr>
          <a:xfrm>
            <a:off x="822960" y="2148840"/>
            <a:ext cx="2103120" cy="310896"/>
          </a:xfrm>
          <a:prstGeom prst="rect">
            <a:avLst/>
          </a:prstGeom>
          <a:noFill/>
          <a:ln/>
        </p:spPr>
        <p:txBody>
          <a:bodyPr wrap="square" lIns="0" tIns="0" rIns="0" bIns="0" rtlCol="0" anchor="t"/>
          <a:lstStyle/>
          <a:p>
            <a:pPr indent="0" marL="0">
              <a:buNone/>
            </a:pPr>
            <a:r>
              <a:rPr lang="en-US" sz="1400" dirty="0">
                <a:solidFill>
                  <a:srgbClr val="E8EAF0"/>
                </a:solidFill>
                <a:latin typeface="Courier New" pitchFamily="34" charset="0"/>
                <a:ea typeface="Courier New" pitchFamily="34" charset="-122"/>
                <a:cs typeface="Courier New" pitchFamily="34" charset="-120"/>
              </a:rPr>
              <a:t>/api/rovers</a:t>
            </a:r>
            <a:endParaRPr lang="en-US" sz="1400" dirty="0"/>
          </a:p>
        </p:txBody>
      </p:sp>
      <p:sp>
        <p:nvSpPr>
          <p:cNvPr id="7" name="Text 5"/>
          <p:cNvSpPr/>
          <p:nvPr/>
        </p:nvSpPr>
        <p:spPr>
          <a:xfrm>
            <a:off x="2926080" y="2148840"/>
            <a:ext cx="1645920" cy="310896"/>
          </a:xfrm>
          <a:prstGeom prst="rect">
            <a:avLst/>
          </a:prstGeom>
          <a:noFill/>
          <a:ln/>
        </p:spPr>
        <p:txBody>
          <a:bodyPr wrap="square" lIns="0" tIns="0" rIns="0" bIns="0" rtlCol="0" anchor="t"/>
          <a:lstStyle/>
          <a:p>
            <a:pPr indent="0" marL="0">
              <a:buNone/>
            </a:pPr>
            <a:r>
              <a:rPr lang="en-US" sz="1400" dirty="0">
                <a:solidFill>
                  <a:srgbClr val="9BA1AE"/>
                </a:solidFill>
                <a:latin typeface="Calibri" pitchFamily="34" charset="0"/>
                <a:ea typeface="Calibri" pitchFamily="34" charset="-122"/>
                <a:cs typeface="Calibri" pitchFamily="34" charset="-120"/>
              </a:rPr>
              <a:t>CRUD</a:t>
            </a:r>
            <a:endParaRPr lang="en-US" sz="1400" dirty="0"/>
          </a:p>
        </p:txBody>
      </p:sp>
      <p:sp>
        <p:nvSpPr>
          <p:cNvPr id="8" name="Text 6"/>
          <p:cNvSpPr/>
          <p:nvPr/>
        </p:nvSpPr>
        <p:spPr>
          <a:xfrm>
            <a:off x="822960" y="2560320"/>
            <a:ext cx="2103120" cy="310896"/>
          </a:xfrm>
          <a:prstGeom prst="rect">
            <a:avLst/>
          </a:prstGeom>
          <a:noFill/>
          <a:ln/>
        </p:spPr>
        <p:txBody>
          <a:bodyPr wrap="square" lIns="0" tIns="0" rIns="0" bIns="0" rtlCol="0" anchor="t"/>
          <a:lstStyle/>
          <a:p>
            <a:pPr indent="0" marL="0">
              <a:buNone/>
            </a:pPr>
            <a:r>
              <a:rPr lang="en-US" sz="1400" dirty="0">
                <a:solidFill>
                  <a:srgbClr val="E8EAF0"/>
                </a:solidFill>
                <a:latin typeface="Courier New" pitchFamily="34" charset="0"/>
                <a:ea typeface="Courier New" pitchFamily="34" charset="-122"/>
                <a:cs typeface="Courier New" pitchFamily="34" charset="-120"/>
              </a:rPr>
              <a:t>/api/telemetry</a:t>
            </a:r>
            <a:endParaRPr lang="en-US" sz="1400" dirty="0"/>
          </a:p>
        </p:txBody>
      </p:sp>
      <p:sp>
        <p:nvSpPr>
          <p:cNvPr id="9" name="Text 7"/>
          <p:cNvSpPr/>
          <p:nvPr/>
        </p:nvSpPr>
        <p:spPr>
          <a:xfrm>
            <a:off x="2926080" y="2560320"/>
            <a:ext cx="1645920" cy="310896"/>
          </a:xfrm>
          <a:prstGeom prst="rect">
            <a:avLst/>
          </a:prstGeom>
          <a:noFill/>
          <a:ln/>
        </p:spPr>
        <p:txBody>
          <a:bodyPr wrap="square" lIns="0" tIns="0" rIns="0" bIns="0" rtlCol="0" anchor="t"/>
          <a:lstStyle/>
          <a:p>
            <a:pPr indent="0" marL="0">
              <a:buNone/>
            </a:pPr>
            <a:r>
              <a:rPr lang="en-US" sz="1400" dirty="0">
                <a:solidFill>
                  <a:srgbClr val="9BA1AE"/>
                </a:solidFill>
                <a:latin typeface="Calibri" pitchFamily="34" charset="0"/>
                <a:ea typeface="Calibri" pitchFamily="34" charset="-122"/>
                <a:cs typeface="Calibri" pitchFamily="34" charset="-120"/>
              </a:rPr>
              <a:t>pose + battery</a:t>
            </a:r>
            <a:endParaRPr lang="en-US" sz="1400" dirty="0"/>
          </a:p>
        </p:txBody>
      </p:sp>
      <p:sp>
        <p:nvSpPr>
          <p:cNvPr id="10" name="Text 8"/>
          <p:cNvSpPr/>
          <p:nvPr/>
        </p:nvSpPr>
        <p:spPr>
          <a:xfrm>
            <a:off x="822960" y="2971800"/>
            <a:ext cx="2103120" cy="310896"/>
          </a:xfrm>
          <a:prstGeom prst="rect">
            <a:avLst/>
          </a:prstGeom>
          <a:noFill/>
          <a:ln/>
        </p:spPr>
        <p:txBody>
          <a:bodyPr wrap="square" lIns="0" tIns="0" rIns="0" bIns="0" rtlCol="0" anchor="t"/>
          <a:lstStyle/>
          <a:p>
            <a:pPr indent="0" marL="0">
              <a:buNone/>
            </a:pPr>
            <a:r>
              <a:rPr lang="en-US" sz="1400" dirty="0">
                <a:solidFill>
                  <a:srgbClr val="E8EAF0"/>
                </a:solidFill>
                <a:latin typeface="Courier New" pitchFamily="34" charset="0"/>
                <a:ea typeface="Courier New" pitchFamily="34" charset="-122"/>
                <a:cs typeface="Courier New" pitchFamily="34" charset="-120"/>
              </a:rPr>
              <a:t>/api/zones</a:t>
            </a:r>
            <a:endParaRPr lang="en-US" sz="1400" dirty="0"/>
          </a:p>
        </p:txBody>
      </p:sp>
      <p:sp>
        <p:nvSpPr>
          <p:cNvPr id="11" name="Text 9"/>
          <p:cNvSpPr/>
          <p:nvPr/>
        </p:nvSpPr>
        <p:spPr>
          <a:xfrm>
            <a:off x="2926080" y="2971800"/>
            <a:ext cx="1645920" cy="310896"/>
          </a:xfrm>
          <a:prstGeom prst="rect">
            <a:avLst/>
          </a:prstGeom>
          <a:noFill/>
          <a:ln/>
        </p:spPr>
        <p:txBody>
          <a:bodyPr wrap="square" lIns="0" tIns="0" rIns="0" bIns="0" rtlCol="0" anchor="t"/>
          <a:lstStyle/>
          <a:p>
            <a:pPr indent="0" marL="0">
              <a:buNone/>
            </a:pPr>
            <a:r>
              <a:rPr lang="en-US" sz="1400" dirty="0">
                <a:solidFill>
                  <a:srgbClr val="9BA1AE"/>
                </a:solidFill>
                <a:latin typeface="Calibri" pitchFamily="34" charset="0"/>
                <a:ea typeface="Calibri" pitchFamily="34" charset="-122"/>
                <a:cs typeface="Calibri" pitchFamily="34" charset="-120"/>
              </a:rPr>
              <a:t>campus zones</a:t>
            </a:r>
            <a:endParaRPr lang="en-US" sz="1400" dirty="0"/>
          </a:p>
        </p:txBody>
      </p:sp>
      <p:sp>
        <p:nvSpPr>
          <p:cNvPr id="12" name="Text 10"/>
          <p:cNvSpPr/>
          <p:nvPr/>
        </p:nvSpPr>
        <p:spPr>
          <a:xfrm>
            <a:off x="822960" y="3383280"/>
            <a:ext cx="2103120" cy="310896"/>
          </a:xfrm>
          <a:prstGeom prst="rect">
            <a:avLst/>
          </a:prstGeom>
          <a:noFill/>
          <a:ln/>
        </p:spPr>
        <p:txBody>
          <a:bodyPr wrap="square" lIns="0" tIns="0" rIns="0" bIns="0" rtlCol="0" anchor="t"/>
          <a:lstStyle/>
          <a:p>
            <a:pPr indent="0" marL="0">
              <a:buNone/>
            </a:pPr>
            <a:r>
              <a:rPr lang="en-US" sz="1400" dirty="0">
                <a:solidFill>
                  <a:srgbClr val="E8EAF0"/>
                </a:solidFill>
                <a:latin typeface="Courier New" pitchFamily="34" charset="0"/>
                <a:ea typeface="Courier New" pitchFamily="34" charset="-122"/>
                <a:cs typeface="Courier New" pitchFamily="34" charset="-120"/>
              </a:rPr>
              <a:t>/api/events</a:t>
            </a:r>
            <a:endParaRPr lang="en-US" sz="1400" dirty="0"/>
          </a:p>
        </p:txBody>
      </p:sp>
      <p:sp>
        <p:nvSpPr>
          <p:cNvPr id="13" name="Text 11"/>
          <p:cNvSpPr/>
          <p:nvPr/>
        </p:nvSpPr>
        <p:spPr>
          <a:xfrm>
            <a:off x="2926080" y="3383280"/>
            <a:ext cx="1645920" cy="310896"/>
          </a:xfrm>
          <a:prstGeom prst="rect">
            <a:avLst/>
          </a:prstGeom>
          <a:noFill/>
          <a:ln/>
        </p:spPr>
        <p:txBody>
          <a:bodyPr wrap="square" lIns="0" tIns="0" rIns="0" bIns="0" rtlCol="0" anchor="t"/>
          <a:lstStyle/>
          <a:p>
            <a:pPr indent="0" marL="0">
              <a:buNone/>
            </a:pPr>
            <a:r>
              <a:rPr lang="en-US" sz="1400" dirty="0">
                <a:solidFill>
                  <a:srgbClr val="9BA1AE"/>
                </a:solidFill>
                <a:latin typeface="Calibri" pitchFamily="34" charset="0"/>
                <a:ea typeface="Calibri" pitchFamily="34" charset="-122"/>
                <a:cs typeface="Calibri" pitchFamily="34" charset="-120"/>
              </a:rPr>
              <a:t>detections</a:t>
            </a:r>
            <a:endParaRPr lang="en-US" sz="1400" dirty="0"/>
          </a:p>
        </p:txBody>
      </p:sp>
      <p:sp>
        <p:nvSpPr>
          <p:cNvPr id="14" name="Text 12"/>
          <p:cNvSpPr/>
          <p:nvPr/>
        </p:nvSpPr>
        <p:spPr>
          <a:xfrm>
            <a:off x="822960" y="3794760"/>
            <a:ext cx="2103120" cy="310896"/>
          </a:xfrm>
          <a:prstGeom prst="rect">
            <a:avLst/>
          </a:prstGeom>
          <a:noFill/>
          <a:ln/>
        </p:spPr>
        <p:txBody>
          <a:bodyPr wrap="square" lIns="0" tIns="0" rIns="0" bIns="0" rtlCol="0" anchor="t"/>
          <a:lstStyle/>
          <a:p>
            <a:pPr indent="0" marL="0">
              <a:buNone/>
            </a:pPr>
            <a:r>
              <a:rPr lang="en-US" sz="1400" dirty="0">
                <a:solidFill>
                  <a:srgbClr val="E8EAF0"/>
                </a:solidFill>
                <a:latin typeface="Courier New" pitchFamily="34" charset="0"/>
                <a:ea typeface="Courier New" pitchFamily="34" charset="-122"/>
                <a:cs typeface="Courier New" pitchFamily="34" charset="-120"/>
              </a:rPr>
              <a:t>/api/incidents</a:t>
            </a:r>
            <a:endParaRPr lang="en-US" sz="1400" dirty="0"/>
          </a:p>
        </p:txBody>
      </p:sp>
      <p:sp>
        <p:nvSpPr>
          <p:cNvPr id="15" name="Text 13"/>
          <p:cNvSpPr/>
          <p:nvPr/>
        </p:nvSpPr>
        <p:spPr>
          <a:xfrm>
            <a:off x="2926080" y="3794760"/>
            <a:ext cx="1645920" cy="310896"/>
          </a:xfrm>
          <a:prstGeom prst="rect">
            <a:avLst/>
          </a:prstGeom>
          <a:noFill/>
          <a:ln/>
        </p:spPr>
        <p:txBody>
          <a:bodyPr wrap="square" lIns="0" tIns="0" rIns="0" bIns="0" rtlCol="0" anchor="t"/>
          <a:lstStyle/>
          <a:p>
            <a:pPr indent="0" marL="0">
              <a:buNone/>
            </a:pPr>
            <a:r>
              <a:rPr lang="en-US" sz="1400" dirty="0">
                <a:solidFill>
                  <a:srgbClr val="9BA1AE"/>
                </a:solidFill>
                <a:latin typeface="Calibri" pitchFamily="34" charset="0"/>
                <a:ea typeface="Calibri" pitchFamily="34" charset="-122"/>
                <a:cs typeface="Calibri" pitchFamily="34" charset="-120"/>
              </a:rPr>
              <a:t>CRUD</a:t>
            </a:r>
            <a:endParaRPr lang="en-US" sz="1400" dirty="0"/>
          </a:p>
        </p:txBody>
      </p:sp>
      <p:sp>
        <p:nvSpPr>
          <p:cNvPr id="16" name="Text 14"/>
          <p:cNvSpPr/>
          <p:nvPr/>
        </p:nvSpPr>
        <p:spPr>
          <a:xfrm>
            <a:off x="822960" y="4206240"/>
            <a:ext cx="2103120" cy="310896"/>
          </a:xfrm>
          <a:prstGeom prst="rect">
            <a:avLst/>
          </a:prstGeom>
          <a:noFill/>
          <a:ln/>
        </p:spPr>
        <p:txBody>
          <a:bodyPr wrap="square" lIns="0" tIns="0" rIns="0" bIns="0" rtlCol="0" anchor="t"/>
          <a:lstStyle/>
          <a:p>
            <a:pPr indent="0" marL="0">
              <a:buNone/>
            </a:pPr>
            <a:r>
              <a:rPr lang="en-US" sz="1400" dirty="0">
                <a:solidFill>
                  <a:srgbClr val="E8EAF0"/>
                </a:solidFill>
                <a:latin typeface="Courier New" pitchFamily="34" charset="0"/>
                <a:ea typeface="Courier New" pitchFamily="34" charset="-122"/>
                <a:cs typeface="Courier New" pitchFamily="34" charset="-120"/>
              </a:rPr>
              <a:t>/api/stats</a:t>
            </a:r>
            <a:endParaRPr lang="en-US" sz="1400" dirty="0"/>
          </a:p>
        </p:txBody>
      </p:sp>
      <p:sp>
        <p:nvSpPr>
          <p:cNvPr id="17" name="Text 15"/>
          <p:cNvSpPr/>
          <p:nvPr/>
        </p:nvSpPr>
        <p:spPr>
          <a:xfrm>
            <a:off x="2926080" y="4206240"/>
            <a:ext cx="1645920" cy="310896"/>
          </a:xfrm>
          <a:prstGeom prst="rect">
            <a:avLst/>
          </a:prstGeom>
          <a:noFill/>
          <a:ln/>
        </p:spPr>
        <p:txBody>
          <a:bodyPr wrap="square" lIns="0" tIns="0" rIns="0" bIns="0" rtlCol="0" anchor="t"/>
          <a:lstStyle/>
          <a:p>
            <a:pPr indent="0" marL="0">
              <a:buNone/>
            </a:pPr>
            <a:r>
              <a:rPr lang="en-US" sz="1400" dirty="0">
                <a:solidFill>
                  <a:srgbClr val="9BA1AE"/>
                </a:solidFill>
                <a:latin typeface="Calibri" pitchFamily="34" charset="0"/>
                <a:ea typeface="Calibri" pitchFamily="34" charset="-122"/>
                <a:cs typeface="Calibri" pitchFamily="34" charset="-120"/>
              </a:rPr>
              <a:t>header counters</a:t>
            </a:r>
            <a:endParaRPr lang="en-US" sz="1400" dirty="0"/>
          </a:p>
        </p:txBody>
      </p:sp>
      <p:sp>
        <p:nvSpPr>
          <p:cNvPr id="18" name="Text 16"/>
          <p:cNvSpPr/>
          <p:nvPr/>
        </p:nvSpPr>
        <p:spPr>
          <a:xfrm>
            <a:off x="822960" y="4617720"/>
            <a:ext cx="2103120" cy="310896"/>
          </a:xfrm>
          <a:prstGeom prst="rect">
            <a:avLst/>
          </a:prstGeom>
          <a:noFill/>
          <a:ln/>
        </p:spPr>
        <p:txBody>
          <a:bodyPr wrap="square" lIns="0" tIns="0" rIns="0" bIns="0" rtlCol="0" anchor="t"/>
          <a:lstStyle/>
          <a:p>
            <a:pPr indent="0" marL="0">
              <a:buNone/>
            </a:pPr>
            <a:r>
              <a:rPr lang="en-US" sz="1400" dirty="0">
                <a:solidFill>
                  <a:srgbClr val="E8EAF0"/>
                </a:solidFill>
                <a:latin typeface="Courier New" pitchFamily="34" charset="0"/>
                <a:ea typeface="Courier New" pitchFamily="34" charset="-122"/>
                <a:cs typeface="Courier New" pitchFamily="34" charset="-120"/>
              </a:rPr>
              <a:t>/health</a:t>
            </a:r>
            <a:endParaRPr lang="en-US" sz="1400" dirty="0"/>
          </a:p>
        </p:txBody>
      </p:sp>
      <p:sp>
        <p:nvSpPr>
          <p:cNvPr id="19" name="Text 17"/>
          <p:cNvSpPr/>
          <p:nvPr/>
        </p:nvSpPr>
        <p:spPr>
          <a:xfrm>
            <a:off x="2926080" y="4617720"/>
            <a:ext cx="1645920" cy="310896"/>
          </a:xfrm>
          <a:prstGeom prst="rect">
            <a:avLst/>
          </a:prstGeom>
          <a:noFill/>
          <a:ln/>
        </p:spPr>
        <p:txBody>
          <a:bodyPr wrap="square" lIns="0" tIns="0" rIns="0" bIns="0" rtlCol="0" anchor="t"/>
          <a:lstStyle/>
          <a:p>
            <a:pPr indent="0" marL="0">
              <a:buNone/>
            </a:pPr>
            <a:r>
              <a:rPr lang="en-US" sz="1400" dirty="0">
                <a:solidFill>
                  <a:srgbClr val="9BA1AE"/>
                </a:solidFill>
                <a:latin typeface="Calibri" pitchFamily="34" charset="0"/>
                <a:ea typeface="Calibri" pitchFamily="34" charset="-122"/>
                <a:cs typeface="Calibri" pitchFamily="34" charset="-120"/>
              </a:rPr>
              <a:t>liveness</a:t>
            </a:r>
            <a:endParaRPr lang="en-US" sz="1400" dirty="0"/>
          </a:p>
        </p:txBody>
      </p:sp>
      <p:sp>
        <p:nvSpPr>
          <p:cNvPr id="20" name="Text 18"/>
          <p:cNvSpPr/>
          <p:nvPr/>
        </p:nvSpPr>
        <p:spPr>
          <a:xfrm>
            <a:off x="822960" y="5029200"/>
            <a:ext cx="2103120" cy="310896"/>
          </a:xfrm>
          <a:prstGeom prst="rect">
            <a:avLst/>
          </a:prstGeom>
          <a:noFill/>
          <a:ln/>
        </p:spPr>
        <p:txBody>
          <a:bodyPr wrap="square" lIns="0" tIns="0" rIns="0" bIns="0" rtlCol="0" anchor="t"/>
          <a:lstStyle/>
          <a:p>
            <a:pPr indent="0" marL="0">
              <a:buNone/>
            </a:pPr>
            <a:r>
              <a:rPr lang="en-US" sz="1400" dirty="0">
                <a:solidFill>
                  <a:srgbClr val="E8EAF0"/>
                </a:solidFill>
                <a:latin typeface="Courier New" pitchFamily="34" charset="0"/>
                <a:ea typeface="Courier New" pitchFamily="34" charset="-122"/>
                <a:cs typeface="Courier New" pitchFamily="34" charset="-120"/>
              </a:rPr>
              <a:t>/ready</a:t>
            </a:r>
            <a:endParaRPr lang="en-US" sz="1400" dirty="0"/>
          </a:p>
        </p:txBody>
      </p:sp>
      <p:sp>
        <p:nvSpPr>
          <p:cNvPr id="21" name="Text 19"/>
          <p:cNvSpPr/>
          <p:nvPr/>
        </p:nvSpPr>
        <p:spPr>
          <a:xfrm>
            <a:off x="2926080" y="5029200"/>
            <a:ext cx="1645920" cy="310896"/>
          </a:xfrm>
          <a:prstGeom prst="rect">
            <a:avLst/>
          </a:prstGeom>
          <a:noFill/>
          <a:ln/>
        </p:spPr>
        <p:txBody>
          <a:bodyPr wrap="square" lIns="0" tIns="0" rIns="0" bIns="0" rtlCol="0" anchor="t"/>
          <a:lstStyle/>
          <a:p>
            <a:pPr indent="0" marL="0">
              <a:buNone/>
            </a:pPr>
            <a:r>
              <a:rPr lang="en-US" sz="1400" dirty="0">
                <a:solidFill>
                  <a:srgbClr val="9BA1AE"/>
                </a:solidFill>
                <a:latin typeface="Calibri" pitchFamily="34" charset="0"/>
                <a:ea typeface="Calibri" pitchFamily="34" charset="-122"/>
                <a:cs typeface="Calibri" pitchFamily="34" charset="-120"/>
              </a:rPr>
              <a:t>checks the DB</a:t>
            </a:r>
            <a:endParaRPr lang="en-US" sz="1400" dirty="0"/>
          </a:p>
        </p:txBody>
      </p:sp>
      <p:sp>
        <p:nvSpPr>
          <p:cNvPr id="22" name="Text 20"/>
          <p:cNvSpPr/>
          <p:nvPr/>
        </p:nvSpPr>
        <p:spPr>
          <a:xfrm>
            <a:off x="822960" y="5440680"/>
            <a:ext cx="2103120" cy="310896"/>
          </a:xfrm>
          <a:prstGeom prst="rect">
            <a:avLst/>
          </a:prstGeom>
          <a:noFill/>
          <a:ln/>
        </p:spPr>
        <p:txBody>
          <a:bodyPr wrap="square" lIns="0" tIns="0" rIns="0" bIns="0" rtlCol="0" anchor="t"/>
          <a:lstStyle/>
          <a:p>
            <a:pPr indent="0" marL="0">
              <a:buNone/>
            </a:pPr>
            <a:r>
              <a:rPr lang="en-US" sz="1400" dirty="0">
                <a:solidFill>
                  <a:srgbClr val="E8EAF0"/>
                </a:solidFill>
                <a:latin typeface="Courier New" pitchFamily="34" charset="0"/>
                <a:ea typeface="Courier New" pitchFamily="34" charset="-122"/>
                <a:cs typeface="Courier New" pitchFamily="34" charset="-120"/>
              </a:rPr>
              <a:t>/metrics</a:t>
            </a:r>
            <a:endParaRPr lang="en-US" sz="1400" dirty="0"/>
          </a:p>
        </p:txBody>
      </p:sp>
      <p:sp>
        <p:nvSpPr>
          <p:cNvPr id="23" name="Text 21"/>
          <p:cNvSpPr/>
          <p:nvPr/>
        </p:nvSpPr>
        <p:spPr>
          <a:xfrm>
            <a:off x="2926080" y="5440680"/>
            <a:ext cx="1645920" cy="310896"/>
          </a:xfrm>
          <a:prstGeom prst="rect">
            <a:avLst/>
          </a:prstGeom>
          <a:noFill/>
          <a:ln/>
        </p:spPr>
        <p:txBody>
          <a:bodyPr wrap="square" lIns="0" tIns="0" rIns="0" bIns="0" rtlCol="0" anchor="t"/>
          <a:lstStyle/>
          <a:p>
            <a:pPr indent="0" marL="0">
              <a:buNone/>
            </a:pPr>
            <a:r>
              <a:rPr lang="en-US" sz="1400" dirty="0">
                <a:solidFill>
                  <a:srgbClr val="9BA1AE"/>
                </a:solidFill>
                <a:latin typeface="Calibri" pitchFamily="34" charset="0"/>
                <a:ea typeface="Calibri" pitchFamily="34" charset="-122"/>
                <a:cs typeface="Calibri" pitchFamily="34" charset="-120"/>
              </a:rPr>
              <a:t>Prometheus</a:t>
            </a:r>
            <a:endParaRPr lang="en-US" sz="1400" dirty="0"/>
          </a:p>
        </p:txBody>
      </p:sp>
      <p:sp>
        <p:nvSpPr>
          <p:cNvPr id="24" name="Shape 22"/>
          <p:cNvSpPr/>
          <p:nvPr/>
        </p:nvSpPr>
        <p:spPr>
          <a:xfrm>
            <a:off x="5120640" y="1508760"/>
            <a:ext cx="5165054" cy="2468880"/>
          </a:xfrm>
          <a:prstGeom prst="roundRect">
            <a:avLst>
              <a:gd name="adj" fmla="val 2222"/>
            </a:avLst>
          </a:prstGeom>
          <a:solidFill>
            <a:srgbClr val="171A21"/>
          </a:solidFill>
          <a:ln w="9525">
            <a:solidFill>
              <a:srgbClr val="2C313C"/>
            </a:solidFill>
            <a:prstDash val="solid"/>
          </a:ln>
        </p:spPr>
      </p:sp>
      <p:pic>
        <p:nvPicPr>
          <p:cNvPr id="25" name="Image 0" descr="pytest -v: 15 passed in 0.10 s">    </p:cNvPr>
          <p:cNvPicPr>
            <a:picLocks noChangeAspect="1"/>
          </p:cNvPicPr>
          <p:nvPr/>
        </p:nvPicPr>
        <p:blipFill>
          <a:blip r:embed="rId1"/>
          <a:stretch>
            <a:fillRect/>
          </a:stretch>
        </p:blipFill>
        <p:spPr>
          <a:xfrm>
            <a:off x="5175504" y="1563624"/>
            <a:ext cx="5055326" cy="2359152"/>
          </a:xfrm>
          <a:prstGeom prst="rect">
            <a:avLst/>
          </a:prstGeom>
        </p:spPr>
      </p:pic>
      <p:sp>
        <p:nvSpPr>
          <p:cNvPr id="26" name="Text 23"/>
          <p:cNvSpPr/>
          <p:nvPr/>
        </p:nvSpPr>
        <p:spPr>
          <a:xfrm>
            <a:off x="5120640" y="4050792"/>
            <a:ext cx="5165054" cy="274320"/>
          </a:xfrm>
          <a:prstGeom prst="rect">
            <a:avLst/>
          </a:prstGeom>
          <a:noFill/>
          <a:ln/>
        </p:spPr>
        <p:txBody>
          <a:bodyPr wrap="square" lIns="0" tIns="0" rIns="0" bIns="0" rtlCol="0" anchor="t"/>
          <a:lstStyle/>
          <a:p>
            <a:pPr indent="0" marL="0">
              <a:buNone/>
            </a:pPr>
            <a:r>
              <a:rPr lang="en-US" sz="1200" dirty="0">
                <a:solidFill>
                  <a:srgbClr val="9BA1AE"/>
                </a:solidFill>
                <a:latin typeface="Calibri" pitchFamily="34" charset="0"/>
                <a:ea typeface="Calibri" pitchFamily="34" charset="-122"/>
                <a:cs typeface="Calibri" pitchFamily="34" charset="-120"/>
              </a:rPr>
              <a:t>pytest -v: 15 passed in 0.10 s</a:t>
            </a:r>
            <a:endParaRPr lang="en-US" sz="1200" dirty="0"/>
          </a:p>
        </p:txBody>
      </p:sp>
      <p:sp>
        <p:nvSpPr>
          <p:cNvPr id="27" name="Text 24"/>
          <p:cNvSpPr/>
          <p:nvPr/>
        </p:nvSpPr>
        <p:spPr>
          <a:xfrm>
            <a:off x="5120640" y="4599432"/>
            <a:ext cx="6519672" cy="1709928"/>
          </a:xfrm>
          <a:prstGeom prst="rect">
            <a:avLst/>
          </a:prstGeom>
          <a:noFill/>
          <a:ln/>
        </p:spPr>
        <p:txBody>
          <a:bodyPr wrap="square" lIns="0" tIns="0" rIns="0" bIns="0" rtlCol="0" anchor="t"/>
          <a:lstStyle/>
          <a:p>
            <a:pPr marL="203200" indent="-203200">
              <a:spcAft>
                <a:spcPts val="600"/>
              </a:spcAft>
              <a:buClr>
                <a:srgbClr val="8B7BF0"/>
              </a:buClr>
              <a:buSzPct val="100000"/>
              <a:buChar char="•"/>
            </a:pPr>
            <a:r>
              <a:rPr lang="en-US" sz="1500" b="1" dirty="0">
                <a:solidFill>
                  <a:srgbClr val="E8EAF0"/>
                </a:solidFill>
                <a:latin typeface="Calibri" pitchFamily="34" charset="0"/>
                <a:ea typeface="Calibri" pitchFamily="34" charset="-122"/>
                <a:cs typeface="Calibri" pitchFamily="34" charset="-120"/>
              </a:rPr>
              <a:t>15 pytest tests </a:t>
            </a:r>
            <a:pPr indent="0" marL="0">
              <a:buNone/>
            </a:pPr>
            <a:r>
              <a:rPr lang="en-US" sz="1500" dirty="0">
                <a:solidFill>
                  <a:srgbClr val="9BA1AE"/>
                </a:solidFill>
                <a:latin typeface="Calibri" pitchFamily="34" charset="0"/>
                <a:ea typeface="Calibri" pitchFamily="34" charset="-122"/>
                <a:cs typeface="Calibri" pitchFamily="34" charset="-120"/>
              </a:rPr>
              <a:t>covering rovers, events, incidents, health and seed data</a:t>
            </a:r>
            <a:endParaRPr lang="en-US" sz="1500" dirty="0"/>
          </a:p>
          <a:p>
            <a:pPr marL="203200" indent="-203200">
              <a:spcAft>
                <a:spcPts val="600"/>
              </a:spcAft>
              <a:buClr>
                <a:srgbClr val="8B7BF0"/>
              </a:buClr>
              <a:buSzPct val="100000"/>
              <a:buChar char="•"/>
            </a:pPr>
            <a:r>
              <a:rPr lang="en-US" sz="1500" b="1" dirty="0">
                <a:solidFill>
                  <a:srgbClr val="E8EAF0"/>
                </a:solidFill>
                <a:latin typeface="Calibri" pitchFamily="34" charset="0"/>
                <a:ea typeface="Calibri" pitchFamily="34" charset="-122"/>
                <a:cs typeface="Calibri" pitchFamily="34" charset="-120"/>
              </a:rPr>
              <a:t>In-memory SQLite, </a:t>
            </a:r>
            <a:pPr indent="0" marL="0">
              <a:buNone/>
            </a:pPr>
            <a:r>
              <a:rPr lang="en-US" sz="1500" dirty="0">
                <a:solidFill>
                  <a:srgbClr val="9BA1AE"/>
                </a:solidFill>
                <a:latin typeface="Calibri" pitchFamily="34" charset="0"/>
                <a:ea typeface="Calibri" pitchFamily="34" charset="-122"/>
                <a:cs typeface="Calibri" pitchFamily="34" charset="-120"/>
              </a:rPr>
              <a:t>so tests need no running Postgres</a:t>
            </a:r>
            <a:endParaRPr lang="en-US" sz="1500" dirty="0"/>
          </a:p>
          <a:p>
            <a:pPr marL="203200" indent="-203200">
              <a:spcAft>
                <a:spcPts val="600"/>
              </a:spcAft>
              <a:buClr>
                <a:srgbClr val="8B7BF0"/>
              </a:buClr>
              <a:buSzPct val="100000"/>
              <a:buChar char="•"/>
            </a:pPr>
            <a:r>
              <a:rPr lang="en-US" sz="1500" b="1" dirty="0">
                <a:solidFill>
                  <a:srgbClr val="E8EAF0"/>
                </a:solidFill>
                <a:latin typeface="Calibri" pitchFamily="34" charset="0"/>
                <a:ea typeface="Calibri" pitchFamily="34" charset="-122"/>
                <a:cs typeface="Calibri" pitchFamily="34" charset="-120"/>
              </a:rPr>
              <a:t>Settings pinned in conftest, </a:t>
            </a:r>
            <a:pPr indent="0" marL="0">
              <a:buNone/>
            </a:pPr>
            <a:r>
              <a:rPr lang="en-US" sz="1500" dirty="0">
                <a:solidFill>
                  <a:srgbClr val="9BA1AE"/>
                </a:solidFill>
                <a:latin typeface="Calibri" pitchFamily="34" charset="0"/>
                <a:ea typeface="Calibri" pitchFamily="34" charset="-122"/>
                <a:cs typeface="Calibri" pitchFamily="34" charset="-120"/>
              </a:rPr>
              <a:t>so exported env vars cannot change results</a:t>
            </a:r>
            <a:endParaRPr lang="en-US" sz="1500" dirty="0"/>
          </a:p>
          <a:p>
            <a:pPr marL="203200" indent="-203200">
              <a:spcAft>
                <a:spcPts val="600"/>
              </a:spcAft>
              <a:buClr>
                <a:srgbClr val="8B7BF0"/>
              </a:buClr>
              <a:buSzPct val="100000"/>
              <a:buChar char="•"/>
            </a:pPr>
            <a:r>
              <a:rPr lang="en-US" sz="1500" b="1" dirty="0">
                <a:solidFill>
                  <a:srgbClr val="E8EAF0"/>
                </a:solidFill>
                <a:latin typeface="Calibri" pitchFamily="34" charset="0"/>
                <a:ea typeface="Calibri" pitchFamily="34" charset="-122"/>
                <a:cs typeface="Calibri" pitchFamily="34" charset="-120"/>
              </a:rPr>
              <a:t>Stack: </a:t>
            </a:r>
            <a:pPr indent="0" marL="0">
              <a:buNone/>
            </a:pPr>
            <a:r>
              <a:rPr lang="en-US" sz="1500" dirty="0">
                <a:solidFill>
                  <a:srgbClr val="9BA1AE"/>
                </a:solidFill>
                <a:latin typeface="Calibri" pitchFamily="34" charset="0"/>
                <a:ea typeface="Calibri" pitchFamily="34" charset="-122"/>
                <a:cs typeface="Calibri" pitchFamily="34" charset="-120"/>
              </a:rPr>
              <a:t>FastAPI · SQLAlchemy · Alembic migrations · PostgreSQL 16</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014"/>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300" kern="0" dirty="0">
                <a:solidFill>
                  <a:srgbClr val="8B7BF0"/>
                </a:solidFill>
                <a:latin typeface="Calibri" pitchFamily="34" charset="0"/>
                <a:ea typeface="Calibri" pitchFamily="34" charset="-122"/>
                <a:cs typeface="Calibri" pitchFamily="34" charset="-120"/>
              </a:rPr>
              <a:t>VERSION CONTROL</a:t>
            </a:r>
            <a:endParaRPr lang="en-US" sz="1200" dirty="0"/>
          </a:p>
        </p:txBody>
      </p:sp>
      <p:sp>
        <p:nvSpPr>
          <p:cNvPr id="3" name="Text 1"/>
          <p:cNvSpPr/>
          <p:nvPr/>
        </p:nvSpPr>
        <p:spPr>
          <a:xfrm>
            <a:off x="548640" y="676656"/>
            <a:ext cx="11064240" cy="603504"/>
          </a:xfrm>
          <a:prstGeom prst="rect">
            <a:avLst/>
          </a:prstGeom>
          <a:noFill/>
          <a:ln/>
        </p:spPr>
        <p:txBody>
          <a:bodyPr wrap="square" lIns="0" tIns="0" rIns="0" bIns="0" rtlCol="0" anchor="t"/>
          <a:lstStyle/>
          <a:p>
            <a:pPr indent="0" marL="0">
              <a:buNone/>
            </a:pPr>
            <a:r>
              <a:rPr lang="en-US" sz="3400" b="1" dirty="0">
                <a:solidFill>
                  <a:srgbClr val="E8EAF0"/>
                </a:solidFill>
                <a:latin typeface="Calibri" pitchFamily="34" charset="0"/>
                <a:ea typeface="Calibri" pitchFamily="34" charset="-122"/>
                <a:cs typeface="Calibri" pitchFamily="34" charset="-120"/>
              </a:rPr>
              <a:t>86 small commits, each one through CI</a:t>
            </a:r>
            <a:endParaRPr lang="en-US" sz="3400" dirty="0"/>
          </a:p>
        </p:txBody>
      </p:sp>
      <p:sp>
        <p:nvSpPr>
          <p:cNvPr id="4" name="Shape 2"/>
          <p:cNvSpPr/>
          <p:nvPr/>
        </p:nvSpPr>
        <p:spPr>
          <a:xfrm>
            <a:off x="548640" y="1508760"/>
            <a:ext cx="5852160" cy="3360734"/>
          </a:xfrm>
          <a:prstGeom prst="roundRect">
            <a:avLst>
              <a:gd name="adj" fmla="val 1633"/>
            </a:avLst>
          </a:prstGeom>
          <a:solidFill>
            <a:srgbClr val="171A21"/>
          </a:solidFill>
          <a:ln w="9525">
            <a:solidFill>
              <a:srgbClr val="2C313C"/>
            </a:solidFill>
            <a:prstDash val="solid"/>
          </a:ln>
        </p:spPr>
      </p:sp>
      <p:pic>
        <p:nvPicPr>
          <p:cNvPr id="5" name="Image 0" descr="GitHub commit list: each commit shows its CI check result">    </p:cNvPr>
          <p:cNvPicPr>
            <a:picLocks noChangeAspect="1"/>
          </p:cNvPicPr>
          <p:nvPr/>
        </p:nvPicPr>
        <p:blipFill>
          <a:blip r:embed="rId1"/>
          <a:stretch>
            <a:fillRect/>
          </a:stretch>
        </p:blipFill>
        <p:spPr>
          <a:xfrm>
            <a:off x="603504" y="1563624"/>
            <a:ext cx="5742432" cy="3251006"/>
          </a:xfrm>
          <a:prstGeom prst="rect">
            <a:avLst/>
          </a:prstGeom>
        </p:spPr>
      </p:pic>
      <p:sp>
        <p:nvSpPr>
          <p:cNvPr id="6" name="Text 3"/>
          <p:cNvSpPr/>
          <p:nvPr/>
        </p:nvSpPr>
        <p:spPr>
          <a:xfrm>
            <a:off x="548640" y="4942646"/>
            <a:ext cx="5852160" cy="274320"/>
          </a:xfrm>
          <a:prstGeom prst="rect">
            <a:avLst/>
          </a:prstGeom>
          <a:noFill/>
          <a:ln/>
        </p:spPr>
        <p:txBody>
          <a:bodyPr wrap="square" lIns="0" tIns="0" rIns="0" bIns="0" rtlCol="0" anchor="t"/>
          <a:lstStyle/>
          <a:p>
            <a:pPr indent="0" marL="0">
              <a:buNone/>
            </a:pPr>
            <a:r>
              <a:rPr lang="en-US" sz="1200" dirty="0">
                <a:solidFill>
                  <a:srgbClr val="9BA1AE"/>
                </a:solidFill>
                <a:latin typeface="Calibri" pitchFamily="34" charset="0"/>
                <a:ea typeface="Calibri" pitchFamily="34" charset="-122"/>
                <a:cs typeface="Calibri" pitchFamily="34" charset="-120"/>
              </a:rPr>
              <a:t>GitHub commit list: each commit shows its CI check result</a:t>
            </a:r>
            <a:endParaRPr lang="en-US" sz="1200" dirty="0"/>
          </a:p>
        </p:txBody>
      </p:sp>
      <p:sp>
        <p:nvSpPr>
          <p:cNvPr id="7" name="Shape 4"/>
          <p:cNvSpPr/>
          <p:nvPr/>
        </p:nvSpPr>
        <p:spPr>
          <a:xfrm>
            <a:off x="6702552" y="1508760"/>
            <a:ext cx="4233810" cy="2468880"/>
          </a:xfrm>
          <a:prstGeom prst="roundRect">
            <a:avLst>
              <a:gd name="adj" fmla="val 2222"/>
            </a:avLst>
          </a:prstGeom>
          <a:solidFill>
            <a:srgbClr val="171A21"/>
          </a:solidFill>
          <a:ln w="9525">
            <a:solidFill>
              <a:srgbClr val="2C313C"/>
            </a:solidFill>
            <a:prstDash val="solid"/>
          </a:ln>
        </p:spPr>
      </p:sp>
      <p:pic>
        <p:nvPicPr>
          <p:cNvPr id="8" name="Image 1" descr="git log --oneline: Conventional Commits, 86 in total">    </p:cNvPr>
          <p:cNvPicPr>
            <a:picLocks noChangeAspect="1"/>
          </p:cNvPicPr>
          <p:nvPr/>
        </p:nvPicPr>
        <p:blipFill>
          <a:blip r:embed="rId2"/>
          <a:stretch>
            <a:fillRect/>
          </a:stretch>
        </p:blipFill>
        <p:spPr>
          <a:xfrm>
            <a:off x="6757416" y="1563624"/>
            <a:ext cx="4124082" cy="2359152"/>
          </a:xfrm>
          <a:prstGeom prst="rect">
            <a:avLst/>
          </a:prstGeom>
        </p:spPr>
      </p:pic>
      <p:sp>
        <p:nvSpPr>
          <p:cNvPr id="9" name="Text 5"/>
          <p:cNvSpPr/>
          <p:nvPr/>
        </p:nvSpPr>
        <p:spPr>
          <a:xfrm>
            <a:off x="6702552" y="4050792"/>
            <a:ext cx="4233810" cy="274320"/>
          </a:xfrm>
          <a:prstGeom prst="rect">
            <a:avLst/>
          </a:prstGeom>
          <a:noFill/>
          <a:ln/>
        </p:spPr>
        <p:txBody>
          <a:bodyPr wrap="square" lIns="0" tIns="0" rIns="0" bIns="0" rtlCol="0" anchor="t"/>
          <a:lstStyle/>
          <a:p>
            <a:pPr indent="0" marL="0">
              <a:buNone/>
            </a:pPr>
            <a:r>
              <a:rPr lang="en-US" sz="1200" dirty="0">
                <a:solidFill>
                  <a:srgbClr val="9BA1AE"/>
                </a:solidFill>
                <a:latin typeface="Calibri" pitchFamily="34" charset="0"/>
                <a:ea typeface="Calibri" pitchFamily="34" charset="-122"/>
                <a:cs typeface="Calibri" pitchFamily="34" charset="-120"/>
              </a:rPr>
              <a:t>git log --oneline: Conventional Commits, 86 in total</a:t>
            </a:r>
            <a:endParaRPr lang="en-US" sz="1200" dirty="0"/>
          </a:p>
        </p:txBody>
      </p:sp>
      <p:sp>
        <p:nvSpPr>
          <p:cNvPr id="10" name="Text 6"/>
          <p:cNvSpPr/>
          <p:nvPr/>
        </p:nvSpPr>
        <p:spPr>
          <a:xfrm>
            <a:off x="6702552" y="4599432"/>
            <a:ext cx="4937760" cy="1709928"/>
          </a:xfrm>
          <a:prstGeom prst="rect">
            <a:avLst/>
          </a:prstGeom>
          <a:noFill/>
          <a:ln/>
        </p:spPr>
        <p:txBody>
          <a:bodyPr wrap="square" lIns="0" tIns="0" rIns="0" bIns="0" rtlCol="0" anchor="t"/>
          <a:lstStyle/>
          <a:p>
            <a:pPr marL="203200" indent="-203200">
              <a:spcAft>
                <a:spcPts val="800"/>
              </a:spcAft>
              <a:buClr>
                <a:srgbClr val="8B7BF0"/>
              </a:buClr>
              <a:buSzPct val="100000"/>
              <a:buChar char="•"/>
            </a:pPr>
            <a:r>
              <a:rPr lang="en-US" sz="1500" b="1" dirty="0">
                <a:solidFill>
                  <a:srgbClr val="E8EAF0"/>
                </a:solidFill>
                <a:latin typeface="Calibri" pitchFamily="34" charset="0"/>
                <a:ea typeface="Calibri" pitchFamily="34" charset="-122"/>
                <a:cs typeface="Calibri" pitchFamily="34" charset="-120"/>
              </a:rPr>
              <a:t>Conventional Commits: </a:t>
            </a:r>
            <a:pPr indent="0" marL="0">
              <a:buNone/>
            </a:pPr>
            <a:r>
              <a:rPr lang="en-US" sz="1500" dirty="0">
                <a:solidFill>
                  <a:srgbClr val="9BA1AE"/>
                </a:solidFill>
                <a:latin typeface="Calibri" pitchFamily="34" charset="0"/>
                <a:ea typeface="Calibri" pitchFamily="34" charset="-122"/>
                <a:cs typeface="Calibri" pitchFamily="34" charset="-120"/>
              </a:rPr>
              <a:t>feat, fix, ci, docs, test, build, chore</a:t>
            </a:r>
            <a:endParaRPr lang="en-US" sz="1500" dirty="0"/>
          </a:p>
          <a:p>
            <a:pPr marL="203200" indent="-203200">
              <a:spcAft>
                <a:spcPts val="800"/>
              </a:spcAft>
              <a:buClr>
                <a:srgbClr val="8B7BF0"/>
              </a:buClr>
              <a:buSzPct val="100000"/>
              <a:buChar char="•"/>
            </a:pPr>
            <a:r>
              <a:rPr lang="en-US" sz="1500" b="1" dirty="0">
                <a:solidFill>
                  <a:srgbClr val="E8EAF0"/>
                </a:solidFill>
                <a:latin typeface="Calibri" pitchFamily="34" charset="0"/>
                <a:ea typeface="Calibri" pitchFamily="34" charset="-122"/>
                <a:cs typeface="Calibri" pitchFamily="34" charset="-120"/>
              </a:rPr>
              <a:t>One change per commit, </a:t>
            </a:r>
            <a:pPr indent="0" marL="0">
              <a:buNone/>
            </a:pPr>
            <a:r>
              <a:rPr lang="en-US" sz="1500" dirty="0">
                <a:solidFill>
                  <a:srgbClr val="9BA1AE"/>
                </a:solidFill>
                <a:latin typeface="Calibri" pitchFamily="34" charset="0"/>
                <a:ea typeface="Calibri" pitchFamily="34" charset="-122"/>
                <a:cs typeface="Calibri" pitchFamily="34" charset="-120"/>
              </a:rPr>
              <a:t>so history explains why, not just what</a:t>
            </a:r>
            <a:endParaRPr lang="en-US" sz="1500" dirty="0"/>
          </a:p>
          <a:p>
            <a:pPr marL="203200" indent="-203200">
              <a:spcAft>
                <a:spcPts val="800"/>
              </a:spcAft>
              <a:buClr>
                <a:srgbClr val="8B7BF0"/>
              </a:buClr>
              <a:buSzPct val="100000"/>
              <a:buChar char="•"/>
            </a:pPr>
            <a:r>
              <a:rPr lang="en-US" sz="1500" b="1" dirty="0">
                <a:solidFill>
                  <a:srgbClr val="E8EAF0"/>
                </a:solidFill>
                <a:latin typeface="Calibri" pitchFamily="34" charset="0"/>
                <a:ea typeface="Calibri" pitchFamily="34" charset="-122"/>
                <a:cs typeface="Calibri" pitchFamily="34" charset="-120"/>
              </a:rPr>
              <a:t>Every push runs CI: </a:t>
            </a:r>
            <a:pPr indent="0" marL="0">
              <a:buNone/>
            </a:pPr>
            <a:r>
              <a:rPr lang="en-US" sz="1500" dirty="0">
                <a:solidFill>
                  <a:srgbClr val="9BA1AE"/>
                </a:solidFill>
                <a:latin typeface="Calibri" pitchFamily="34" charset="0"/>
                <a:ea typeface="Calibri" pitchFamily="34" charset="-122"/>
                <a:cs typeface="Calibri" pitchFamily="34" charset="-120"/>
              </a:rPr>
              <a:t>a red X on a commit means a check failed</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014"/>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300" kern="0" dirty="0">
                <a:solidFill>
                  <a:srgbClr val="8B7BF0"/>
                </a:solidFill>
                <a:latin typeface="Calibri" pitchFamily="34" charset="0"/>
                <a:ea typeface="Calibri" pitchFamily="34" charset="-122"/>
                <a:cs typeface="Calibri" pitchFamily="34" charset="-120"/>
              </a:rPr>
              <a:t>CONTAINERS</a:t>
            </a:r>
            <a:endParaRPr lang="en-US" sz="1200" dirty="0"/>
          </a:p>
        </p:txBody>
      </p:sp>
      <p:sp>
        <p:nvSpPr>
          <p:cNvPr id="3" name="Text 1"/>
          <p:cNvSpPr/>
          <p:nvPr/>
        </p:nvSpPr>
        <p:spPr>
          <a:xfrm>
            <a:off x="548640" y="676656"/>
            <a:ext cx="11064240" cy="603504"/>
          </a:xfrm>
          <a:prstGeom prst="rect">
            <a:avLst/>
          </a:prstGeom>
          <a:noFill/>
          <a:ln/>
        </p:spPr>
        <p:txBody>
          <a:bodyPr wrap="square" lIns="0" tIns="0" rIns="0" bIns="0" rtlCol="0" anchor="t"/>
          <a:lstStyle/>
          <a:p>
            <a:pPr indent="0" marL="0">
              <a:buNone/>
            </a:pPr>
            <a:r>
              <a:rPr lang="en-US" sz="3400" b="1" dirty="0">
                <a:solidFill>
                  <a:srgbClr val="E8EAF0"/>
                </a:solidFill>
                <a:latin typeface="Calibri" pitchFamily="34" charset="0"/>
                <a:ea typeface="Calibri" pitchFamily="34" charset="-122"/>
                <a:cs typeface="Calibri" pitchFamily="34" charset="-120"/>
              </a:rPr>
              <a:t>Non-root images and a one-command local stack</a:t>
            </a:r>
            <a:endParaRPr lang="en-US" sz="3400" dirty="0"/>
          </a:p>
        </p:txBody>
      </p:sp>
      <p:sp>
        <p:nvSpPr>
          <p:cNvPr id="4" name="Text 2"/>
          <p:cNvSpPr/>
          <p:nvPr/>
        </p:nvSpPr>
        <p:spPr>
          <a:xfrm>
            <a:off x="548640" y="1417320"/>
            <a:ext cx="11064240" cy="329184"/>
          </a:xfrm>
          <a:prstGeom prst="rect">
            <a:avLst/>
          </a:prstGeom>
          <a:noFill/>
          <a:ln/>
        </p:spPr>
        <p:txBody>
          <a:bodyPr wrap="square" lIns="0" tIns="0" rIns="0" bIns="0" rtlCol="0" anchor="t"/>
          <a:lstStyle/>
          <a:p>
            <a:pPr indent="0" marL="0">
              <a:buNone/>
            </a:pPr>
            <a:r>
              <a:rPr lang="en-US" sz="1400" dirty="0">
                <a:solidFill>
                  <a:srgbClr val="9BA1AE"/>
                </a:solidFill>
                <a:latin typeface="Calibri" pitchFamily="34" charset="0"/>
                <a:ea typeface="Calibri" pitchFamily="34" charset="-122"/>
                <a:cs typeface="Calibri" pitchFamily="34" charset="-120"/>
              </a:rPr>
              <a:t>Backend uid 10001  ·  frontend nginx uid 101  ·  multi-stage build  ·  Compose: postgres, backend, frontend, simulator</a:t>
            </a:r>
            <a:endParaRPr lang="en-US" sz="1400" dirty="0"/>
          </a:p>
        </p:txBody>
      </p:sp>
      <p:sp>
        <p:nvSpPr>
          <p:cNvPr id="5" name="Shape 3"/>
          <p:cNvSpPr/>
          <p:nvPr/>
        </p:nvSpPr>
        <p:spPr>
          <a:xfrm>
            <a:off x="548640" y="1874520"/>
            <a:ext cx="11091672" cy="1158004"/>
          </a:xfrm>
          <a:prstGeom prst="roundRect">
            <a:avLst>
              <a:gd name="adj" fmla="val 4738"/>
            </a:avLst>
          </a:prstGeom>
          <a:solidFill>
            <a:srgbClr val="171A21"/>
          </a:solidFill>
          <a:ln w="9525">
            <a:solidFill>
              <a:srgbClr val="2C313C"/>
            </a:solidFill>
            <a:prstDash val="solid"/>
          </a:ln>
        </p:spPr>
      </p:sp>
      <p:pic>
        <p:nvPicPr>
          <p:cNvPr id="6" name="Image 0" descr="docker compose ps: all four services up, Postgres healthy">    </p:cNvPr>
          <p:cNvPicPr>
            <a:picLocks noChangeAspect="1"/>
          </p:cNvPicPr>
          <p:nvPr/>
        </p:nvPicPr>
        <p:blipFill>
          <a:blip r:embed="rId1"/>
          <a:stretch>
            <a:fillRect/>
          </a:stretch>
        </p:blipFill>
        <p:spPr>
          <a:xfrm>
            <a:off x="603504" y="1929384"/>
            <a:ext cx="10981944" cy="1048276"/>
          </a:xfrm>
          <a:prstGeom prst="rect">
            <a:avLst/>
          </a:prstGeom>
        </p:spPr>
      </p:pic>
      <p:sp>
        <p:nvSpPr>
          <p:cNvPr id="7" name="Text 4"/>
          <p:cNvSpPr/>
          <p:nvPr/>
        </p:nvSpPr>
        <p:spPr>
          <a:xfrm>
            <a:off x="548640" y="3105676"/>
            <a:ext cx="11091672" cy="274320"/>
          </a:xfrm>
          <a:prstGeom prst="rect">
            <a:avLst/>
          </a:prstGeom>
          <a:noFill/>
          <a:ln/>
        </p:spPr>
        <p:txBody>
          <a:bodyPr wrap="square" lIns="0" tIns="0" rIns="0" bIns="0" rtlCol="0" anchor="t"/>
          <a:lstStyle/>
          <a:p>
            <a:pPr indent="0" marL="0">
              <a:buNone/>
            </a:pPr>
            <a:r>
              <a:rPr lang="en-US" sz="1200" dirty="0">
                <a:solidFill>
                  <a:srgbClr val="9BA1AE"/>
                </a:solidFill>
                <a:latin typeface="Calibri" pitchFamily="34" charset="0"/>
                <a:ea typeface="Calibri" pitchFamily="34" charset="-122"/>
                <a:cs typeface="Calibri" pitchFamily="34" charset="-120"/>
              </a:rPr>
              <a:t>docker compose ps: all four services up, Postgres healthy</a:t>
            </a:r>
            <a:endParaRPr lang="en-US" sz="1200" dirty="0"/>
          </a:p>
        </p:txBody>
      </p:sp>
      <p:sp>
        <p:nvSpPr>
          <p:cNvPr id="8" name="Shape 5"/>
          <p:cNvSpPr/>
          <p:nvPr/>
        </p:nvSpPr>
        <p:spPr>
          <a:xfrm>
            <a:off x="548640" y="3581164"/>
            <a:ext cx="5394960" cy="1028265"/>
          </a:xfrm>
          <a:prstGeom prst="roundRect">
            <a:avLst>
              <a:gd name="adj" fmla="val 5336"/>
            </a:avLst>
          </a:prstGeom>
          <a:solidFill>
            <a:srgbClr val="171A21"/>
          </a:solidFill>
          <a:ln w="9525">
            <a:solidFill>
              <a:srgbClr val="2C313C"/>
            </a:solidFill>
            <a:prstDash val="solid"/>
          </a:ln>
        </p:spPr>
      </p:sp>
      <p:pic>
        <p:nvPicPr>
          <p:cNvPr id="9" name="Image 1" descr="Logs: backend starts, simulator begins posting for 8 rovers">    </p:cNvPr>
          <p:cNvPicPr>
            <a:picLocks noChangeAspect="1"/>
          </p:cNvPicPr>
          <p:nvPr/>
        </p:nvPicPr>
        <p:blipFill>
          <a:blip r:embed="rId2"/>
          <a:stretch>
            <a:fillRect/>
          </a:stretch>
        </p:blipFill>
        <p:spPr>
          <a:xfrm>
            <a:off x="603504" y="3636028"/>
            <a:ext cx="5285232" cy="918537"/>
          </a:xfrm>
          <a:prstGeom prst="rect">
            <a:avLst/>
          </a:prstGeom>
        </p:spPr>
      </p:pic>
      <p:sp>
        <p:nvSpPr>
          <p:cNvPr id="10" name="Text 6"/>
          <p:cNvSpPr/>
          <p:nvPr/>
        </p:nvSpPr>
        <p:spPr>
          <a:xfrm>
            <a:off x="548640" y="4682581"/>
            <a:ext cx="5394960" cy="274320"/>
          </a:xfrm>
          <a:prstGeom prst="rect">
            <a:avLst/>
          </a:prstGeom>
          <a:noFill/>
          <a:ln/>
        </p:spPr>
        <p:txBody>
          <a:bodyPr wrap="square" lIns="0" tIns="0" rIns="0" bIns="0" rtlCol="0" anchor="t"/>
          <a:lstStyle/>
          <a:p>
            <a:pPr indent="0" marL="0">
              <a:buNone/>
            </a:pPr>
            <a:r>
              <a:rPr lang="en-US" sz="1200" dirty="0">
                <a:solidFill>
                  <a:srgbClr val="9BA1AE"/>
                </a:solidFill>
                <a:latin typeface="Calibri" pitchFamily="34" charset="0"/>
                <a:ea typeface="Calibri" pitchFamily="34" charset="-122"/>
                <a:cs typeface="Calibri" pitchFamily="34" charset="-120"/>
              </a:rPr>
              <a:t>Logs: backend starts, simulator begins posting for 8 rovers</a:t>
            </a:r>
            <a:endParaRPr lang="en-US" sz="1200" dirty="0"/>
          </a:p>
        </p:txBody>
      </p:sp>
      <p:sp>
        <p:nvSpPr>
          <p:cNvPr id="11" name="Shape 7"/>
          <p:cNvSpPr/>
          <p:nvPr/>
        </p:nvSpPr>
        <p:spPr>
          <a:xfrm>
            <a:off x="6245352" y="3581164"/>
            <a:ext cx="5394960" cy="1410708"/>
          </a:xfrm>
          <a:prstGeom prst="roundRect">
            <a:avLst>
              <a:gd name="adj" fmla="val 3889"/>
            </a:avLst>
          </a:prstGeom>
          <a:solidFill>
            <a:srgbClr val="171A21"/>
          </a:solidFill>
          <a:ln w="9525">
            <a:solidFill>
              <a:srgbClr val="2C313C"/>
            </a:solidFill>
            <a:prstDash val="solid"/>
          </a:ln>
        </p:spPr>
      </p:sp>
      <p:pic>
        <p:nvPicPr>
          <p:cNvPr id="12" name="Image 2" descr="docker compose down -v: clean teardown, volume removed">    </p:cNvPr>
          <p:cNvPicPr>
            <a:picLocks noChangeAspect="1"/>
          </p:cNvPicPr>
          <p:nvPr/>
        </p:nvPicPr>
        <p:blipFill>
          <a:blip r:embed="rId3"/>
          <a:stretch>
            <a:fillRect/>
          </a:stretch>
        </p:blipFill>
        <p:spPr>
          <a:xfrm>
            <a:off x="6300216" y="3636028"/>
            <a:ext cx="5285232" cy="1300980"/>
          </a:xfrm>
          <a:prstGeom prst="rect">
            <a:avLst/>
          </a:prstGeom>
        </p:spPr>
      </p:pic>
      <p:sp>
        <p:nvSpPr>
          <p:cNvPr id="13" name="Text 8"/>
          <p:cNvSpPr/>
          <p:nvPr/>
        </p:nvSpPr>
        <p:spPr>
          <a:xfrm>
            <a:off x="6245352" y="5065025"/>
            <a:ext cx="5394960" cy="274320"/>
          </a:xfrm>
          <a:prstGeom prst="rect">
            <a:avLst/>
          </a:prstGeom>
          <a:noFill/>
          <a:ln/>
        </p:spPr>
        <p:txBody>
          <a:bodyPr wrap="square" lIns="0" tIns="0" rIns="0" bIns="0" rtlCol="0" anchor="t"/>
          <a:lstStyle/>
          <a:p>
            <a:pPr indent="0" marL="0">
              <a:buNone/>
            </a:pPr>
            <a:r>
              <a:rPr lang="en-US" sz="1200" dirty="0">
                <a:solidFill>
                  <a:srgbClr val="9BA1AE"/>
                </a:solidFill>
                <a:latin typeface="Calibri" pitchFamily="34" charset="0"/>
                <a:ea typeface="Calibri" pitchFamily="34" charset="-122"/>
                <a:cs typeface="Calibri" pitchFamily="34" charset="-120"/>
              </a:rPr>
              <a:t>docker compose down -v: clean teardown, volume removed</a:t>
            </a:r>
            <a:endParaRPr lang="en-US" sz="1200" dirty="0"/>
          </a:p>
        </p:txBody>
      </p:sp>
      <p:sp>
        <p:nvSpPr>
          <p:cNvPr id="14" name="Shape 9"/>
          <p:cNvSpPr/>
          <p:nvPr/>
        </p:nvSpPr>
        <p:spPr>
          <a:xfrm>
            <a:off x="548640" y="5540513"/>
            <a:ext cx="6949440" cy="621830"/>
          </a:xfrm>
          <a:prstGeom prst="roundRect">
            <a:avLst>
              <a:gd name="adj" fmla="val 8823"/>
            </a:avLst>
          </a:prstGeom>
          <a:solidFill>
            <a:srgbClr val="171A21"/>
          </a:solidFill>
          <a:ln w="9525">
            <a:solidFill>
              <a:srgbClr val="2C313C"/>
            </a:solidFill>
            <a:prstDash val="solid"/>
          </a:ln>
        </p:spPr>
      </p:sp>
      <p:pic>
        <p:nvPicPr>
          <p:cNvPr id="15" name="Image 3" descr="nonroot">    </p:cNvPr>
          <p:cNvPicPr>
            <a:picLocks noChangeAspect="1"/>
          </p:cNvPicPr>
          <p:nvPr/>
        </p:nvPicPr>
        <p:blipFill>
          <a:blip r:embed="rId4"/>
          <a:stretch>
            <a:fillRect/>
          </a:stretch>
        </p:blipFill>
        <p:spPr>
          <a:xfrm>
            <a:off x="603504" y="5595377"/>
            <a:ext cx="6839712" cy="512102"/>
          </a:xfrm>
          <a:prstGeom prst="rect">
            <a:avLst/>
          </a:prstGeom>
        </p:spPr>
      </p:pic>
      <p:sp>
        <p:nvSpPr>
          <p:cNvPr id="16" name="Text 10"/>
          <p:cNvSpPr/>
          <p:nvPr/>
        </p:nvSpPr>
        <p:spPr>
          <a:xfrm>
            <a:off x="7772400" y="5540513"/>
            <a:ext cx="3870655" cy="621830"/>
          </a:xfrm>
          <a:prstGeom prst="rect">
            <a:avLst/>
          </a:prstGeom>
          <a:noFill/>
          <a:ln/>
        </p:spPr>
        <p:txBody>
          <a:bodyPr wrap="square" lIns="0" tIns="0" rIns="0" bIns="0" rtlCol="0" anchor="ctr"/>
          <a:lstStyle/>
          <a:p>
            <a:pPr indent="0" marL="0">
              <a:buNone/>
            </a:pPr>
            <a:r>
              <a:rPr lang="en-US" sz="1400" dirty="0">
                <a:solidFill>
                  <a:srgbClr val="9BA1AE"/>
                </a:solidFill>
                <a:latin typeface="Calibri" pitchFamily="34" charset="0"/>
                <a:ea typeface="Calibri" pitchFamily="34" charset="-122"/>
                <a:cs typeface="Calibri" pitchFamily="34" charset="-120"/>
              </a:rPr>
              <a:t>Verified on EKS: kubectl exec … id shows both containers run as non-root users.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014"/>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300" kern="0" dirty="0">
                <a:solidFill>
                  <a:srgbClr val="8B7BF0"/>
                </a:solidFill>
                <a:latin typeface="Calibri" pitchFamily="34" charset="0"/>
                <a:ea typeface="Calibri" pitchFamily="34" charset="-122"/>
                <a:cs typeface="Calibri" pitchFamily="34" charset="-120"/>
              </a:rPr>
              <a:t>CI/CD</a:t>
            </a:r>
            <a:endParaRPr lang="en-US" sz="1200" dirty="0"/>
          </a:p>
        </p:txBody>
      </p:sp>
      <p:sp>
        <p:nvSpPr>
          <p:cNvPr id="3" name="Text 1"/>
          <p:cNvSpPr/>
          <p:nvPr/>
        </p:nvSpPr>
        <p:spPr>
          <a:xfrm>
            <a:off x="548640" y="676656"/>
            <a:ext cx="11064240" cy="603504"/>
          </a:xfrm>
          <a:prstGeom prst="rect">
            <a:avLst/>
          </a:prstGeom>
          <a:noFill/>
          <a:ln/>
        </p:spPr>
        <p:txBody>
          <a:bodyPr wrap="square" lIns="0" tIns="0" rIns="0" bIns="0" rtlCol="0" anchor="t"/>
          <a:lstStyle/>
          <a:p>
            <a:pPr indent="0" marL="0">
              <a:buNone/>
            </a:pPr>
            <a:r>
              <a:rPr lang="en-US" sz="3400" b="1" dirty="0">
                <a:solidFill>
                  <a:srgbClr val="E8EAF0"/>
                </a:solidFill>
                <a:latin typeface="Calibri" pitchFamily="34" charset="0"/>
                <a:ea typeface="Calibri" pitchFamily="34" charset="-122"/>
                <a:cs typeface="Calibri" pitchFamily="34" charset="-120"/>
              </a:rPr>
              <a:t>GitHub Actions: test, build, scan, publish</a:t>
            </a:r>
            <a:endParaRPr lang="en-US" sz="3400" dirty="0"/>
          </a:p>
        </p:txBody>
      </p:sp>
      <p:sp>
        <p:nvSpPr>
          <p:cNvPr id="4" name="Shape 2"/>
          <p:cNvSpPr/>
          <p:nvPr/>
        </p:nvSpPr>
        <p:spPr>
          <a:xfrm>
            <a:off x="548640" y="1508760"/>
            <a:ext cx="6583680" cy="3844700"/>
          </a:xfrm>
          <a:prstGeom prst="roundRect">
            <a:avLst>
              <a:gd name="adj" fmla="val 1427"/>
            </a:avLst>
          </a:prstGeom>
          <a:solidFill>
            <a:srgbClr val="171A21"/>
          </a:solidFill>
          <a:ln w="9525">
            <a:solidFill>
              <a:srgbClr val="2C313C"/>
            </a:solidFill>
            <a:prstDash val="solid"/>
          </a:ln>
        </p:spPr>
      </p:sp>
      <p:pic>
        <p:nvPicPr>
          <p:cNvPr id="5" name="Image 0" descr="Actions run history: 11 workflow runs on main">    </p:cNvPr>
          <p:cNvPicPr>
            <a:picLocks noChangeAspect="1"/>
          </p:cNvPicPr>
          <p:nvPr/>
        </p:nvPicPr>
        <p:blipFill>
          <a:blip r:embed="rId1"/>
          <a:stretch>
            <a:fillRect/>
          </a:stretch>
        </p:blipFill>
        <p:spPr>
          <a:xfrm>
            <a:off x="603504" y="1563624"/>
            <a:ext cx="6473952" cy="3734972"/>
          </a:xfrm>
          <a:prstGeom prst="rect">
            <a:avLst/>
          </a:prstGeom>
        </p:spPr>
      </p:pic>
      <p:sp>
        <p:nvSpPr>
          <p:cNvPr id="6" name="Text 3"/>
          <p:cNvSpPr/>
          <p:nvPr/>
        </p:nvSpPr>
        <p:spPr>
          <a:xfrm>
            <a:off x="548640" y="5426612"/>
            <a:ext cx="6583680" cy="274320"/>
          </a:xfrm>
          <a:prstGeom prst="rect">
            <a:avLst/>
          </a:prstGeom>
          <a:noFill/>
          <a:ln/>
        </p:spPr>
        <p:txBody>
          <a:bodyPr wrap="square" lIns="0" tIns="0" rIns="0" bIns="0" rtlCol="0" anchor="t"/>
          <a:lstStyle/>
          <a:p>
            <a:pPr indent="0" marL="0">
              <a:buNone/>
            </a:pPr>
            <a:r>
              <a:rPr lang="en-US" sz="1200" dirty="0">
                <a:solidFill>
                  <a:srgbClr val="9BA1AE"/>
                </a:solidFill>
                <a:latin typeface="Calibri" pitchFamily="34" charset="0"/>
                <a:ea typeface="Calibri" pitchFamily="34" charset="-122"/>
                <a:cs typeface="Calibri" pitchFamily="34" charset="-120"/>
              </a:rPr>
              <a:t>Actions run history: 11 workflow runs on main</a:t>
            </a:r>
            <a:endParaRPr lang="en-US" sz="1200" dirty="0"/>
          </a:p>
        </p:txBody>
      </p:sp>
      <p:sp>
        <p:nvSpPr>
          <p:cNvPr id="7" name="Shape 4"/>
          <p:cNvSpPr/>
          <p:nvPr/>
        </p:nvSpPr>
        <p:spPr>
          <a:xfrm>
            <a:off x="7635240" y="1508760"/>
            <a:ext cx="4007815" cy="603504"/>
          </a:xfrm>
          <a:prstGeom prst="roundRect">
            <a:avLst>
              <a:gd name="adj" fmla="val 12121"/>
            </a:avLst>
          </a:prstGeom>
          <a:solidFill>
            <a:srgbClr val="171A21"/>
          </a:solidFill>
          <a:ln w="9525">
            <a:solidFill>
              <a:srgbClr val="2C313C"/>
            </a:solidFill>
            <a:prstDash val="solid"/>
          </a:ln>
        </p:spPr>
      </p:sp>
      <p:sp>
        <p:nvSpPr>
          <p:cNvPr id="8" name="Shape 5"/>
          <p:cNvSpPr/>
          <p:nvPr/>
        </p:nvSpPr>
        <p:spPr>
          <a:xfrm>
            <a:off x="7772400" y="1645920"/>
            <a:ext cx="329184" cy="329184"/>
          </a:xfrm>
          <a:prstGeom prst="ellipse">
            <a:avLst/>
          </a:prstGeom>
          <a:solidFill>
            <a:srgbClr val="26223F"/>
          </a:solidFill>
          <a:ln w="9525">
            <a:solidFill>
              <a:srgbClr val="8B7BF0"/>
            </a:solidFill>
            <a:prstDash val="solid"/>
          </a:ln>
        </p:spPr>
      </p:sp>
      <p:sp>
        <p:nvSpPr>
          <p:cNvPr id="9" name="Text 6"/>
          <p:cNvSpPr/>
          <p:nvPr/>
        </p:nvSpPr>
        <p:spPr>
          <a:xfrm>
            <a:off x="7772400" y="1645920"/>
            <a:ext cx="329184" cy="329184"/>
          </a:xfrm>
          <a:prstGeom prst="rect">
            <a:avLst/>
          </a:prstGeom>
          <a:noFill/>
          <a:ln/>
        </p:spPr>
        <p:txBody>
          <a:bodyPr wrap="square" lIns="0" tIns="0" rIns="0" bIns="0" rtlCol="0" anchor="ctr"/>
          <a:lstStyle/>
          <a:p>
            <a:pPr algn="ctr" indent="0" marL="0">
              <a:buNone/>
            </a:pPr>
            <a:r>
              <a:rPr lang="en-US" sz="1200" b="1" dirty="0">
                <a:solidFill>
                  <a:srgbClr val="8B7BF0"/>
                </a:solidFill>
                <a:latin typeface="Calibri" pitchFamily="34" charset="0"/>
                <a:ea typeface="Calibri" pitchFamily="34" charset="-122"/>
                <a:cs typeface="Calibri" pitchFamily="34" charset="-120"/>
              </a:rPr>
              <a:t>1</a:t>
            </a:r>
            <a:endParaRPr lang="en-US" sz="1200" dirty="0"/>
          </a:p>
        </p:txBody>
      </p:sp>
      <p:sp>
        <p:nvSpPr>
          <p:cNvPr id="10" name="Text 7"/>
          <p:cNvSpPr/>
          <p:nvPr/>
        </p:nvSpPr>
        <p:spPr>
          <a:xfrm>
            <a:off x="8229600" y="1563624"/>
            <a:ext cx="3276295" cy="274320"/>
          </a:xfrm>
          <a:prstGeom prst="rect">
            <a:avLst/>
          </a:prstGeom>
          <a:noFill/>
          <a:ln/>
        </p:spPr>
        <p:txBody>
          <a:bodyPr wrap="square" lIns="0" tIns="0" rIns="0" bIns="0" rtlCol="0" anchor="t"/>
          <a:lstStyle/>
          <a:p>
            <a:pPr indent="0" marL="0">
              <a:buNone/>
            </a:pPr>
            <a:r>
              <a:rPr lang="en-US" sz="1500" b="1" dirty="0">
                <a:solidFill>
                  <a:srgbClr val="E8EAF0"/>
                </a:solidFill>
                <a:latin typeface="Calibri" pitchFamily="34" charset="0"/>
                <a:ea typeface="Calibri" pitchFamily="34" charset="-122"/>
                <a:cs typeface="Calibri" pitchFamily="34" charset="-120"/>
              </a:rPr>
              <a:t>Test</a:t>
            </a:r>
            <a:endParaRPr lang="en-US" sz="1500" dirty="0"/>
          </a:p>
        </p:txBody>
      </p:sp>
      <p:sp>
        <p:nvSpPr>
          <p:cNvPr id="11" name="Text 8"/>
          <p:cNvSpPr/>
          <p:nvPr/>
        </p:nvSpPr>
        <p:spPr>
          <a:xfrm>
            <a:off x="8229600" y="1828800"/>
            <a:ext cx="3276295" cy="246888"/>
          </a:xfrm>
          <a:prstGeom prst="rect">
            <a:avLst/>
          </a:prstGeom>
          <a:noFill/>
          <a:ln/>
        </p:spPr>
        <p:txBody>
          <a:bodyPr wrap="square" lIns="0" tIns="0" rIns="0" bIns="0" rtlCol="0" anchor="t"/>
          <a:lstStyle/>
          <a:p>
            <a:pPr indent="0" marL="0">
              <a:buNone/>
            </a:pPr>
            <a:r>
              <a:rPr lang="en-US" sz="1200" dirty="0">
                <a:solidFill>
                  <a:srgbClr val="9BA1AE"/>
                </a:solidFill>
                <a:latin typeface="Calibri" pitchFamily="34" charset="0"/>
                <a:ea typeface="Calibri" pitchFamily="34" charset="-122"/>
                <a:cs typeface="Calibri" pitchFamily="34" charset="-120"/>
              </a:rPr>
              <a:t>15 pytest tests + Vite frontend build</a:t>
            </a:r>
            <a:endParaRPr lang="en-US" sz="1200" dirty="0"/>
          </a:p>
        </p:txBody>
      </p:sp>
      <p:sp>
        <p:nvSpPr>
          <p:cNvPr id="12" name="Shape 9"/>
          <p:cNvSpPr/>
          <p:nvPr/>
        </p:nvSpPr>
        <p:spPr>
          <a:xfrm>
            <a:off x="7936992" y="2112264"/>
            <a:ext cx="0" cy="182880"/>
          </a:xfrm>
          <a:prstGeom prst="line">
            <a:avLst/>
          </a:prstGeom>
          <a:noFill/>
          <a:ln w="12700">
            <a:solidFill>
              <a:srgbClr val="9BA1AE"/>
            </a:solidFill>
            <a:prstDash val="solid"/>
            <a:tailEnd type="triangle"/>
          </a:ln>
        </p:spPr>
      </p:sp>
      <p:sp>
        <p:nvSpPr>
          <p:cNvPr id="13" name="Shape 10"/>
          <p:cNvSpPr/>
          <p:nvPr/>
        </p:nvSpPr>
        <p:spPr>
          <a:xfrm>
            <a:off x="7635240" y="2295144"/>
            <a:ext cx="4007815" cy="603504"/>
          </a:xfrm>
          <a:prstGeom prst="roundRect">
            <a:avLst>
              <a:gd name="adj" fmla="val 12121"/>
            </a:avLst>
          </a:prstGeom>
          <a:solidFill>
            <a:srgbClr val="171A21"/>
          </a:solidFill>
          <a:ln w="9525">
            <a:solidFill>
              <a:srgbClr val="2C313C"/>
            </a:solidFill>
            <a:prstDash val="solid"/>
          </a:ln>
        </p:spPr>
      </p:sp>
      <p:sp>
        <p:nvSpPr>
          <p:cNvPr id="14" name="Shape 11"/>
          <p:cNvSpPr/>
          <p:nvPr/>
        </p:nvSpPr>
        <p:spPr>
          <a:xfrm>
            <a:off x="7772400" y="2432304"/>
            <a:ext cx="329184" cy="329184"/>
          </a:xfrm>
          <a:prstGeom prst="ellipse">
            <a:avLst/>
          </a:prstGeom>
          <a:solidFill>
            <a:srgbClr val="26223F"/>
          </a:solidFill>
          <a:ln w="9525">
            <a:solidFill>
              <a:srgbClr val="8B7BF0"/>
            </a:solidFill>
            <a:prstDash val="solid"/>
          </a:ln>
        </p:spPr>
      </p:sp>
      <p:sp>
        <p:nvSpPr>
          <p:cNvPr id="15" name="Text 12"/>
          <p:cNvSpPr/>
          <p:nvPr/>
        </p:nvSpPr>
        <p:spPr>
          <a:xfrm>
            <a:off x="7772400" y="2432304"/>
            <a:ext cx="329184" cy="329184"/>
          </a:xfrm>
          <a:prstGeom prst="rect">
            <a:avLst/>
          </a:prstGeom>
          <a:noFill/>
          <a:ln/>
        </p:spPr>
        <p:txBody>
          <a:bodyPr wrap="square" lIns="0" tIns="0" rIns="0" bIns="0" rtlCol="0" anchor="ctr"/>
          <a:lstStyle/>
          <a:p>
            <a:pPr algn="ctr" indent="0" marL="0">
              <a:buNone/>
            </a:pPr>
            <a:r>
              <a:rPr lang="en-US" sz="1200" b="1" dirty="0">
                <a:solidFill>
                  <a:srgbClr val="8B7BF0"/>
                </a:solidFill>
                <a:latin typeface="Calibri" pitchFamily="34" charset="0"/>
                <a:ea typeface="Calibri" pitchFamily="34" charset="-122"/>
                <a:cs typeface="Calibri" pitchFamily="34" charset="-120"/>
              </a:rPr>
              <a:t>2</a:t>
            </a:r>
            <a:endParaRPr lang="en-US" sz="1200" dirty="0"/>
          </a:p>
        </p:txBody>
      </p:sp>
      <p:sp>
        <p:nvSpPr>
          <p:cNvPr id="16" name="Text 13"/>
          <p:cNvSpPr/>
          <p:nvPr/>
        </p:nvSpPr>
        <p:spPr>
          <a:xfrm>
            <a:off x="8229600" y="2350008"/>
            <a:ext cx="3276295" cy="274320"/>
          </a:xfrm>
          <a:prstGeom prst="rect">
            <a:avLst/>
          </a:prstGeom>
          <a:noFill/>
          <a:ln/>
        </p:spPr>
        <p:txBody>
          <a:bodyPr wrap="square" lIns="0" tIns="0" rIns="0" bIns="0" rtlCol="0" anchor="t"/>
          <a:lstStyle/>
          <a:p>
            <a:pPr indent="0" marL="0">
              <a:buNone/>
            </a:pPr>
            <a:r>
              <a:rPr lang="en-US" sz="1500" b="1" dirty="0">
                <a:solidFill>
                  <a:srgbClr val="E8EAF0"/>
                </a:solidFill>
                <a:latin typeface="Calibri" pitchFamily="34" charset="0"/>
                <a:ea typeface="Calibri" pitchFamily="34" charset="-122"/>
                <a:cs typeface="Calibri" pitchFamily="34" charset="-120"/>
              </a:rPr>
              <a:t>Matrix of 3 images</a:t>
            </a:r>
            <a:endParaRPr lang="en-US" sz="1500" dirty="0"/>
          </a:p>
        </p:txBody>
      </p:sp>
      <p:sp>
        <p:nvSpPr>
          <p:cNvPr id="17" name="Text 14"/>
          <p:cNvSpPr/>
          <p:nvPr/>
        </p:nvSpPr>
        <p:spPr>
          <a:xfrm>
            <a:off x="8229600" y="2615184"/>
            <a:ext cx="3276295" cy="246888"/>
          </a:xfrm>
          <a:prstGeom prst="rect">
            <a:avLst/>
          </a:prstGeom>
          <a:noFill/>
          <a:ln/>
        </p:spPr>
        <p:txBody>
          <a:bodyPr wrap="square" lIns="0" tIns="0" rIns="0" bIns="0" rtlCol="0" anchor="t"/>
          <a:lstStyle/>
          <a:p>
            <a:pPr indent="0" marL="0">
              <a:buNone/>
            </a:pPr>
            <a:r>
              <a:rPr lang="en-US" sz="1200" dirty="0">
                <a:solidFill>
                  <a:srgbClr val="9BA1AE"/>
                </a:solidFill>
                <a:latin typeface="Calibri" pitchFamily="34" charset="0"/>
                <a:ea typeface="Calibri" pitchFamily="34" charset="-122"/>
                <a:cs typeface="Calibri" pitchFamily="34" charset="-120"/>
              </a:rPr>
              <a:t>backend · frontend · simulator</a:t>
            </a:r>
            <a:endParaRPr lang="en-US" sz="1200" dirty="0"/>
          </a:p>
        </p:txBody>
      </p:sp>
      <p:sp>
        <p:nvSpPr>
          <p:cNvPr id="18" name="Shape 15"/>
          <p:cNvSpPr/>
          <p:nvPr/>
        </p:nvSpPr>
        <p:spPr>
          <a:xfrm>
            <a:off x="7936992" y="2898648"/>
            <a:ext cx="0" cy="182880"/>
          </a:xfrm>
          <a:prstGeom prst="line">
            <a:avLst/>
          </a:prstGeom>
          <a:noFill/>
          <a:ln w="12700">
            <a:solidFill>
              <a:srgbClr val="9BA1AE"/>
            </a:solidFill>
            <a:prstDash val="solid"/>
            <a:tailEnd type="triangle"/>
          </a:ln>
        </p:spPr>
      </p:sp>
      <p:sp>
        <p:nvSpPr>
          <p:cNvPr id="19" name="Shape 16"/>
          <p:cNvSpPr/>
          <p:nvPr/>
        </p:nvSpPr>
        <p:spPr>
          <a:xfrm>
            <a:off x="7635240" y="3081528"/>
            <a:ext cx="4007815" cy="603504"/>
          </a:xfrm>
          <a:prstGeom prst="roundRect">
            <a:avLst>
              <a:gd name="adj" fmla="val 12121"/>
            </a:avLst>
          </a:prstGeom>
          <a:solidFill>
            <a:srgbClr val="171A21"/>
          </a:solidFill>
          <a:ln w="9525">
            <a:solidFill>
              <a:srgbClr val="2C313C"/>
            </a:solidFill>
            <a:prstDash val="solid"/>
          </a:ln>
        </p:spPr>
      </p:sp>
      <p:sp>
        <p:nvSpPr>
          <p:cNvPr id="20" name="Shape 17"/>
          <p:cNvSpPr/>
          <p:nvPr/>
        </p:nvSpPr>
        <p:spPr>
          <a:xfrm>
            <a:off x="7772400" y="3218688"/>
            <a:ext cx="329184" cy="329184"/>
          </a:xfrm>
          <a:prstGeom prst="ellipse">
            <a:avLst/>
          </a:prstGeom>
          <a:solidFill>
            <a:srgbClr val="26223F"/>
          </a:solidFill>
          <a:ln w="9525">
            <a:solidFill>
              <a:srgbClr val="8B7BF0"/>
            </a:solidFill>
            <a:prstDash val="solid"/>
          </a:ln>
        </p:spPr>
      </p:sp>
      <p:sp>
        <p:nvSpPr>
          <p:cNvPr id="21" name="Text 18"/>
          <p:cNvSpPr/>
          <p:nvPr/>
        </p:nvSpPr>
        <p:spPr>
          <a:xfrm>
            <a:off x="7772400" y="3218688"/>
            <a:ext cx="329184" cy="329184"/>
          </a:xfrm>
          <a:prstGeom prst="rect">
            <a:avLst/>
          </a:prstGeom>
          <a:noFill/>
          <a:ln/>
        </p:spPr>
        <p:txBody>
          <a:bodyPr wrap="square" lIns="0" tIns="0" rIns="0" bIns="0" rtlCol="0" anchor="ctr"/>
          <a:lstStyle/>
          <a:p>
            <a:pPr algn="ctr" indent="0" marL="0">
              <a:buNone/>
            </a:pPr>
            <a:r>
              <a:rPr lang="en-US" sz="1200" b="1" dirty="0">
                <a:solidFill>
                  <a:srgbClr val="8B7BF0"/>
                </a:solidFill>
                <a:latin typeface="Calibri" pitchFamily="34" charset="0"/>
                <a:ea typeface="Calibri" pitchFamily="34" charset="-122"/>
                <a:cs typeface="Calibri" pitchFamily="34" charset="-120"/>
              </a:rPr>
              <a:t>3</a:t>
            </a:r>
            <a:endParaRPr lang="en-US" sz="1200" dirty="0"/>
          </a:p>
        </p:txBody>
      </p:sp>
      <p:sp>
        <p:nvSpPr>
          <p:cNvPr id="22" name="Text 19"/>
          <p:cNvSpPr/>
          <p:nvPr/>
        </p:nvSpPr>
        <p:spPr>
          <a:xfrm>
            <a:off x="8229600" y="3136392"/>
            <a:ext cx="3276295" cy="274320"/>
          </a:xfrm>
          <a:prstGeom prst="rect">
            <a:avLst/>
          </a:prstGeom>
          <a:noFill/>
          <a:ln/>
        </p:spPr>
        <p:txBody>
          <a:bodyPr wrap="square" lIns="0" tIns="0" rIns="0" bIns="0" rtlCol="0" anchor="t"/>
          <a:lstStyle/>
          <a:p>
            <a:pPr indent="0" marL="0">
              <a:buNone/>
            </a:pPr>
            <a:r>
              <a:rPr lang="en-US" sz="1500" b="1" dirty="0">
                <a:solidFill>
                  <a:srgbClr val="E8EAF0"/>
                </a:solidFill>
                <a:latin typeface="Calibri" pitchFamily="34" charset="0"/>
                <a:ea typeface="Calibri" pitchFamily="34" charset="-122"/>
                <a:cs typeface="Calibri" pitchFamily="34" charset="-120"/>
              </a:rPr>
              <a:t>Build</a:t>
            </a:r>
            <a:endParaRPr lang="en-US" sz="1500" dirty="0"/>
          </a:p>
        </p:txBody>
      </p:sp>
      <p:sp>
        <p:nvSpPr>
          <p:cNvPr id="23" name="Text 20"/>
          <p:cNvSpPr/>
          <p:nvPr/>
        </p:nvSpPr>
        <p:spPr>
          <a:xfrm>
            <a:off x="8229600" y="3401568"/>
            <a:ext cx="3276295" cy="246888"/>
          </a:xfrm>
          <a:prstGeom prst="rect">
            <a:avLst/>
          </a:prstGeom>
          <a:noFill/>
          <a:ln/>
        </p:spPr>
        <p:txBody>
          <a:bodyPr wrap="square" lIns="0" tIns="0" rIns="0" bIns="0" rtlCol="0" anchor="t"/>
          <a:lstStyle/>
          <a:p>
            <a:pPr indent="0" marL="0">
              <a:buNone/>
            </a:pPr>
            <a:r>
              <a:rPr lang="en-US" sz="1200" dirty="0">
                <a:solidFill>
                  <a:srgbClr val="9BA1AE"/>
                </a:solidFill>
                <a:latin typeface="Calibri" pitchFamily="34" charset="0"/>
                <a:ea typeface="Calibri" pitchFamily="34" charset="-122"/>
                <a:cs typeface="Calibri" pitchFamily="34" charset="-120"/>
              </a:rPr>
              <a:t>docker build per image</a:t>
            </a:r>
            <a:endParaRPr lang="en-US" sz="1200" dirty="0"/>
          </a:p>
        </p:txBody>
      </p:sp>
      <p:sp>
        <p:nvSpPr>
          <p:cNvPr id="24" name="Shape 21"/>
          <p:cNvSpPr/>
          <p:nvPr/>
        </p:nvSpPr>
        <p:spPr>
          <a:xfrm>
            <a:off x="7936992" y="3685032"/>
            <a:ext cx="0" cy="182880"/>
          </a:xfrm>
          <a:prstGeom prst="line">
            <a:avLst/>
          </a:prstGeom>
          <a:noFill/>
          <a:ln w="12700">
            <a:solidFill>
              <a:srgbClr val="9BA1AE"/>
            </a:solidFill>
            <a:prstDash val="solid"/>
            <a:tailEnd type="triangle"/>
          </a:ln>
        </p:spPr>
      </p:sp>
      <p:sp>
        <p:nvSpPr>
          <p:cNvPr id="25" name="Shape 22"/>
          <p:cNvSpPr/>
          <p:nvPr/>
        </p:nvSpPr>
        <p:spPr>
          <a:xfrm>
            <a:off x="7635240" y="3867912"/>
            <a:ext cx="4007815" cy="603504"/>
          </a:xfrm>
          <a:prstGeom prst="roundRect">
            <a:avLst>
              <a:gd name="adj" fmla="val 12121"/>
            </a:avLst>
          </a:prstGeom>
          <a:solidFill>
            <a:srgbClr val="171A21"/>
          </a:solidFill>
          <a:ln w="9525">
            <a:solidFill>
              <a:srgbClr val="8B7BF0"/>
            </a:solidFill>
            <a:prstDash val="solid"/>
          </a:ln>
        </p:spPr>
      </p:sp>
      <p:sp>
        <p:nvSpPr>
          <p:cNvPr id="26" name="Shape 23"/>
          <p:cNvSpPr/>
          <p:nvPr/>
        </p:nvSpPr>
        <p:spPr>
          <a:xfrm>
            <a:off x="7772400" y="4005072"/>
            <a:ext cx="329184" cy="329184"/>
          </a:xfrm>
          <a:prstGeom prst="ellipse">
            <a:avLst/>
          </a:prstGeom>
          <a:solidFill>
            <a:srgbClr val="26223F"/>
          </a:solidFill>
          <a:ln w="9525">
            <a:solidFill>
              <a:srgbClr val="8B7BF0"/>
            </a:solidFill>
            <a:prstDash val="solid"/>
          </a:ln>
        </p:spPr>
      </p:sp>
      <p:sp>
        <p:nvSpPr>
          <p:cNvPr id="27" name="Text 24"/>
          <p:cNvSpPr/>
          <p:nvPr/>
        </p:nvSpPr>
        <p:spPr>
          <a:xfrm>
            <a:off x="7772400" y="4005072"/>
            <a:ext cx="329184" cy="329184"/>
          </a:xfrm>
          <a:prstGeom prst="rect">
            <a:avLst/>
          </a:prstGeom>
          <a:noFill/>
          <a:ln/>
        </p:spPr>
        <p:txBody>
          <a:bodyPr wrap="square" lIns="0" tIns="0" rIns="0" bIns="0" rtlCol="0" anchor="ctr"/>
          <a:lstStyle/>
          <a:p>
            <a:pPr algn="ctr" indent="0" marL="0">
              <a:buNone/>
            </a:pPr>
            <a:r>
              <a:rPr lang="en-US" sz="1200" b="1" dirty="0">
                <a:solidFill>
                  <a:srgbClr val="8B7BF0"/>
                </a:solidFill>
                <a:latin typeface="Calibri" pitchFamily="34" charset="0"/>
                <a:ea typeface="Calibri" pitchFamily="34" charset="-122"/>
                <a:cs typeface="Calibri" pitchFamily="34" charset="-120"/>
              </a:rPr>
              <a:t>4</a:t>
            </a:r>
            <a:endParaRPr lang="en-US" sz="1200" dirty="0"/>
          </a:p>
        </p:txBody>
      </p:sp>
      <p:sp>
        <p:nvSpPr>
          <p:cNvPr id="28" name="Text 25"/>
          <p:cNvSpPr/>
          <p:nvPr/>
        </p:nvSpPr>
        <p:spPr>
          <a:xfrm>
            <a:off x="8229600" y="3922776"/>
            <a:ext cx="3276295" cy="274320"/>
          </a:xfrm>
          <a:prstGeom prst="rect">
            <a:avLst/>
          </a:prstGeom>
          <a:noFill/>
          <a:ln/>
        </p:spPr>
        <p:txBody>
          <a:bodyPr wrap="square" lIns="0" tIns="0" rIns="0" bIns="0" rtlCol="0" anchor="t"/>
          <a:lstStyle/>
          <a:p>
            <a:pPr indent="0" marL="0">
              <a:buNone/>
            </a:pPr>
            <a:r>
              <a:rPr lang="en-US" sz="1500" b="1" dirty="0">
                <a:solidFill>
                  <a:srgbClr val="E8EAF0"/>
                </a:solidFill>
                <a:latin typeface="Calibri" pitchFamily="34" charset="0"/>
                <a:ea typeface="Calibri" pitchFamily="34" charset="-122"/>
                <a:cs typeface="Calibri" pitchFamily="34" charset="-120"/>
              </a:rPr>
              <a:t>Trivy scan</a:t>
            </a:r>
            <a:endParaRPr lang="en-US" sz="1500" dirty="0"/>
          </a:p>
        </p:txBody>
      </p:sp>
      <p:sp>
        <p:nvSpPr>
          <p:cNvPr id="29" name="Text 26"/>
          <p:cNvSpPr/>
          <p:nvPr/>
        </p:nvSpPr>
        <p:spPr>
          <a:xfrm>
            <a:off x="8229600" y="4187952"/>
            <a:ext cx="3276295" cy="246888"/>
          </a:xfrm>
          <a:prstGeom prst="rect">
            <a:avLst/>
          </a:prstGeom>
          <a:noFill/>
          <a:ln/>
        </p:spPr>
        <p:txBody>
          <a:bodyPr wrap="square" lIns="0" tIns="0" rIns="0" bIns="0" rtlCol="0" anchor="t"/>
          <a:lstStyle/>
          <a:p>
            <a:pPr indent="0" marL="0">
              <a:buNone/>
            </a:pPr>
            <a:r>
              <a:rPr lang="en-US" sz="1200" dirty="0">
                <a:solidFill>
                  <a:srgbClr val="9BA1AE"/>
                </a:solidFill>
                <a:latin typeface="Calibri" pitchFamily="34" charset="0"/>
                <a:ea typeface="Calibri" pitchFamily="34" charset="-122"/>
                <a:cs typeface="Calibri" pitchFamily="34" charset="-120"/>
              </a:rPr>
              <a:t>HIGH/CRITICAL, fixable only → fail job</a:t>
            </a:r>
            <a:endParaRPr lang="en-US" sz="1200" dirty="0"/>
          </a:p>
        </p:txBody>
      </p:sp>
      <p:sp>
        <p:nvSpPr>
          <p:cNvPr id="30" name="Shape 27"/>
          <p:cNvSpPr/>
          <p:nvPr/>
        </p:nvSpPr>
        <p:spPr>
          <a:xfrm>
            <a:off x="7936992" y="4471416"/>
            <a:ext cx="0" cy="182880"/>
          </a:xfrm>
          <a:prstGeom prst="line">
            <a:avLst/>
          </a:prstGeom>
          <a:noFill/>
          <a:ln w="12700">
            <a:solidFill>
              <a:srgbClr val="9BA1AE"/>
            </a:solidFill>
            <a:prstDash val="solid"/>
            <a:tailEnd type="triangle"/>
          </a:ln>
        </p:spPr>
      </p:sp>
      <p:sp>
        <p:nvSpPr>
          <p:cNvPr id="31" name="Shape 28"/>
          <p:cNvSpPr/>
          <p:nvPr/>
        </p:nvSpPr>
        <p:spPr>
          <a:xfrm>
            <a:off x="7635240" y="4654296"/>
            <a:ext cx="4007815" cy="603504"/>
          </a:xfrm>
          <a:prstGeom prst="roundRect">
            <a:avLst>
              <a:gd name="adj" fmla="val 12121"/>
            </a:avLst>
          </a:prstGeom>
          <a:solidFill>
            <a:srgbClr val="171A21"/>
          </a:solidFill>
          <a:ln w="9525">
            <a:solidFill>
              <a:srgbClr val="2C313C"/>
            </a:solidFill>
            <a:prstDash val="solid"/>
          </a:ln>
        </p:spPr>
      </p:sp>
      <p:sp>
        <p:nvSpPr>
          <p:cNvPr id="32" name="Shape 29"/>
          <p:cNvSpPr/>
          <p:nvPr/>
        </p:nvSpPr>
        <p:spPr>
          <a:xfrm>
            <a:off x="7772400" y="4791456"/>
            <a:ext cx="329184" cy="329184"/>
          </a:xfrm>
          <a:prstGeom prst="ellipse">
            <a:avLst/>
          </a:prstGeom>
          <a:solidFill>
            <a:srgbClr val="26223F"/>
          </a:solidFill>
          <a:ln w="9525">
            <a:solidFill>
              <a:srgbClr val="8B7BF0"/>
            </a:solidFill>
            <a:prstDash val="solid"/>
          </a:ln>
        </p:spPr>
      </p:sp>
      <p:sp>
        <p:nvSpPr>
          <p:cNvPr id="33" name="Text 30"/>
          <p:cNvSpPr/>
          <p:nvPr/>
        </p:nvSpPr>
        <p:spPr>
          <a:xfrm>
            <a:off x="7772400" y="4791456"/>
            <a:ext cx="329184" cy="329184"/>
          </a:xfrm>
          <a:prstGeom prst="rect">
            <a:avLst/>
          </a:prstGeom>
          <a:noFill/>
          <a:ln/>
        </p:spPr>
        <p:txBody>
          <a:bodyPr wrap="square" lIns="0" tIns="0" rIns="0" bIns="0" rtlCol="0" anchor="ctr"/>
          <a:lstStyle/>
          <a:p>
            <a:pPr algn="ctr" indent="0" marL="0">
              <a:buNone/>
            </a:pPr>
            <a:r>
              <a:rPr lang="en-US" sz="1200" b="1" dirty="0">
                <a:solidFill>
                  <a:srgbClr val="8B7BF0"/>
                </a:solidFill>
                <a:latin typeface="Calibri" pitchFamily="34" charset="0"/>
                <a:ea typeface="Calibri" pitchFamily="34" charset="-122"/>
                <a:cs typeface="Calibri" pitchFamily="34" charset="-120"/>
              </a:rPr>
              <a:t>5</a:t>
            </a:r>
            <a:endParaRPr lang="en-US" sz="1200" dirty="0"/>
          </a:p>
        </p:txBody>
      </p:sp>
      <p:sp>
        <p:nvSpPr>
          <p:cNvPr id="34" name="Text 31"/>
          <p:cNvSpPr/>
          <p:nvPr/>
        </p:nvSpPr>
        <p:spPr>
          <a:xfrm>
            <a:off x="8229600" y="4709160"/>
            <a:ext cx="3276295" cy="274320"/>
          </a:xfrm>
          <a:prstGeom prst="rect">
            <a:avLst/>
          </a:prstGeom>
          <a:noFill/>
          <a:ln/>
        </p:spPr>
        <p:txBody>
          <a:bodyPr wrap="square" lIns="0" tIns="0" rIns="0" bIns="0" rtlCol="0" anchor="t"/>
          <a:lstStyle/>
          <a:p>
            <a:pPr indent="0" marL="0">
              <a:buNone/>
            </a:pPr>
            <a:r>
              <a:rPr lang="en-US" sz="1500" b="1" dirty="0">
                <a:solidFill>
                  <a:srgbClr val="E8EAF0"/>
                </a:solidFill>
                <a:latin typeface="Calibri" pitchFamily="34" charset="0"/>
                <a:ea typeface="Calibri" pitchFamily="34" charset="-122"/>
                <a:cs typeface="Calibri" pitchFamily="34" charset="-120"/>
              </a:rPr>
              <a:t>Push to GHCR</a:t>
            </a:r>
            <a:endParaRPr lang="en-US" sz="1500" dirty="0"/>
          </a:p>
        </p:txBody>
      </p:sp>
      <p:sp>
        <p:nvSpPr>
          <p:cNvPr id="35" name="Text 32"/>
          <p:cNvSpPr/>
          <p:nvPr/>
        </p:nvSpPr>
        <p:spPr>
          <a:xfrm>
            <a:off x="8229600" y="4974336"/>
            <a:ext cx="3276295" cy="246888"/>
          </a:xfrm>
          <a:prstGeom prst="rect">
            <a:avLst/>
          </a:prstGeom>
          <a:noFill/>
          <a:ln/>
        </p:spPr>
        <p:txBody>
          <a:bodyPr wrap="square" lIns="0" tIns="0" rIns="0" bIns="0" rtlCol="0" anchor="t"/>
          <a:lstStyle/>
          <a:p>
            <a:pPr indent="0" marL="0">
              <a:buNone/>
            </a:pPr>
            <a:r>
              <a:rPr lang="en-US" sz="1200" dirty="0">
                <a:solidFill>
                  <a:srgbClr val="9BA1AE"/>
                </a:solidFill>
                <a:latin typeface="Calibri" pitchFamily="34" charset="0"/>
                <a:ea typeface="Calibri" pitchFamily="34" charset="-122"/>
                <a:cs typeface="Calibri" pitchFamily="34" charset="-120"/>
              </a:rPr>
              <a:t>tagged with the full commit SHA</a:t>
            </a:r>
            <a:endParaRPr lang="en-US" sz="1200" dirty="0"/>
          </a:p>
        </p:txBody>
      </p:sp>
      <p:sp>
        <p:nvSpPr>
          <p:cNvPr id="36" name="Shape 33"/>
          <p:cNvSpPr/>
          <p:nvPr/>
        </p:nvSpPr>
        <p:spPr>
          <a:xfrm>
            <a:off x="7936992" y="5257800"/>
            <a:ext cx="0" cy="182880"/>
          </a:xfrm>
          <a:prstGeom prst="line">
            <a:avLst/>
          </a:prstGeom>
          <a:noFill/>
          <a:ln w="12700">
            <a:solidFill>
              <a:srgbClr val="9BA1AE"/>
            </a:solidFill>
            <a:prstDash val="solid"/>
            <a:tailEnd type="triangle"/>
          </a:ln>
        </p:spPr>
      </p:sp>
      <p:sp>
        <p:nvSpPr>
          <p:cNvPr id="37" name="Shape 34"/>
          <p:cNvSpPr/>
          <p:nvPr/>
        </p:nvSpPr>
        <p:spPr>
          <a:xfrm>
            <a:off x="7635240" y="5440680"/>
            <a:ext cx="4007815" cy="603504"/>
          </a:xfrm>
          <a:prstGeom prst="roundRect">
            <a:avLst>
              <a:gd name="adj" fmla="val 12121"/>
            </a:avLst>
          </a:prstGeom>
          <a:solidFill>
            <a:srgbClr val="0E1014"/>
          </a:solidFill>
          <a:ln w="9525">
            <a:solidFill>
              <a:srgbClr val="2C313C"/>
            </a:solidFill>
            <a:prstDash val="dash"/>
          </a:ln>
        </p:spPr>
      </p:sp>
      <p:sp>
        <p:nvSpPr>
          <p:cNvPr id="38" name="Shape 35"/>
          <p:cNvSpPr/>
          <p:nvPr/>
        </p:nvSpPr>
        <p:spPr>
          <a:xfrm>
            <a:off x="7772400" y="5577840"/>
            <a:ext cx="329184" cy="329184"/>
          </a:xfrm>
          <a:prstGeom prst="ellipse">
            <a:avLst/>
          </a:prstGeom>
          <a:solidFill>
            <a:srgbClr val="1F232C"/>
          </a:solidFill>
          <a:ln w="9525">
            <a:solidFill>
              <a:srgbClr val="2C313C"/>
            </a:solidFill>
            <a:prstDash val="solid"/>
          </a:ln>
        </p:spPr>
      </p:sp>
      <p:sp>
        <p:nvSpPr>
          <p:cNvPr id="39" name="Text 36"/>
          <p:cNvSpPr/>
          <p:nvPr/>
        </p:nvSpPr>
        <p:spPr>
          <a:xfrm>
            <a:off x="7772400" y="5577840"/>
            <a:ext cx="329184" cy="329184"/>
          </a:xfrm>
          <a:prstGeom prst="rect">
            <a:avLst/>
          </a:prstGeom>
          <a:noFill/>
          <a:ln/>
        </p:spPr>
        <p:txBody>
          <a:bodyPr wrap="square" lIns="0" tIns="0" rIns="0" bIns="0" rtlCol="0" anchor="ctr"/>
          <a:lstStyle/>
          <a:p>
            <a:pPr algn="ctr" indent="0" marL="0">
              <a:buNone/>
            </a:pPr>
            <a:r>
              <a:rPr lang="en-US" sz="1200" b="1" dirty="0">
                <a:solidFill>
                  <a:srgbClr val="9BA1AE"/>
                </a:solidFill>
                <a:latin typeface="Calibri" pitchFamily="34" charset="0"/>
                <a:ea typeface="Calibri" pitchFamily="34" charset="-122"/>
                <a:cs typeface="Calibri" pitchFamily="34" charset="-120"/>
              </a:rPr>
              <a:t>6</a:t>
            </a:r>
            <a:endParaRPr lang="en-US" sz="1200" dirty="0"/>
          </a:p>
        </p:txBody>
      </p:sp>
      <p:sp>
        <p:nvSpPr>
          <p:cNvPr id="40" name="Text 37"/>
          <p:cNvSpPr/>
          <p:nvPr/>
        </p:nvSpPr>
        <p:spPr>
          <a:xfrm>
            <a:off x="8229600" y="5495544"/>
            <a:ext cx="3276295" cy="274320"/>
          </a:xfrm>
          <a:prstGeom prst="rect">
            <a:avLst/>
          </a:prstGeom>
          <a:noFill/>
          <a:ln/>
        </p:spPr>
        <p:txBody>
          <a:bodyPr wrap="square" lIns="0" tIns="0" rIns="0" bIns="0" rtlCol="0" anchor="t"/>
          <a:lstStyle/>
          <a:p>
            <a:pPr indent="0" marL="0">
              <a:buNone/>
            </a:pPr>
            <a:r>
              <a:rPr lang="en-US" sz="1500" b="1" dirty="0">
                <a:solidFill>
                  <a:srgbClr val="9BA1AE"/>
                </a:solidFill>
                <a:latin typeface="Calibri" pitchFamily="34" charset="0"/>
                <a:ea typeface="Calibri" pitchFamily="34" charset="-122"/>
                <a:cs typeface="Calibri" pitchFamily="34" charset="-120"/>
              </a:rPr>
              <a:t>Deploy</a:t>
            </a:r>
            <a:endParaRPr lang="en-US" sz="1500" dirty="0"/>
          </a:p>
        </p:txBody>
      </p:sp>
      <p:sp>
        <p:nvSpPr>
          <p:cNvPr id="41" name="Text 38"/>
          <p:cNvSpPr/>
          <p:nvPr/>
        </p:nvSpPr>
        <p:spPr>
          <a:xfrm>
            <a:off x="8229600" y="5760720"/>
            <a:ext cx="3276295" cy="246888"/>
          </a:xfrm>
          <a:prstGeom prst="rect">
            <a:avLst/>
          </a:prstGeom>
          <a:noFill/>
          <a:ln/>
        </p:spPr>
        <p:txBody>
          <a:bodyPr wrap="square" lIns="0" tIns="0" rIns="0" bIns="0" rtlCol="0" anchor="t"/>
          <a:lstStyle/>
          <a:p>
            <a:pPr indent="0" marL="0">
              <a:buNone/>
            </a:pPr>
            <a:r>
              <a:rPr lang="en-US" sz="1200" dirty="0">
                <a:solidFill>
                  <a:srgbClr val="9BA1AE"/>
                </a:solidFill>
                <a:latin typeface="Calibri" pitchFamily="34" charset="0"/>
                <a:ea typeface="Calibri" pitchFamily="34" charset="-122"/>
                <a:cs typeface="Calibri" pitchFamily="34" charset="-120"/>
              </a:rPr>
              <a:t>Helm to EKS, gated off: no cloud secrets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014"/>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300" kern="0" dirty="0">
                <a:solidFill>
                  <a:srgbClr val="8B7BF0"/>
                </a:solidFill>
                <a:latin typeface="Calibri" pitchFamily="34" charset="0"/>
                <a:ea typeface="Calibri" pitchFamily="34" charset="-122"/>
                <a:cs typeface="Calibri" pitchFamily="34" charset="-120"/>
              </a:rPr>
              <a:t>DEVSECOPS</a:t>
            </a:r>
            <a:endParaRPr lang="en-US" sz="1200" dirty="0"/>
          </a:p>
        </p:txBody>
      </p:sp>
      <p:sp>
        <p:nvSpPr>
          <p:cNvPr id="3" name="Text 1"/>
          <p:cNvSpPr/>
          <p:nvPr/>
        </p:nvSpPr>
        <p:spPr>
          <a:xfrm>
            <a:off x="548640" y="676656"/>
            <a:ext cx="11064240" cy="603504"/>
          </a:xfrm>
          <a:prstGeom prst="rect">
            <a:avLst/>
          </a:prstGeom>
          <a:noFill/>
          <a:ln/>
        </p:spPr>
        <p:txBody>
          <a:bodyPr wrap="square" lIns="0" tIns="0" rIns="0" bIns="0" rtlCol="0" anchor="t"/>
          <a:lstStyle/>
          <a:p>
            <a:pPr indent="0" marL="0">
              <a:buNone/>
            </a:pPr>
            <a:r>
              <a:rPr lang="en-US" sz="3400" b="1" dirty="0">
                <a:solidFill>
                  <a:srgbClr val="E8EAF0"/>
                </a:solidFill>
                <a:latin typeface="Calibri" pitchFamily="34" charset="0"/>
                <a:ea typeface="Calibri" pitchFamily="34" charset="-122"/>
                <a:cs typeface="Calibri" pitchFamily="34" charset="-120"/>
              </a:rPr>
              <a:t>The Trivy gate blocked 41 vulnerabilities</a:t>
            </a:r>
            <a:endParaRPr lang="en-US" sz="3400" dirty="0"/>
          </a:p>
        </p:txBody>
      </p:sp>
      <p:sp>
        <p:nvSpPr>
          <p:cNvPr id="4" name="Text 2"/>
          <p:cNvSpPr/>
          <p:nvPr/>
        </p:nvSpPr>
        <p:spPr>
          <a:xfrm>
            <a:off x="548640" y="1417320"/>
            <a:ext cx="3520440" cy="566928"/>
          </a:xfrm>
          <a:prstGeom prst="rect">
            <a:avLst/>
          </a:prstGeom>
          <a:noFill/>
          <a:ln/>
        </p:spPr>
        <p:txBody>
          <a:bodyPr wrap="square" lIns="0" tIns="0" rIns="0" bIns="0" rtlCol="0" anchor="t"/>
          <a:lstStyle/>
          <a:p>
            <a:pPr indent="0" marL="0">
              <a:buNone/>
            </a:pPr>
            <a:r>
              <a:rPr lang="en-US" sz="3600" b="1" dirty="0">
                <a:solidFill>
                  <a:srgbClr val="E5615B"/>
                </a:solidFill>
                <a:latin typeface="Calibri" pitchFamily="34" charset="0"/>
                <a:ea typeface="Calibri" pitchFamily="34" charset="-122"/>
                <a:cs typeface="Calibri" pitchFamily="34" charset="-120"/>
              </a:rPr>
              <a:t>41</a:t>
            </a:r>
            <a:endParaRPr lang="en-US" sz="3600" dirty="0"/>
          </a:p>
        </p:txBody>
      </p:sp>
      <p:sp>
        <p:nvSpPr>
          <p:cNvPr id="5" name="Text 3"/>
          <p:cNvSpPr/>
          <p:nvPr/>
        </p:nvSpPr>
        <p:spPr>
          <a:xfrm>
            <a:off x="548640" y="2011680"/>
            <a:ext cx="3520440" cy="292608"/>
          </a:xfrm>
          <a:prstGeom prst="rect">
            <a:avLst/>
          </a:prstGeom>
          <a:noFill/>
          <a:ln/>
        </p:spPr>
        <p:txBody>
          <a:bodyPr wrap="square" lIns="0" tIns="0" rIns="0" bIns="0" rtlCol="0" anchor="t"/>
          <a:lstStyle/>
          <a:p>
            <a:pPr indent="0" marL="0">
              <a:buNone/>
            </a:pPr>
            <a:r>
              <a:rPr lang="en-US" sz="1400" dirty="0">
                <a:solidFill>
                  <a:srgbClr val="9BA1AE"/>
                </a:solidFill>
                <a:latin typeface="Calibri" pitchFamily="34" charset="0"/>
                <a:ea typeface="Calibri" pitchFamily="34" charset="-122"/>
                <a:cs typeface="Calibri" pitchFamily="34" charset="-120"/>
              </a:rPr>
              <a:t>found by the first frontend scan</a:t>
            </a:r>
            <a:endParaRPr lang="en-US" sz="1400" dirty="0"/>
          </a:p>
        </p:txBody>
      </p:sp>
      <p:sp>
        <p:nvSpPr>
          <p:cNvPr id="6" name="Text 4"/>
          <p:cNvSpPr/>
          <p:nvPr/>
        </p:nvSpPr>
        <p:spPr>
          <a:xfrm>
            <a:off x="4334256" y="1417320"/>
            <a:ext cx="3520440" cy="566928"/>
          </a:xfrm>
          <a:prstGeom prst="rect">
            <a:avLst/>
          </a:prstGeom>
          <a:noFill/>
          <a:ln/>
        </p:spPr>
        <p:txBody>
          <a:bodyPr wrap="square" lIns="0" tIns="0" rIns="0" bIns="0" rtlCol="0" anchor="t"/>
          <a:lstStyle/>
          <a:p>
            <a:pPr indent="0" marL="0">
              <a:buNone/>
            </a:pPr>
            <a:r>
              <a:rPr lang="en-US" sz="3600" b="1" dirty="0">
                <a:solidFill>
                  <a:srgbClr val="E8EAF0"/>
                </a:solidFill>
                <a:latin typeface="Calibri" pitchFamily="34" charset="0"/>
                <a:ea typeface="Calibri" pitchFamily="34" charset="-122"/>
                <a:cs typeface="Calibri" pitchFamily="34" charset="-120"/>
              </a:rPr>
              <a:t>39 + 2</a:t>
            </a:r>
            <a:endParaRPr lang="en-US" sz="3600" dirty="0"/>
          </a:p>
        </p:txBody>
      </p:sp>
      <p:sp>
        <p:nvSpPr>
          <p:cNvPr id="7" name="Text 5"/>
          <p:cNvSpPr/>
          <p:nvPr/>
        </p:nvSpPr>
        <p:spPr>
          <a:xfrm>
            <a:off x="4334256" y="2011680"/>
            <a:ext cx="3520440" cy="292608"/>
          </a:xfrm>
          <a:prstGeom prst="rect">
            <a:avLst/>
          </a:prstGeom>
          <a:noFill/>
          <a:ln/>
        </p:spPr>
        <p:txBody>
          <a:bodyPr wrap="square" lIns="0" tIns="0" rIns="0" bIns="0" rtlCol="0" anchor="t"/>
          <a:lstStyle/>
          <a:p>
            <a:pPr indent="0" marL="0">
              <a:buNone/>
            </a:pPr>
            <a:r>
              <a:rPr lang="en-US" sz="1400" dirty="0">
                <a:solidFill>
                  <a:srgbClr val="9BA1AE"/>
                </a:solidFill>
                <a:latin typeface="Calibri" pitchFamily="34" charset="0"/>
                <a:ea typeface="Calibri" pitchFamily="34" charset="-122"/>
                <a:cs typeface="Calibri" pitchFamily="34" charset="-120"/>
              </a:rPr>
              <a:t>HIGH + CRITICAL</a:t>
            </a:r>
            <a:endParaRPr lang="en-US" sz="1400" dirty="0"/>
          </a:p>
        </p:txBody>
      </p:sp>
      <p:sp>
        <p:nvSpPr>
          <p:cNvPr id="8" name="Text 6"/>
          <p:cNvSpPr/>
          <p:nvPr/>
        </p:nvSpPr>
        <p:spPr>
          <a:xfrm>
            <a:off x="8119872" y="1417320"/>
            <a:ext cx="3520440" cy="566928"/>
          </a:xfrm>
          <a:prstGeom prst="rect">
            <a:avLst/>
          </a:prstGeom>
          <a:noFill/>
          <a:ln/>
        </p:spPr>
        <p:txBody>
          <a:bodyPr wrap="square" lIns="0" tIns="0" rIns="0" bIns="0" rtlCol="0" anchor="t"/>
          <a:lstStyle/>
          <a:p>
            <a:pPr indent="0" marL="0">
              <a:buNone/>
            </a:pPr>
            <a:r>
              <a:rPr lang="en-US" sz="3600" b="1" dirty="0">
                <a:solidFill>
                  <a:srgbClr val="5BBF7A"/>
                </a:solidFill>
                <a:latin typeface="Calibri" pitchFamily="34" charset="0"/>
                <a:ea typeface="Calibri" pitchFamily="34" charset="-122"/>
                <a:cs typeface="Calibri" pitchFamily="34" charset="-120"/>
              </a:rPr>
              <a:t>0</a:t>
            </a:r>
            <a:endParaRPr lang="en-US" sz="3600" dirty="0"/>
          </a:p>
        </p:txBody>
      </p:sp>
      <p:sp>
        <p:nvSpPr>
          <p:cNvPr id="9" name="Text 7"/>
          <p:cNvSpPr/>
          <p:nvPr/>
        </p:nvSpPr>
        <p:spPr>
          <a:xfrm>
            <a:off x="8119872" y="2011680"/>
            <a:ext cx="3520440" cy="292608"/>
          </a:xfrm>
          <a:prstGeom prst="rect">
            <a:avLst/>
          </a:prstGeom>
          <a:noFill/>
          <a:ln/>
        </p:spPr>
        <p:txBody>
          <a:bodyPr wrap="square" lIns="0" tIns="0" rIns="0" bIns="0" rtlCol="0" anchor="t"/>
          <a:lstStyle/>
          <a:p>
            <a:pPr indent="0" marL="0">
              <a:buNone/>
            </a:pPr>
            <a:r>
              <a:rPr lang="en-US" sz="1400" dirty="0">
                <a:solidFill>
                  <a:srgbClr val="9BA1AE"/>
                </a:solidFill>
                <a:latin typeface="Calibri" pitchFamily="34" charset="0"/>
                <a:ea typeface="Calibri" pitchFamily="34" charset="-122"/>
                <a:cs typeface="Calibri" pitchFamily="34" charset="-120"/>
              </a:rPr>
              <a:t>after the 1.30-alpine base image</a:t>
            </a:r>
            <a:endParaRPr lang="en-US" sz="1400" dirty="0"/>
          </a:p>
        </p:txBody>
      </p:sp>
      <p:sp>
        <p:nvSpPr>
          <p:cNvPr id="10" name="Shape 8"/>
          <p:cNvSpPr/>
          <p:nvPr/>
        </p:nvSpPr>
        <p:spPr>
          <a:xfrm>
            <a:off x="548640" y="2377440"/>
            <a:ext cx="1188720" cy="310896"/>
          </a:xfrm>
          <a:prstGeom prst="roundRect">
            <a:avLst>
              <a:gd name="adj" fmla="val 50000"/>
            </a:avLst>
          </a:prstGeom>
          <a:solidFill>
            <a:srgbClr val="36191A"/>
          </a:solidFill>
          <a:ln w="9525">
            <a:solidFill>
              <a:srgbClr val="E5615B"/>
            </a:solidFill>
            <a:prstDash val="solid"/>
          </a:ln>
        </p:spPr>
      </p:sp>
      <p:sp>
        <p:nvSpPr>
          <p:cNvPr id="11" name="Text 9"/>
          <p:cNvSpPr/>
          <p:nvPr/>
        </p:nvSpPr>
        <p:spPr>
          <a:xfrm>
            <a:off x="548640" y="2377440"/>
            <a:ext cx="1188720" cy="310896"/>
          </a:xfrm>
          <a:prstGeom prst="rect">
            <a:avLst/>
          </a:prstGeom>
          <a:noFill/>
          <a:ln/>
        </p:spPr>
        <p:txBody>
          <a:bodyPr wrap="square" lIns="0" tIns="0" rIns="0" bIns="0" rtlCol="0" anchor="ctr"/>
          <a:lstStyle/>
          <a:p>
            <a:pPr algn="ctr" indent="0" marL="0">
              <a:buNone/>
            </a:pPr>
            <a:r>
              <a:rPr lang="en-US" sz="1200" b="1" spc="100" kern="0" dirty="0">
                <a:solidFill>
                  <a:srgbClr val="E5615B"/>
                </a:solidFill>
                <a:latin typeface="Calibri" pitchFamily="34" charset="0"/>
                <a:ea typeface="Calibri" pitchFamily="34" charset="-122"/>
                <a:cs typeface="Calibri" pitchFamily="34" charset="-120"/>
              </a:rPr>
              <a:t>BLOCKED</a:t>
            </a:r>
            <a:endParaRPr lang="en-US" sz="1200" dirty="0"/>
          </a:p>
        </p:txBody>
      </p:sp>
      <p:sp>
        <p:nvSpPr>
          <p:cNvPr id="12" name="Text 10"/>
          <p:cNvSpPr/>
          <p:nvPr/>
        </p:nvSpPr>
        <p:spPr>
          <a:xfrm>
            <a:off x="1874520" y="2395728"/>
            <a:ext cx="4114800" cy="292608"/>
          </a:xfrm>
          <a:prstGeom prst="rect">
            <a:avLst/>
          </a:prstGeom>
          <a:noFill/>
          <a:ln/>
        </p:spPr>
        <p:txBody>
          <a:bodyPr wrap="square" lIns="0" tIns="0" rIns="0" bIns="0" rtlCol="0" anchor="t"/>
          <a:lstStyle/>
          <a:p>
            <a:pPr indent="0" marL="0">
              <a:buNone/>
            </a:pPr>
            <a:r>
              <a:rPr lang="en-US" sz="1400" dirty="0">
                <a:solidFill>
                  <a:srgbClr val="9BA1AE"/>
                </a:solidFill>
                <a:latin typeface="Calibri" pitchFamily="34" charset="0"/>
                <a:ea typeface="Calibri" pitchFamily="34" charset="-122"/>
                <a:cs typeface="Calibri" pitchFamily="34" charset="-120"/>
              </a:rPr>
              <a:t>1.27-alpine base: frontend image blocked</a:t>
            </a:r>
            <a:endParaRPr lang="en-US" sz="1400" dirty="0"/>
          </a:p>
        </p:txBody>
      </p:sp>
      <p:sp>
        <p:nvSpPr>
          <p:cNvPr id="13" name="Shape 11"/>
          <p:cNvSpPr/>
          <p:nvPr/>
        </p:nvSpPr>
        <p:spPr>
          <a:xfrm>
            <a:off x="6229807" y="2377440"/>
            <a:ext cx="1097280" cy="310896"/>
          </a:xfrm>
          <a:prstGeom prst="roundRect">
            <a:avLst>
              <a:gd name="adj" fmla="val 50000"/>
            </a:avLst>
          </a:prstGeom>
          <a:solidFill>
            <a:srgbClr val="1B2E22"/>
          </a:solidFill>
          <a:ln w="9525">
            <a:solidFill>
              <a:srgbClr val="5BBF7A"/>
            </a:solidFill>
            <a:prstDash val="solid"/>
          </a:ln>
        </p:spPr>
      </p:sp>
      <p:sp>
        <p:nvSpPr>
          <p:cNvPr id="14" name="Text 12"/>
          <p:cNvSpPr/>
          <p:nvPr/>
        </p:nvSpPr>
        <p:spPr>
          <a:xfrm>
            <a:off x="6229807" y="2377440"/>
            <a:ext cx="1097280" cy="310896"/>
          </a:xfrm>
          <a:prstGeom prst="rect">
            <a:avLst/>
          </a:prstGeom>
          <a:noFill/>
          <a:ln/>
        </p:spPr>
        <p:txBody>
          <a:bodyPr wrap="square" lIns="0" tIns="0" rIns="0" bIns="0" rtlCol="0" anchor="ctr"/>
          <a:lstStyle/>
          <a:p>
            <a:pPr algn="ctr" indent="0" marL="0">
              <a:buNone/>
            </a:pPr>
            <a:r>
              <a:rPr lang="en-US" sz="1200" b="1" spc="100" kern="0" dirty="0">
                <a:solidFill>
                  <a:srgbClr val="5BBF7A"/>
                </a:solidFill>
                <a:latin typeface="Calibri" pitchFamily="34" charset="0"/>
                <a:ea typeface="Calibri" pitchFamily="34" charset="-122"/>
                <a:cs typeface="Calibri" pitchFamily="34" charset="-120"/>
              </a:rPr>
              <a:t>PASSED</a:t>
            </a:r>
            <a:endParaRPr lang="en-US" sz="1200" dirty="0"/>
          </a:p>
        </p:txBody>
      </p:sp>
      <p:sp>
        <p:nvSpPr>
          <p:cNvPr id="15" name="Text 13"/>
          <p:cNvSpPr/>
          <p:nvPr/>
        </p:nvSpPr>
        <p:spPr>
          <a:xfrm>
            <a:off x="7464247" y="2395728"/>
            <a:ext cx="4114800" cy="292608"/>
          </a:xfrm>
          <a:prstGeom prst="rect">
            <a:avLst/>
          </a:prstGeom>
          <a:noFill/>
          <a:ln/>
        </p:spPr>
        <p:txBody>
          <a:bodyPr wrap="square" lIns="0" tIns="0" rIns="0" bIns="0" rtlCol="0" anchor="t"/>
          <a:lstStyle/>
          <a:p>
            <a:pPr indent="0" marL="0">
              <a:buNone/>
            </a:pPr>
            <a:r>
              <a:rPr lang="en-US" sz="1400" dirty="0">
                <a:solidFill>
                  <a:srgbClr val="9BA1AE"/>
                </a:solidFill>
                <a:latin typeface="Calibri" pitchFamily="34" charset="0"/>
                <a:ea typeface="Calibri" pitchFamily="34" charset="-122"/>
                <a:cs typeface="Calibri" pitchFamily="34" charset="-120"/>
              </a:rPr>
              <a:t>1.30-alpine base: scan passes, pushed</a:t>
            </a:r>
            <a:endParaRPr lang="en-US" sz="1400" dirty="0"/>
          </a:p>
        </p:txBody>
      </p:sp>
      <p:sp>
        <p:nvSpPr>
          <p:cNvPr id="16" name="Shape 14"/>
          <p:cNvSpPr/>
          <p:nvPr/>
        </p:nvSpPr>
        <p:spPr>
          <a:xfrm>
            <a:off x="548640" y="2788920"/>
            <a:ext cx="5413248" cy="3038590"/>
          </a:xfrm>
          <a:prstGeom prst="roundRect">
            <a:avLst>
              <a:gd name="adj" fmla="val 1806"/>
            </a:avLst>
          </a:prstGeom>
          <a:solidFill>
            <a:srgbClr val="171A21"/>
          </a:solidFill>
          <a:ln w="9525">
            <a:solidFill>
              <a:srgbClr val="2C313C"/>
            </a:solidFill>
            <a:prstDash val="solid"/>
          </a:ln>
        </p:spPr>
      </p:sp>
      <p:pic>
        <p:nvPicPr>
          <p:cNvPr id="17" name="Image 0" descr="Run #3: image (frontend) failed at the scan; deploy skipped">    </p:cNvPr>
          <p:cNvPicPr>
            <a:picLocks noChangeAspect="1"/>
          </p:cNvPicPr>
          <p:nvPr/>
        </p:nvPicPr>
        <p:blipFill>
          <a:blip r:embed="rId1"/>
          <a:stretch>
            <a:fillRect/>
          </a:stretch>
        </p:blipFill>
        <p:spPr>
          <a:xfrm>
            <a:off x="603504" y="2843784"/>
            <a:ext cx="5303520" cy="2928862"/>
          </a:xfrm>
          <a:prstGeom prst="rect">
            <a:avLst/>
          </a:prstGeom>
        </p:spPr>
      </p:pic>
      <p:sp>
        <p:nvSpPr>
          <p:cNvPr id="18" name="Text 15"/>
          <p:cNvSpPr/>
          <p:nvPr/>
        </p:nvSpPr>
        <p:spPr>
          <a:xfrm>
            <a:off x="548640" y="5900662"/>
            <a:ext cx="5413248" cy="274320"/>
          </a:xfrm>
          <a:prstGeom prst="rect">
            <a:avLst/>
          </a:prstGeom>
          <a:noFill/>
          <a:ln/>
        </p:spPr>
        <p:txBody>
          <a:bodyPr wrap="square" lIns="0" tIns="0" rIns="0" bIns="0" rtlCol="0" anchor="t"/>
          <a:lstStyle/>
          <a:p>
            <a:pPr indent="0" marL="0">
              <a:buNone/>
            </a:pPr>
            <a:r>
              <a:rPr lang="en-US" sz="1200" dirty="0">
                <a:solidFill>
                  <a:srgbClr val="9BA1AE"/>
                </a:solidFill>
                <a:latin typeface="Calibri" pitchFamily="34" charset="0"/>
                <a:ea typeface="Calibri" pitchFamily="34" charset="-122"/>
                <a:cs typeface="Calibri" pitchFamily="34" charset="-120"/>
              </a:rPr>
              <a:t>Run #3: image (frontend) failed at the scan; deploy skipped</a:t>
            </a:r>
            <a:endParaRPr lang="en-US" sz="1200" dirty="0"/>
          </a:p>
        </p:txBody>
      </p:sp>
      <p:sp>
        <p:nvSpPr>
          <p:cNvPr id="19" name="Shape 16"/>
          <p:cNvSpPr/>
          <p:nvPr/>
        </p:nvSpPr>
        <p:spPr>
          <a:xfrm>
            <a:off x="6229807" y="2788920"/>
            <a:ext cx="5413248" cy="3133296"/>
          </a:xfrm>
          <a:prstGeom prst="roundRect">
            <a:avLst>
              <a:gd name="adj" fmla="val 1751"/>
            </a:avLst>
          </a:prstGeom>
          <a:solidFill>
            <a:srgbClr val="171A21"/>
          </a:solidFill>
          <a:ln w="9525">
            <a:solidFill>
              <a:srgbClr val="2C313C"/>
            </a:solidFill>
            <a:prstDash val="solid"/>
          </a:ln>
        </p:spPr>
      </p:sp>
      <p:pic>
        <p:nvPicPr>
          <p:cNvPr id="20" name="Image 1" descr="Run #11: Scan with Trivy succeeds, then Log in to GHCR">    </p:cNvPr>
          <p:cNvPicPr>
            <a:picLocks noChangeAspect="1"/>
          </p:cNvPicPr>
          <p:nvPr/>
        </p:nvPicPr>
        <p:blipFill>
          <a:blip r:embed="rId2"/>
          <a:stretch>
            <a:fillRect/>
          </a:stretch>
        </p:blipFill>
        <p:spPr>
          <a:xfrm>
            <a:off x="6284671" y="2843784"/>
            <a:ext cx="5303520" cy="3023568"/>
          </a:xfrm>
          <a:prstGeom prst="rect">
            <a:avLst/>
          </a:prstGeom>
        </p:spPr>
      </p:pic>
      <p:sp>
        <p:nvSpPr>
          <p:cNvPr id="21" name="Text 17"/>
          <p:cNvSpPr/>
          <p:nvPr/>
        </p:nvSpPr>
        <p:spPr>
          <a:xfrm>
            <a:off x="6229807" y="5995368"/>
            <a:ext cx="5413248" cy="274320"/>
          </a:xfrm>
          <a:prstGeom prst="rect">
            <a:avLst/>
          </a:prstGeom>
          <a:noFill/>
          <a:ln/>
        </p:spPr>
        <p:txBody>
          <a:bodyPr wrap="square" lIns="0" tIns="0" rIns="0" bIns="0" rtlCol="0" anchor="t"/>
          <a:lstStyle/>
          <a:p>
            <a:pPr indent="0" marL="0">
              <a:buNone/>
            </a:pPr>
            <a:r>
              <a:rPr lang="en-US" sz="1200" dirty="0">
                <a:solidFill>
                  <a:srgbClr val="9BA1AE"/>
                </a:solidFill>
                <a:latin typeface="Calibri" pitchFamily="34" charset="0"/>
                <a:ea typeface="Calibri" pitchFamily="34" charset="-122"/>
                <a:cs typeface="Calibri" pitchFamily="34" charset="-120"/>
              </a:rPr>
              <a:t>Run #11: Scan with Trivy succeeds, then Log in to GHCR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014"/>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300" kern="0" dirty="0">
                <a:solidFill>
                  <a:srgbClr val="8B7BF0"/>
                </a:solidFill>
                <a:latin typeface="Calibri" pitchFamily="34" charset="0"/>
                <a:ea typeface="Calibri" pitchFamily="34" charset="-122"/>
                <a:cs typeface="Calibri" pitchFamily="34" charset="-120"/>
              </a:rPr>
              <a:t>REGISTRY &amp; TRACEABILITY</a:t>
            </a:r>
            <a:endParaRPr lang="en-US" sz="1200" dirty="0"/>
          </a:p>
        </p:txBody>
      </p:sp>
      <p:sp>
        <p:nvSpPr>
          <p:cNvPr id="3" name="Text 1"/>
          <p:cNvSpPr/>
          <p:nvPr/>
        </p:nvSpPr>
        <p:spPr>
          <a:xfrm>
            <a:off x="548640" y="676656"/>
            <a:ext cx="11064240" cy="603504"/>
          </a:xfrm>
          <a:prstGeom prst="rect">
            <a:avLst/>
          </a:prstGeom>
          <a:noFill/>
          <a:ln/>
        </p:spPr>
        <p:txBody>
          <a:bodyPr wrap="square" lIns="0" tIns="0" rIns="0" bIns="0" rtlCol="0" anchor="t"/>
          <a:lstStyle/>
          <a:p>
            <a:pPr indent="0" marL="0">
              <a:buNone/>
            </a:pPr>
            <a:r>
              <a:rPr lang="en-US" sz="3400" b="1" dirty="0">
                <a:solidFill>
                  <a:srgbClr val="E8EAF0"/>
                </a:solidFill>
                <a:latin typeface="Calibri" pitchFamily="34" charset="0"/>
                <a:ea typeface="Calibri" pitchFamily="34" charset="-122"/>
                <a:cs typeface="Calibri" pitchFamily="34" charset="-120"/>
              </a:rPr>
              <a:t>Every image is tagged with its commit SHA</a:t>
            </a:r>
            <a:endParaRPr lang="en-US" sz="3400" dirty="0"/>
          </a:p>
        </p:txBody>
      </p:sp>
      <p:sp>
        <p:nvSpPr>
          <p:cNvPr id="4" name="Shape 2"/>
          <p:cNvSpPr/>
          <p:nvPr/>
        </p:nvSpPr>
        <p:spPr>
          <a:xfrm>
            <a:off x="548640" y="1463040"/>
            <a:ext cx="6035040" cy="2629553"/>
          </a:xfrm>
          <a:prstGeom prst="roundRect">
            <a:avLst>
              <a:gd name="adj" fmla="val 2086"/>
            </a:avLst>
          </a:prstGeom>
          <a:solidFill>
            <a:srgbClr val="171A21"/>
          </a:solidFill>
          <a:ln w="9525">
            <a:solidFill>
              <a:srgbClr val="2C313C"/>
            </a:solidFill>
            <a:prstDash val="solid"/>
          </a:ln>
        </p:spPr>
      </p:sp>
      <p:pic>
        <p:nvPicPr>
          <p:cNvPr id="5" name="Image 0" descr="GHCR: three packages published from the repo">    </p:cNvPr>
          <p:cNvPicPr>
            <a:picLocks noChangeAspect="1"/>
          </p:cNvPicPr>
          <p:nvPr/>
        </p:nvPicPr>
        <p:blipFill>
          <a:blip r:embed="rId1"/>
          <a:stretch>
            <a:fillRect/>
          </a:stretch>
        </p:blipFill>
        <p:spPr>
          <a:xfrm>
            <a:off x="603504" y="1517904"/>
            <a:ext cx="5925312" cy="2519825"/>
          </a:xfrm>
          <a:prstGeom prst="rect">
            <a:avLst/>
          </a:prstGeom>
        </p:spPr>
      </p:pic>
      <p:sp>
        <p:nvSpPr>
          <p:cNvPr id="6" name="Text 3"/>
          <p:cNvSpPr/>
          <p:nvPr/>
        </p:nvSpPr>
        <p:spPr>
          <a:xfrm>
            <a:off x="548640" y="4165745"/>
            <a:ext cx="6035040" cy="274320"/>
          </a:xfrm>
          <a:prstGeom prst="rect">
            <a:avLst/>
          </a:prstGeom>
          <a:noFill/>
          <a:ln/>
        </p:spPr>
        <p:txBody>
          <a:bodyPr wrap="square" lIns="0" tIns="0" rIns="0" bIns="0" rtlCol="0" anchor="t"/>
          <a:lstStyle/>
          <a:p>
            <a:pPr indent="0" marL="0">
              <a:buNone/>
            </a:pPr>
            <a:r>
              <a:rPr lang="en-US" sz="1200" dirty="0">
                <a:solidFill>
                  <a:srgbClr val="9BA1AE"/>
                </a:solidFill>
                <a:latin typeface="Calibri" pitchFamily="34" charset="0"/>
                <a:ea typeface="Calibri" pitchFamily="34" charset="-122"/>
                <a:cs typeface="Calibri" pitchFamily="34" charset="-120"/>
              </a:rPr>
              <a:t>GHCR: three packages published from the repo</a:t>
            </a:r>
            <a:endParaRPr lang="en-US" sz="1200" dirty="0"/>
          </a:p>
        </p:txBody>
      </p:sp>
      <p:sp>
        <p:nvSpPr>
          <p:cNvPr id="7" name="Shape 4"/>
          <p:cNvSpPr/>
          <p:nvPr/>
        </p:nvSpPr>
        <p:spPr>
          <a:xfrm>
            <a:off x="6796735" y="1463040"/>
            <a:ext cx="4846320" cy="2634657"/>
          </a:xfrm>
          <a:prstGeom prst="roundRect">
            <a:avLst>
              <a:gd name="adj" fmla="val 2082"/>
            </a:avLst>
          </a:prstGeom>
          <a:solidFill>
            <a:srgbClr val="171A21"/>
          </a:solidFill>
          <a:ln w="9525">
            <a:solidFill>
              <a:srgbClr val="2C313C"/>
            </a:solidFill>
            <a:prstDash val="solid"/>
          </a:ln>
        </p:spPr>
      </p:sp>
      <p:pic>
        <p:nvPicPr>
          <p:cNvPr id="8" name="Image 1" descr="Backend versions, each tag a full commit SHA">    </p:cNvPr>
          <p:cNvPicPr>
            <a:picLocks noChangeAspect="1"/>
          </p:cNvPicPr>
          <p:nvPr/>
        </p:nvPicPr>
        <p:blipFill>
          <a:blip r:embed="rId2"/>
          <a:stretch>
            <a:fillRect/>
          </a:stretch>
        </p:blipFill>
        <p:spPr>
          <a:xfrm>
            <a:off x="6851599" y="1517904"/>
            <a:ext cx="4736592" cy="2524929"/>
          </a:xfrm>
          <a:prstGeom prst="rect">
            <a:avLst/>
          </a:prstGeom>
        </p:spPr>
      </p:pic>
      <p:sp>
        <p:nvSpPr>
          <p:cNvPr id="9" name="Text 5"/>
          <p:cNvSpPr/>
          <p:nvPr/>
        </p:nvSpPr>
        <p:spPr>
          <a:xfrm>
            <a:off x="6796735" y="4170849"/>
            <a:ext cx="4846320" cy="274320"/>
          </a:xfrm>
          <a:prstGeom prst="rect">
            <a:avLst/>
          </a:prstGeom>
          <a:noFill/>
          <a:ln/>
        </p:spPr>
        <p:txBody>
          <a:bodyPr wrap="square" lIns="0" tIns="0" rIns="0" bIns="0" rtlCol="0" anchor="t"/>
          <a:lstStyle/>
          <a:p>
            <a:pPr indent="0" marL="0">
              <a:buNone/>
            </a:pPr>
            <a:r>
              <a:rPr lang="en-US" sz="1200" dirty="0">
                <a:solidFill>
                  <a:srgbClr val="9BA1AE"/>
                </a:solidFill>
                <a:latin typeface="Calibri" pitchFamily="34" charset="0"/>
                <a:ea typeface="Calibri" pitchFamily="34" charset="-122"/>
                <a:cs typeface="Calibri" pitchFamily="34" charset="-120"/>
              </a:rPr>
              <a:t>Backend versions, each tag a full commit SHA</a:t>
            </a:r>
            <a:endParaRPr lang="en-US" sz="1200" dirty="0"/>
          </a:p>
        </p:txBody>
      </p:sp>
      <p:sp>
        <p:nvSpPr>
          <p:cNvPr id="10" name="Shape 6"/>
          <p:cNvSpPr/>
          <p:nvPr/>
        </p:nvSpPr>
        <p:spPr>
          <a:xfrm>
            <a:off x="548640" y="4668665"/>
            <a:ext cx="11091672" cy="1271838"/>
          </a:xfrm>
          <a:prstGeom prst="roundRect">
            <a:avLst>
              <a:gd name="adj" fmla="val 4314"/>
            </a:avLst>
          </a:prstGeom>
          <a:solidFill>
            <a:srgbClr val="171A21"/>
          </a:solidFill>
          <a:ln w="9525">
            <a:solidFill>
              <a:srgbClr val="2C313C"/>
            </a:solidFill>
            <a:prstDash val="solid"/>
          </a:ln>
        </p:spPr>
      </p:sp>
      <p:pic>
        <p:nvPicPr>
          <p:cNvPr id="11" name="Image 2" descr="kubectl get deploy -o wide: the cluster runs ghcr.io/joe-daniel29/campus-patrol-*:2378e70…, the latest main commit">    </p:cNvPr>
          <p:cNvPicPr>
            <a:picLocks noChangeAspect="1"/>
          </p:cNvPicPr>
          <p:nvPr/>
        </p:nvPicPr>
        <p:blipFill>
          <a:blip r:embed="rId3"/>
          <a:stretch>
            <a:fillRect/>
          </a:stretch>
        </p:blipFill>
        <p:spPr>
          <a:xfrm>
            <a:off x="603504" y="4723529"/>
            <a:ext cx="10981944" cy="1162110"/>
          </a:xfrm>
          <a:prstGeom prst="rect">
            <a:avLst/>
          </a:prstGeom>
        </p:spPr>
      </p:pic>
      <p:sp>
        <p:nvSpPr>
          <p:cNvPr id="12" name="Text 7"/>
          <p:cNvSpPr/>
          <p:nvPr/>
        </p:nvSpPr>
        <p:spPr>
          <a:xfrm>
            <a:off x="548640" y="6013656"/>
            <a:ext cx="11091672" cy="274320"/>
          </a:xfrm>
          <a:prstGeom prst="rect">
            <a:avLst/>
          </a:prstGeom>
          <a:noFill/>
          <a:ln/>
        </p:spPr>
        <p:txBody>
          <a:bodyPr wrap="square" lIns="0" tIns="0" rIns="0" bIns="0" rtlCol="0" anchor="t"/>
          <a:lstStyle/>
          <a:p>
            <a:pPr indent="0" marL="0">
              <a:buNone/>
            </a:pPr>
            <a:r>
              <a:rPr lang="en-US" sz="1200" dirty="0">
                <a:solidFill>
                  <a:srgbClr val="9BA1AE"/>
                </a:solidFill>
                <a:latin typeface="Calibri" pitchFamily="34" charset="0"/>
                <a:ea typeface="Calibri" pitchFamily="34" charset="-122"/>
                <a:cs typeface="Calibri" pitchFamily="34" charset="-120"/>
              </a:rPr>
              <a:t>kubectl get deploy -o wide: the cluster runs ghcr.io/joe-daniel29/campus-patrol-*:2378e70…, the latest main commit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014"/>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300" kern="0" dirty="0">
                <a:solidFill>
                  <a:srgbClr val="8B7BF0"/>
                </a:solidFill>
                <a:latin typeface="Calibri" pitchFamily="34" charset="0"/>
                <a:ea typeface="Calibri" pitchFamily="34" charset="-122"/>
                <a:cs typeface="Calibri" pitchFamily="34" charset="-120"/>
              </a:rPr>
              <a:t>INFRASTRUCTURE AS CODE</a:t>
            </a:r>
            <a:endParaRPr lang="en-US" sz="1200" dirty="0"/>
          </a:p>
        </p:txBody>
      </p:sp>
      <p:sp>
        <p:nvSpPr>
          <p:cNvPr id="3" name="Text 1"/>
          <p:cNvSpPr/>
          <p:nvPr/>
        </p:nvSpPr>
        <p:spPr>
          <a:xfrm>
            <a:off x="548640" y="676656"/>
            <a:ext cx="11064240" cy="603504"/>
          </a:xfrm>
          <a:prstGeom prst="rect">
            <a:avLst/>
          </a:prstGeom>
          <a:noFill/>
          <a:ln/>
        </p:spPr>
        <p:txBody>
          <a:bodyPr wrap="square" lIns="0" tIns="0" rIns="0" bIns="0" rtlCol="0" anchor="t"/>
          <a:lstStyle/>
          <a:p>
            <a:pPr indent="0" marL="0">
              <a:buNone/>
            </a:pPr>
            <a:r>
              <a:rPr lang="en-US" sz="3400" b="1" dirty="0">
                <a:solidFill>
                  <a:srgbClr val="E8EAF0"/>
                </a:solidFill>
                <a:latin typeface="Calibri" pitchFamily="34" charset="0"/>
                <a:ea typeface="Calibri" pitchFamily="34" charset="-122"/>
                <a:cs typeface="Calibri" pitchFamily="34" charset="-120"/>
              </a:rPr>
              <a:t>Terraform builds the VPC and EKS cluster on AWS</a:t>
            </a:r>
            <a:endParaRPr lang="en-US" sz="3400" dirty="0"/>
          </a:p>
        </p:txBody>
      </p:sp>
      <p:sp>
        <p:nvSpPr>
          <p:cNvPr id="4" name="Shape 2"/>
          <p:cNvSpPr/>
          <p:nvPr/>
        </p:nvSpPr>
        <p:spPr>
          <a:xfrm>
            <a:off x="548640" y="1463040"/>
            <a:ext cx="5760720" cy="3281141"/>
          </a:xfrm>
          <a:prstGeom prst="roundRect">
            <a:avLst>
              <a:gd name="adj" fmla="val 1672"/>
            </a:avLst>
          </a:prstGeom>
          <a:solidFill>
            <a:srgbClr val="171A21"/>
          </a:solidFill>
          <a:ln w="9525">
            <a:solidFill>
              <a:srgbClr val="2C313C"/>
            </a:solidFill>
            <a:prstDash val="solid"/>
          </a:ln>
        </p:spPr>
      </p:sp>
      <p:pic>
        <p:nvPicPr>
          <p:cNvPr id="5" name="Image 0" descr="terraform plan: 59 to add, 0 to change, 0 to destroy">    </p:cNvPr>
          <p:cNvPicPr>
            <a:picLocks noChangeAspect="1"/>
          </p:cNvPicPr>
          <p:nvPr/>
        </p:nvPicPr>
        <p:blipFill>
          <a:blip r:embed="rId1"/>
          <a:stretch>
            <a:fillRect/>
          </a:stretch>
        </p:blipFill>
        <p:spPr>
          <a:xfrm>
            <a:off x="603504" y="1517904"/>
            <a:ext cx="5650992" cy="3171413"/>
          </a:xfrm>
          <a:prstGeom prst="rect">
            <a:avLst/>
          </a:prstGeom>
        </p:spPr>
      </p:pic>
      <p:sp>
        <p:nvSpPr>
          <p:cNvPr id="6" name="Text 3"/>
          <p:cNvSpPr/>
          <p:nvPr/>
        </p:nvSpPr>
        <p:spPr>
          <a:xfrm>
            <a:off x="548640" y="4817333"/>
            <a:ext cx="5760720" cy="274320"/>
          </a:xfrm>
          <a:prstGeom prst="rect">
            <a:avLst/>
          </a:prstGeom>
          <a:noFill/>
          <a:ln/>
        </p:spPr>
        <p:txBody>
          <a:bodyPr wrap="square" lIns="0" tIns="0" rIns="0" bIns="0" rtlCol="0" anchor="t"/>
          <a:lstStyle/>
          <a:p>
            <a:pPr indent="0" marL="0">
              <a:buNone/>
            </a:pPr>
            <a:r>
              <a:rPr lang="en-US" sz="1200" dirty="0">
                <a:solidFill>
                  <a:srgbClr val="9BA1AE"/>
                </a:solidFill>
                <a:latin typeface="Calibri" pitchFamily="34" charset="0"/>
                <a:ea typeface="Calibri" pitchFamily="34" charset="-122"/>
                <a:cs typeface="Calibri" pitchFamily="34" charset="-120"/>
              </a:rPr>
              <a:t>terraform plan: 59 to add, 0 to change, 0 to destroy</a:t>
            </a:r>
            <a:endParaRPr lang="en-US" sz="1200" dirty="0"/>
          </a:p>
        </p:txBody>
      </p:sp>
      <p:sp>
        <p:nvSpPr>
          <p:cNvPr id="7" name="Text 4"/>
          <p:cNvSpPr/>
          <p:nvPr/>
        </p:nvSpPr>
        <p:spPr>
          <a:xfrm>
            <a:off x="6720840" y="1508760"/>
            <a:ext cx="4922215" cy="2286000"/>
          </a:xfrm>
          <a:prstGeom prst="rect">
            <a:avLst/>
          </a:prstGeom>
          <a:noFill/>
          <a:ln/>
        </p:spPr>
        <p:txBody>
          <a:bodyPr wrap="square" lIns="0" tIns="0" rIns="0" bIns="0" rtlCol="0" anchor="t"/>
          <a:lstStyle/>
          <a:p>
            <a:pPr marL="203200" indent="-203200">
              <a:spcAft>
                <a:spcPts val="1000"/>
              </a:spcAft>
              <a:buClr>
                <a:srgbClr val="8B7BF0"/>
              </a:buClr>
              <a:buSzPct val="100000"/>
              <a:buChar char="•"/>
            </a:pPr>
            <a:r>
              <a:rPr lang="en-US" sz="1500" b="1" dirty="0">
                <a:solidFill>
                  <a:srgbClr val="E8EAF0"/>
                </a:solidFill>
                <a:latin typeface="Calibri" pitchFamily="34" charset="0"/>
                <a:ea typeface="Calibri" pitchFamily="34" charset="-122"/>
                <a:cs typeface="Calibri" pitchFamily="34" charset="-120"/>
              </a:rPr>
              <a:t>Region: </a:t>
            </a:r>
            <a:pPr indent="0" marL="0">
              <a:buNone/>
            </a:pPr>
            <a:r>
              <a:rPr lang="en-US" sz="1500" dirty="0">
                <a:solidFill>
                  <a:srgbClr val="9BA1AE"/>
                </a:solidFill>
                <a:latin typeface="Calibri" pitchFamily="34" charset="0"/>
                <a:ea typeface="Calibri" pitchFamily="34" charset="-122"/>
                <a:cs typeface="Calibri" pitchFamily="34" charset="-120"/>
              </a:rPr>
              <a:t>ap-south-1 (Mumbai)</a:t>
            </a:r>
            <a:endParaRPr lang="en-US" sz="1500" dirty="0"/>
          </a:p>
          <a:p>
            <a:pPr marL="203200" indent="-203200">
              <a:spcAft>
                <a:spcPts val="1000"/>
              </a:spcAft>
              <a:buClr>
                <a:srgbClr val="8B7BF0"/>
              </a:buClr>
              <a:buSzPct val="100000"/>
              <a:buChar char="•"/>
            </a:pPr>
            <a:r>
              <a:rPr lang="en-US" sz="1500" b="1" dirty="0">
                <a:solidFill>
                  <a:srgbClr val="E8EAF0"/>
                </a:solidFill>
                <a:latin typeface="Calibri" pitchFamily="34" charset="0"/>
                <a:ea typeface="Calibri" pitchFamily="34" charset="-122"/>
                <a:cs typeface="Calibri" pitchFamily="34" charset="-120"/>
              </a:rPr>
              <a:t>VPC 10.20.0.0/16: </a:t>
            </a:r>
            <a:pPr indent="0" marL="0">
              <a:buNone/>
            </a:pPr>
            <a:r>
              <a:rPr lang="en-US" sz="1500" dirty="0">
                <a:solidFill>
                  <a:srgbClr val="9BA1AE"/>
                </a:solidFill>
                <a:latin typeface="Calibri" pitchFamily="34" charset="0"/>
                <a:ea typeface="Calibri" pitchFamily="34" charset="-122"/>
                <a:cs typeface="Calibri" pitchFamily="34" charset="-120"/>
              </a:rPr>
              <a:t>2 public + 2 private subnets across 2 AZs, single NAT gateway</a:t>
            </a:r>
            <a:endParaRPr lang="en-US" sz="1500" dirty="0"/>
          </a:p>
          <a:p>
            <a:pPr marL="203200" indent="-203200">
              <a:spcAft>
                <a:spcPts val="1000"/>
              </a:spcAft>
              <a:buClr>
                <a:srgbClr val="8B7BF0"/>
              </a:buClr>
              <a:buSzPct val="100000"/>
              <a:buChar char="•"/>
            </a:pPr>
            <a:r>
              <a:rPr lang="en-US" sz="1500" b="1" dirty="0">
                <a:solidFill>
                  <a:srgbClr val="E8EAF0"/>
                </a:solidFill>
                <a:latin typeface="Calibri" pitchFamily="34" charset="0"/>
                <a:ea typeface="Calibri" pitchFamily="34" charset="-122"/>
                <a:cs typeface="Calibri" pitchFamily="34" charset="-120"/>
              </a:rPr>
              <a:t>EKS 1.31: </a:t>
            </a:r>
            <a:pPr indent="0" marL="0">
              <a:buNone/>
            </a:pPr>
            <a:r>
              <a:rPr lang="en-US" sz="1500" dirty="0">
                <a:solidFill>
                  <a:srgbClr val="9BA1AE"/>
                </a:solidFill>
                <a:latin typeface="Calibri" pitchFamily="34" charset="0"/>
                <a:ea typeface="Calibri" pitchFamily="34" charset="-122"/>
                <a:cs typeface="Calibri" pitchFamily="34" charset="-120"/>
              </a:rPr>
              <a:t>managed node group, 3 × t3.medium (min 3, max 5)</a:t>
            </a:r>
            <a:endParaRPr lang="en-US" sz="1500" dirty="0"/>
          </a:p>
          <a:p>
            <a:pPr marL="203200" indent="-203200">
              <a:spcAft>
                <a:spcPts val="1000"/>
              </a:spcAft>
              <a:buClr>
                <a:srgbClr val="8B7BF0"/>
              </a:buClr>
              <a:buSzPct val="100000"/>
              <a:buChar char="•"/>
            </a:pPr>
            <a:r>
              <a:rPr lang="en-US" sz="1500" b="1" dirty="0">
                <a:solidFill>
                  <a:srgbClr val="E8EAF0"/>
                </a:solidFill>
                <a:latin typeface="Calibri" pitchFamily="34" charset="0"/>
                <a:ea typeface="Calibri" pitchFamily="34" charset="-122"/>
                <a:cs typeface="Calibri" pitchFamily="34" charset="-120"/>
              </a:rPr>
              <a:t>Add-ons: </a:t>
            </a:r>
            <a:pPr indent="0" marL="0">
              <a:buNone/>
            </a:pPr>
            <a:r>
              <a:rPr lang="en-US" sz="1500" dirty="0">
                <a:solidFill>
                  <a:srgbClr val="9BA1AE"/>
                </a:solidFill>
                <a:latin typeface="Calibri" pitchFamily="34" charset="0"/>
                <a:ea typeface="Calibri" pitchFamily="34" charset="-122"/>
                <a:cs typeface="Calibri" pitchFamily="34" charset="-120"/>
              </a:rPr>
              <a:t>coredns, kube-proxy, vpc-cni, aws-ebs-csi-driver</a:t>
            </a:r>
            <a:endParaRPr lang="en-US" sz="1500" dirty="0"/>
          </a:p>
        </p:txBody>
      </p:sp>
      <p:sp>
        <p:nvSpPr>
          <p:cNvPr id="8" name="Shape 5"/>
          <p:cNvSpPr/>
          <p:nvPr/>
        </p:nvSpPr>
        <p:spPr>
          <a:xfrm>
            <a:off x="6720840" y="3931920"/>
            <a:ext cx="4922215" cy="1589568"/>
          </a:xfrm>
          <a:prstGeom prst="roundRect">
            <a:avLst>
              <a:gd name="adj" fmla="val 3452"/>
            </a:avLst>
          </a:prstGeom>
          <a:solidFill>
            <a:srgbClr val="171A21"/>
          </a:solidFill>
          <a:ln w="9525">
            <a:solidFill>
              <a:srgbClr val="2C313C"/>
            </a:solidFill>
            <a:prstDash val="solid"/>
          </a:ln>
        </p:spPr>
      </p:sp>
      <p:pic>
        <p:nvPicPr>
          <p:cNvPr id="9" name="Image 1" descr="AWS console: the VPC and EKS cluster, Active on 1.31">    </p:cNvPr>
          <p:cNvPicPr>
            <a:picLocks noChangeAspect="1"/>
          </p:cNvPicPr>
          <p:nvPr/>
        </p:nvPicPr>
        <p:blipFill>
          <a:blip r:embed="rId2"/>
          <a:stretch>
            <a:fillRect/>
          </a:stretch>
        </p:blipFill>
        <p:spPr>
          <a:xfrm>
            <a:off x="6775704" y="3986784"/>
            <a:ext cx="4812487" cy="1479840"/>
          </a:xfrm>
          <a:prstGeom prst="rect">
            <a:avLst/>
          </a:prstGeom>
        </p:spPr>
      </p:pic>
      <p:sp>
        <p:nvSpPr>
          <p:cNvPr id="10" name="Text 6"/>
          <p:cNvSpPr/>
          <p:nvPr/>
        </p:nvSpPr>
        <p:spPr>
          <a:xfrm>
            <a:off x="6720840" y="5594640"/>
            <a:ext cx="4922215" cy="274320"/>
          </a:xfrm>
          <a:prstGeom prst="rect">
            <a:avLst/>
          </a:prstGeom>
          <a:noFill/>
          <a:ln/>
        </p:spPr>
        <p:txBody>
          <a:bodyPr wrap="square" lIns="0" tIns="0" rIns="0" bIns="0" rtlCol="0" anchor="t"/>
          <a:lstStyle/>
          <a:p>
            <a:pPr indent="0" marL="0">
              <a:buNone/>
            </a:pPr>
            <a:r>
              <a:rPr lang="en-US" sz="1200" dirty="0">
                <a:solidFill>
                  <a:srgbClr val="9BA1AE"/>
                </a:solidFill>
                <a:latin typeface="Calibri" pitchFamily="34" charset="0"/>
                <a:ea typeface="Calibri" pitchFamily="34" charset="-122"/>
                <a:cs typeface="Calibri" pitchFamily="34" charset="-120"/>
              </a:rPr>
              <a:t>AWS console: the VPC and EKS cluster, Active on 1.31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014"/>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300" kern="0" dirty="0">
                <a:solidFill>
                  <a:srgbClr val="8B7BF0"/>
                </a:solidFill>
                <a:latin typeface="Calibri" pitchFamily="34" charset="0"/>
                <a:ea typeface="Calibri" pitchFamily="34" charset="-122"/>
                <a:cs typeface="Calibri" pitchFamily="34" charset="-120"/>
              </a:rPr>
              <a:t>KUBERNETES &amp; HELM</a:t>
            </a:r>
            <a:endParaRPr lang="en-US" sz="1200" dirty="0"/>
          </a:p>
        </p:txBody>
      </p:sp>
      <p:sp>
        <p:nvSpPr>
          <p:cNvPr id="3" name="Text 1"/>
          <p:cNvSpPr/>
          <p:nvPr/>
        </p:nvSpPr>
        <p:spPr>
          <a:xfrm>
            <a:off x="548640" y="676656"/>
            <a:ext cx="11064240" cy="603504"/>
          </a:xfrm>
          <a:prstGeom prst="rect">
            <a:avLst/>
          </a:prstGeom>
          <a:noFill/>
          <a:ln/>
        </p:spPr>
        <p:txBody>
          <a:bodyPr wrap="square" lIns="0" tIns="0" rIns="0" bIns="0" rtlCol="0" anchor="t"/>
          <a:lstStyle/>
          <a:p>
            <a:pPr indent="0" marL="0">
              <a:buNone/>
            </a:pPr>
            <a:r>
              <a:rPr lang="en-US" sz="3400" b="1" dirty="0">
                <a:solidFill>
                  <a:srgbClr val="E8EAF0"/>
                </a:solidFill>
                <a:latin typeface="Calibri" pitchFamily="34" charset="0"/>
                <a:ea typeface="Calibri" pitchFamily="34" charset="-122"/>
                <a:cs typeface="Calibri" pitchFamily="34" charset="-120"/>
              </a:rPr>
              <a:t>One Helm chart deploys the whole application</a:t>
            </a:r>
            <a:endParaRPr lang="en-US" sz="3400" dirty="0"/>
          </a:p>
        </p:txBody>
      </p:sp>
      <p:sp>
        <p:nvSpPr>
          <p:cNvPr id="4" name="Shape 2"/>
          <p:cNvSpPr/>
          <p:nvPr/>
        </p:nvSpPr>
        <p:spPr>
          <a:xfrm>
            <a:off x="548640" y="1463040"/>
            <a:ext cx="7772400" cy="2745038"/>
          </a:xfrm>
          <a:prstGeom prst="roundRect">
            <a:avLst>
              <a:gd name="adj" fmla="val 1999"/>
            </a:avLst>
          </a:prstGeom>
          <a:solidFill>
            <a:srgbClr val="171A21"/>
          </a:solidFill>
          <a:ln w="9525">
            <a:solidFill>
              <a:srgbClr val="2C313C"/>
            </a:solidFill>
            <a:prstDash val="solid"/>
          </a:ln>
        </p:spPr>
      </p:sp>
      <p:pic>
        <p:nvPicPr>
          <p:cNvPr id="5" name="Image 0" descr="kubectl: pods Running, ClusterIP Services, Ingress on the ELB, HPA 18%/60%, Helm rev 10">    </p:cNvPr>
          <p:cNvPicPr>
            <a:picLocks noChangeAspect="1"/>
          </p:cNvPicPr>
          <p:nvPr/>
        </p:nvPicPr>
        <p:blipFill>
          <a:blip r:embed="rId1"/>
          <a:stretch>
            <a:fillRect/>
          </a:stretch>
        </p:blipFill>
        <p:spPr>
          <a:xfrm>
            <a:off x="603504" y="1517904"/>
            <a:ext cx="7662672" cy="2635310"/>
          </a:xfrm>
          <a:prstGeom prst="rect">
            <a:avLst/>
          </a:prstGeom>
        </p:spPr>
      </p:pic>
      <p:sp>
        <p:nvSpPr>
          <p:cNvPr id="6" name="Text 3"/>
          <p:cNvSpPr/>
          <p:nvPr/>
        </p:nvSpPr>
        <p:spPr>
          <a:xfrm>
            <a:off x="548640" y="4281230"/>
            <a:ext cx="7772400" cy="274320"/>
          </a:xfrm>
          <a:prstGeom prst="rect">
            <a:avLst/>
          </a:prstGeom>
          <a:noFill/>
          <a:ln/>
        </p:spPr>
        <p:txBody>
          <a:bodyPr wrap="square" lIns="0" tIns="0" rIns="0" bIns="0" rtlCol="0" anchor="t"/>
          <a:lstStyle/>
          <a:p>
            <a:pPr indent="0" marL="0">
              <a:buNone/>
            </a:pPr>
            <a:r>
              <a:rPr lang="en-US" sz="1200" dirty="0">
                <a:solidFill>
                  <a:srgbClr val="9BA1AE"/>
                </a:solidFill>
                <a:latin typeface="Calibri" pitchFamily="34" charset="0"/>
                <a:ea typeface="Calibri" pitchFamily="34" charset="-122"/>
                <a:cs typeface="Calibri" pitchFamily="34" charset="-120"/>
              </a:rPr>
              <a:t>kubectl: pods Running, ClusterIP Services, Ingress on the ELB, HPA 18%/60%, Helm rev 10</a:t>
            </a:r>
            <a:endParaRPr lang="en-US" sz="1200" dirty="0"/>
          </a:p>
        </p:txBody>
      </p:sp>
      <p:sp>
        <p:nvSpPr>
          <p:cNvPr id="7" name="Shape 4"/>
          <p:cNvSpPr/>
          <p:nvPr/>
        </p:nvSpPr>
        <p:spPr>
          <a:xfrm>
            <a:off x="548640" y="4829870"/>
            <a:ext cx="1771650" cy="1479490"/>
          </a:xfrm>
          <a:prstGeom prst="roundRect">
            <a:avLst>
              <a:gd name="adj" fmla="val 4944"/>
            </a:avLst>
          </a:prstGeom>
          <a:solidFill>
            <a:srgbClr val="171A21"/>
          </a:solidFill>
          <a:ln w="9525">
            <a:solidFill>
              <a:srgbClr val="2C313C"/>
            </a:solidFill>
            <a:prstDash val="solid"/>
          </a:ln>
        </p:spPr>
      </p:sp>
      <p:sp>
        <p:nvSpPr>
          <p:cNvPr id="8" name="Text 5"/>
          <p:cNvSpPr/>
          <p:nvPr/>
        </p:nvSpPr>
        <p:spPr>
          <a:xfrm>
            <a:off x="731520" y="4967030"/>
            <a:ext cx="1405890" cy="502920"/>
          </a:xfrm>
          <a:prstGeom prst="rect">
            <a:avLst/>
          </a:prstGeom>
          <a:noFill/>
          <a:ln/>
        </p:spPr>
        <p:txBody>
          <a:bodyPr wrap="square" lIns="0" tIns="0" rIns="0" bIns="0" rtlCol="0" anchor="t"/>
          <a:lstStyle/>
          <a:p>
            <a:pPr indent="0" marL="0">
              <a:buNone/>
            </a:pPr>
            <a:r>
              <a:rPr lang="en-US" sz="2800" b="1" dirty="0">
                <a:solidFill>
                  <a:srgbClr val="8B7BF0"/>
                </a:solidFill>
                <a:latin typeface="Calibri" pitchFamily="34" charset="0"/>
                <a:ea typeface="Calibri" pitchFamily="34" charset="-122"/>
                <a:cs typeface="Calibri" pitchFamily="34" charset="-120"/>
              </a:rPr>
              <a:t>2 – 6</a:t>
            </a:r>
            <a:endParaRPr lang="en-US" sz="2800" dirty="0"/>
          </a:p>
        </p:txBody>
      </p:sp>
      <p:sp>
        <p:nvSpPr>
          <p:cNvPr id="9" name="Text 6"/>
          <p:cNvSpPr/>
          <p:nvPr/>
        </p:nvSpPr>
        <p:spPr>
          <a:xfrm>
            <a:off x="731520" y="5488238"/>
            <a:ext cx="1405890" cy="702250"/>
          </a:xfrm>
          <a:prstGeom prst="rect">
            <a:avLst/>
          </a:prstGeom>
          <a:noFill/>
          <a:ln/>
        </p:spPr>
        <p:txBody>
          <a:bodyPr wrap="square" lIns="0" tIns="0" rIns="0" bIns="0" rtlCol="0" anchor="t"/>
          <a:lstStyle/>
          <a:p>
            <a:pPr indent="0" marL="0">
              <a:buNone/>
            </a:pPr>
            <a:r>
              <a:rPr lang="en-US" sz="1400" dirty="0">
                <a:solidFill>
                  <a:srgbClr val="9BA1AE"/>
                </a:solidFill>
                <a:latin typeface="Calibri" pitchFamily="34" charset="0"/>
                <a:ea typeface="Calibri" pitchFamily="34" charset="-122"/>
                <a:cs typeface="Calibri" pitchFamily="34" charset="-120"/>
              </a:rPr>
              <a:t>backend replicas (HPA at 60% CPU)</a:t>
            </a:r>
            <a:endParaRPr lang="en-US" sz="1400" dirty="0"/>
          </a:p>
        </p:txBody>
      </p:sp>
      <p:sp>
        <p:nvSpPr>
          <p:cNvPr id="10" name="Shape 7"/>
          <p:cNvSpPr/>
          <p:nvPr/>
        </p:nvSpPr>
        <p:spPr>
          <a:xfrm>
            <a:off x="2548890" y="4829870"/>
            <a:ext cx="1771650" cy="1479490"/>
          </a:xfrm>
          <a:prstGeom prst="roundRect">
            <a:avLst>
              <a:gd name="adj" fmla="val 4944"/>
            </a:avLst>
          </a:prstGeom>
          <a:solidFill>
            <a:srgbClr val="171A21"/>
          </a:solidFill>
          <a:ln w="9525">
            <a:solidFill>
              <a:srgbClr val="2C313C"/>
            </a:solidFill>
            <a:prstDash val="solid"/>
          </a:ln>
        </p:spPr>
      </p:sp>
      <p:sp>
        <p:nvSpPr>
          <p:cNvPr id="11" name="Text 8"/>
          <p:cNvSpPr/>
          <p:nvPr/>
        </p:nvSpPr>
        <p:spPr>
          <a:xfrm>
            <a:off x="2731770" y="4967030"/>
            <a:ext cx="1405890" cy="502920"/>
          </a:xfrm>
          <a:prstGeom prst="rect">
            <a:avLst/>
          </a:prstGeom>
          <a:noFill/>
          <a:ln/>
        </p:spPr>
        <p:txBody>
          <a:bodyPr wrap="square" lIns="0" tIns="0" rIns="0" bIns="0" rtlCol="0" anchor="t"/>
          <a:lstStyle/>
          <a:p>
            <a:pPr indent="0" marL="0">
              <a:buNone/>
            </a:pPr>
            <a:r>
              <a:rPr lang="en-US" sz="2800" b="1" dirty="0">
                <a:solidFill>
                  <a:srgbClr val="8B7BF0"/>
                </a:solidFill>
                <a:latin typeface="Calibri" pitchFamily="34" charset="0"/>
                <a:ea typeface="Calibri" pitchFamily="34" charset="-122"/>
                <a:cs typeface="Calibri" pitchFamily="34" charset="-120"/>
              </a:rPr>
              <a:t>2</a:t>
            </a:r>
            <a:endParaRPr lang="en-US" sz="2800" dirty="0"/>
          </a:p>
        </p:txBody>
      </p:sp>
      <p:sp>
        <p:nvSpPr>
          <p:cNvPr id="12" name="Text 9"/>
          <p:cNvSpPr/>
          <p:nvPr/>
        </p:nvSpPr>
        <p:spPr>
          <a:xfrm>
            <a:off x="2731770" y="5488238"/>
            <a:ext cx="1405890" cy="702250"/>
          </a:xfrm>
          <a:prstGeom prst="rect">
            <a:avLst/>
          </a:prstGeom>
          <a:noFill/>
          <a:ln/>
        </p:spPr>
        <p:txBody>
          <a:bodyPr wrap="square" lIns="0" tIns="0" rIns="0" bIns="0" rtlCol="0" anchor="t"/>
          <a:lstStyle/>
          <a:p>
            <a:pPr indent="0" marL="0">
              <a:buNone/>
            </a:pPr>
            <a:r>
              <a:rPr lang="en-US" sz="1400" dirty="0">
                <a:solidFill>
                  <a:srgbClr val="9BA1AE"/>
                </a:solidFill>
                <a:latin typeface="Calibri" pitchFamily="34" charset="0"/>
                <a:ea typeface="Calibri" pitchFamily="34" charset="-122"/>
                <a:cs typeface="Calibri" pitchFamily="34" charset="-120"/>
              </a:rPr>
              <a:t>frontend replicas</a:t>
            </a:r>
            <a:endParaRPr lang="en-US" sz="1400" dirty="0"/>
          </a:p>
        </p:txBody>
      </p:sp>
      <p:sp>
        <p:nvSpPr>
          <p:cNvPr id="13" name="Shape 10"/>
          <p:cNvSpPr/>
          <p:nvPr/>
        </p:nvSpPr>
        <p:spPr>
          <a:xfrm>
            <a:off x="4549140" y="4829870"/>
            <a:ext cx="1771650" cy="1479490"/>
          </a:xfrm>
          <a:prstGeom prst="roundRect">
            <a:avLst>
              <a:gd name="adj" fmla="val 4944"/>
            </a:avLst>
          </a:prstGeom>
          <a:solidFill>
            <a:srgbClr val="171A21"/>
          </a:solidFill>
          <a:ln w="9525">
            <a:solidFill>
              <a:srgbClr val="2C313C"/>
            </a:solidFill>
            <a:prstDash val="solid"/>
          </a:ln>
        </p:spPr>
      </p:sp>
      <p:sp>
        <p:nvSpPr>
          <p:cNvPr id="14" name="Text 11"/>
          <p:cNvSpPr/>
          <p:nvPr/>
        </p:nvSpPr>
        <p:spPr>
          <a:xfrm>
            <a:off x="4732020" y="4967030"/>
            <a:ext cx="1405890" cy="502920"/>
          </a:xfrm>
          <a:prstGeom prst="rect">
            <a:avLst/>
          </a:prstGeom>
          <a:noFill/>
          <a:ln/>
        </p:spPr>
        <p:txBody>
          <a:bodyPr wrap="square" lIns="0" tIns="0" rIns="0" bIns="0" rtlCol="0" anchor="t"/>
          <a:lstStyle/>
          <a:p>
            <a:pPr indent="0" marL="0">
              <a:buNone/>
            </a:pPr>
            <a:r>
              <a:rPr lang="en-US" sz="2800" b="1" dirty="0">
                <a:solidFill>
                  <a:srgbClr val="8B7BF0"/>
                </a:solidFill>
                <a:latin typeface="Calibri" pitchFamily="34" charset="0"/>
                <a:ea typeface="Calibri" pitchFamily="34" charset="-122"/>
                <a:cs typeface="Calibri" pitchFamily="34" charset="-120"/>
              </a:rPr>
              <a:t>1</a:t>
            </a:r>
            <a:endParaRPr lang="en-US" sz="2800" dirty="0"/>
          </a:p>
        </p:txBody>
      </p:sp>
      <p:sp>
        <p:nvSpPr>
          <p:cNvPr id="15" name="Text 12"/>
          <p:cNvSpPr/>
          <p:nvPr/>
        </p:nvSpPr>
        <p:spPr>
          <a:xfrm>
            <a:off x="4732020" y="5488238"/>
            <a:ext cx="1405890" cy="702250"/>
          </a:xfrm>
          <a:prstGeom prst="rect">
            <a:avLst/>
          </a:prstGeom>
          <a:noFill/>
          <a:ln/>
        </p:spPr>
        <p:txBody>
          <a:bodyPr wrap="square" lIns="0" tIns="0" rIns="0" bIns="0" rtlCol="0" anchor="t"/>
          <a:lstStyle/>
          <a:p>
            <a:pPr indent="0" marL="0">
              <a:buNone/>
            </a:pPr>
            <a:r>
              <a:rPr lang="en-US" sz="1400" dirty="0">
                <a:solidFill>
                  <a:srgbClr val="9BA1AE"/>
                </a:solidFill>
                <a:latin typeface="Calibri" pitchFamily="34" charset="0"/>
                <a:ea typeface="Calibri" pitchFamily="34" charset="-122"/>
                <a:cs typeface="Calibri" pitchFamily="34" charset="-120"/>
              </a:rPr>
              <a:t>Postgres StatefulSet on gp2 EBS</a:t>
            </a:r>
            <a:endParaRPr lang="en-US" sz="1400" dirty="0"/>
          </a:p>
        </p:txBody>
      </p:sp>
      <p:sp>
        <p:nvSpPr>
          <p:cNvPr id="16" name="Shape 13"/>
          <p:cNvSpPr/>
          <p:nvPr/>
        </p:nvSpPr>
        <p:spPr>
          <a:xfrm>
            <a:off x="6549390" y="4829870"/>
            <a:ext cx="1771650" cy="1479490"/>
          </a:xfrm>
          <a:prstGeom prst="roundRect">
            <a:avLst>
              <a:gd name="adj" fmla="val 4944"/>
            </a:avLst>
          </a:prstGeom>
          <a:solidFill>
            <a:srgbClr val="171A21"/>
          </a:solidFill>
          <a:ln w="9525">
            <a:solidFill>
              <a:srgbClr val="2C313C"/>
            </a:solidFill>
            <a:prstDash val="solid"/>
          </a:ln>
        </p:spPr>
      </p:sp>
      <p:sp>
        <p:nvSpPr>
          <p:cNvPr id="17" name="Text 14"/>
          <p:cNvSpPr/>
          <p:nvPr/>
        </p:nvSpPr>
        <p:spPr>
          <a:xfrm>
            <a:off x="6732270" y="4967030"/>
            <a:ext cx="1405890" cy="502920"/>
          </a:xfrm>
          <a:prstGeom prst="rect">
            <a:avLst/>
          </a:prstGeom>
          <a:noFill/>
          <a:ln/>
        </p:spPr>
        <p:txBody>
          <a:bodyPr wrap="square" lIns="0" tIns="0" rIns="0" bIns="0" rtlCol="0" anchor="t"/>
          <a:lstStyle/>
          <a:p>
            <a:pPr indent="0" marL="0">
              <a:buNone/>
            </a:pPr>
            <a:r>
              <a:rPr lang="en-US" sz="2800" b="1" dirty="0">
                <a:solidFill>
                  <a:srgbClr val="8B7BF0"/>
                </a:solidFill>
                <a:latin typeface="Calibri" pitchFamily="34" charset="0"/>
                <a:ea typeface="Calibri" pitchFamily="34" charset="-122"/>
                <a:cs typeface="Calibri" pitchFamily="34" charset="-120"/>
              </a:rPr>
              <a:t>10</a:t>
            </a:r>
            <a:endParaRPr lang="en-US" sz="2800" dirty="0"/>
          </a:p>
        </p:txBody>
      </p:sp>
      <p:sp>
        <p:nvSpPr>
          <p:cNvPr id="18" name="Text 15"/>
          <p:cNvSpPr/>
          <p:nvPr/>
        </p:nvSpPr>
        <p:spPr>
          <a:xfrm>
            <a:off x="6732270" y="5488238"/>
            <a:ext cx="1405890" cy="702250"/>
          </a:xfrm>
          <a:prstGeom prst="rect">
            <a:avLst/>
          </a:prstGeom>
          <a:noFill/>
          <a:ln/>
        </p:spPr>
        <p:txBody>
          <a:bodyPr wrap="square" lIns="0" tIns="0" rIns="0" bIns="0" rtlCol="0" anchor="t"/>
          <a:lstStyle/>
          <a:p>
            <a:pPr indent="0" marL="0">
              <a:buNone/>
            </a:pPr>
            <a:r>
              <a:rPr lang="en-US" sz="1400" dirty="0">
                <a:solidFill>
                  <a:srgbClr val="9BA1AE"/>
                </a:solidFill>
                <a:latin typeface="Calibri" pitchFamily="34" charset="0"/>
                <a:ea typeface="Calibri" pitchFamily="34" charset="-122"/>
                <a:cs typeface="Calibri" pitchFamily="34" charset="-120"/>
              </a:rPr>
              <a:t>Helm revisions deployed</a:t>
            </a:r>
            <a:endParaRPr lang="en-US" sz="1400" dirty="0"/>
          </a:p>
        </p:txBody>
      </p:sp>
      <p:sp>
        <p:nvSpPr>
          <p:cNvPr id="19" name="Text 16"/>
          <p:cNvSpPr/>
          <p:nvPr/>
        </p:nvSpPr>
        <p:spPr>
          <a:xfrm>
            <a:off x="8686800" y="1481328"/>
            <a:ext cx="2956255" cy="320040"/>
          </a:xfrm>
          <a:prstGeom prst="rect">
            <a:avLst/>
          </a:prstGeom>
          <a:noFill/>
          <a:ln/>
        </p:spPr>
        <p:txBody>
          <a:bodyPr wrap="square" lIns="0" tIns="0" rIns="0" bIns="0" rtlCol="0" anchor="t"/>
          <a:lstStyle/>
          <a:p>
            <a:pPr indent="0" marL="0">
              <a:buNone/>
            </a:pPr>
            <a:r>
              <a:rPr lang="en-US" sz="1600" b="1" dirty="0">
                <a:solidFill>
                  <a:srgbClr val="8B7BF0"/>
                </a:solidFill>
                <a:latin typeface="Calibri" pitchFamily="34" charset="0"/>
                <a:ea typeface="Calibri" pitchFamily="34" charset="-122"/>
                <a:cs typeface="Calibri" pitchFamily="34" charset="-120"/>
              </a:rPr>
              <a:t>Chart contents</a:t>
            </a:r>
            <a:endParaRPr lang="en-US" sz="1600" dirty="0"/>
          </a:p>
        </p:txBody>
      </p:sp>
      <p:sp>
        <p:nvSpPr>
          <p:cNvPr id="20" name="Text 17"/>
          <p:cNvSpPr/>
          <p:nvPr/>
        </p:nvSpPr>
        <p:spPr>
          <a:xfrm>
            <a:off x="8686800" y="1874520"/>
            <a:ext cx="2956255" cy="4434840"/>
          </a:xfrm>
          <a:prstGeom prst="rect">
            <a:avLst/>
          </a:prstGeom>
          <a:noFill/>
          <a:ln/>
        </p:spPr>
        <p:txBody>
          <a:bodyPr wrap="square" lIns="0" tIns="0" rIns="0" bIns="0" rtlCol="0" anchor="t"/>
          <a:lstStyle/>
          <a:p>
            <a:pPr marL="203200" indent="-203200">
              <a:spcAft>
                <a:spcPts val="700"/>
              </a:spcAft>
              <a:buClr>
                <a:srgbClr val="8B7BF0"/>
              </a:buClr>
              <a:buSzPct val="100000"/>
              <a:buChar char="•"/>
            </a:pPr>
            <a:r>
              <a:rPr lang="en-US" sz="1400" dirty="0">
                <a:solidFill>
                  <a:srgbClr val="E8EAF0"/>
                </a:solidFill>
                <a:latin typeface="Calibri" pitchFamily="34" charset="0"/>
                <a:ea typeface="Calibri" pitchFamily="34" charset="-122"/>
                <a:cs typeface="Calibri" pitchFamily="34" charset="-120"/>
              </a:rPr>
              <a:t>Backend Deployment + HPA</a:t>
            </a:r>
            <a:endParaRPr lang="en-US" sz="1400" dirty="0"/>
          </a:p>
          <a:p>
            <a:pPr marL="203200" indent="-203200">
              <a:spcAft>
                <a:spcPts val="700"/>
              </a:spcAft>
              <a:buClr>
                <a:srgbClr val="8B7BF0"/>
              </a:buClr>
              <a:buSzPct val="100000"/>
              <a:buChar char="•"/>
            </a:pPr>
            <a:r>
              <a:rPr lang="en-US" sz="1400" dirty="0">
                <a:solidFill>
                  <a:srgbClr val="E8EAF0"/>
                </a:solidFill>
                <a:latin typeface="Calibri" pitchFamily="34" charset="0"/>
                <a:ea typeface="Calibri" pitchFamily="34" charset="-122"/>
                <a:cs typeface="Calibri" pitchFamily="34" charset="-120"/>
              </a:rPr>
              <a:t>Frontend Deployment</a:t>
            </a:r>
            <a:endParaRPr lang="en-US" sz="1400" dirty="0"/>
          </a:p>
          <a:p>
            <a:pPr marL="203200" indent="-203200">
              <a:spcAft>
                <a:spcPts val="700"/>
              </a:spcAft>
              <a:buClr>
                <a:srgbClr val="8B7BF0"/>
              </a:buClr>
              <a:buSzPct val="100000"/>
              <a:buChar char="•"/>
            </a:pPr>
            <a:r>
              <a:rPr lang="en-US" sz="1400" dirty="0">
                <a:solidFill>
                  <a:srgbClr val="E8EAF0"/>
                </a:solidFill>
                <a:latin typeface="Calibri" pitchFamily="34" charset="0"/>
                <a:ea typeface="Calibri" pitchFamily="34" charset="-122"/>
                <a:cs typeface="Calibri" pitchFamily="34" charset="-120"/>
              </a:rPr>
              <a:t>PostgreSQL StatefulSet + generated password Secret</a:t>
            </a:r>
            <a:endParaRPr lang="en-US" sz="1400" dirty="0"/>
          </a:p>
          <a:p>
            <a:pPr marL="203200" indent="-203200">
              <a:spcAft>
                <a:spcPts val="700"/>
              </a:spcAft>
              <a:buClr>
                <a:srgbClr val="8B7BF0"/>
              </a:buClr>
              <a:buSzPct val="100000"/>
              <a:buChar char="•"/>
            </a:pPr>
            <a:r>
              <a:rPr lang="en-US" sz="1400" dirty="0">
                <a:solidFill>
                  <a:srgbClr val="E8EAF0"/>
                </a:solidFill>
                <a:latin typeface="Calibri" pitchFamily="34" charset="0"/>
                <a:ea typeface="Calibri" pitchFamily="34" charset="-122"/>
                <a:cs typeface="Calibri" pitchFamily="34" charset="-120"/>
              </a:rPr>
              <a:t>ClusterIP Services</a:t>
            </a:r>
            <a:endParaRPr lang="en-US" sz="1400" dirty="0"/>
          </a:p>
          <a:p>
            <a:pPr marL="203200" indent="-203200">
              <a:spcAft>
                <a:spcPts val="700"/>
              </a:spcAft>
              <a:buClr>
                <a:srgbClr val="8B7BF0"/>
              </a:buClr>
              <a:buSzPct val="100000"/>
              <a:buChar char="•"/>
            </a:pPr>
            <a:r>
              <a:rPr lang="en-US" sz="1400" dirty="0">
                <a:solidFill>
                  <a:srgbClr val="E8EAF0"/>
                </a:solidFill>
                <a:latin typeface="Calibri" pitchFamily="34" charset="0"/>
                <a:ea typeface="Calibri" pitchFamily="34" charset="-122"/>
                <a:cs typeface="Calibri" pitchFamily="34" charset="-120"/>
              </a:rPr>
              <a:t>nginx Ingress: /api and /</a:t>
            </a:r>
            <a:endParaRPr lang="en-US" sz="1400" dirty="0"/>
          </a:p>
          <a:p>
            <a:pPr marL="203200" indent="-203200">
              <a:spcAft>
                <a:spcPts val="700"/>
              </a:spcAft>
              <a:buClr>
                <a:srgbClr val="8B7BF0"/>
              </a:buClr>
              <a:buSzPct val="100000"/>
              <a:buChar char="•"/>
            </a:pPr>
            <a:r>
              <a:rPr lang="en-US" sz="1400" dirty="0">
                <a:solidFill>
                  <a:srgbClr val="E8EAF0"/>
                </a:solidFill>
                <a:latin typeface="Calibri" pitchFamily="34" charset="0"/>
                <a:ea typeface="Calibri" pitchFamily="34" charset="-122"/>
                <a:cs typeface="Calibri" pitchFamily="34" charset="-120"/>
              </a:rPr>
              <a:t>ServiceMonitor + alert rules</a:t>
            </a:r>
            <a:endParaRPr lang="en-US" sz="1400" dirty="0"/>
          </a:p>
          <a:p>
            <a:pPr marL="203200" indent="-203200">
              <a:spcAft>
                <a:spcPts val="700"/>
              </a:spcAft>
              <a:buClr>
                <a:srgbClr val="8B7BF0"/>
              </a:buClr>
              <a:buSzPct val="100000"/>
              <a:buChar char="•"/>
            </a:pPr>
            <a:r>
              <a:rPr lang="en-US" sz="1400" dirty="0">
                <a:solidFill>
                  <a:srgbClr val="E8EAF0"/>
                </a:solidFill>
                <a:latin typeface="Calibri" pitchFamily="34" charset="0"/>
                <a:ea typeface="Calibri" pitchFamily="34" charset="-122"/>
                <a:cs typeface="Calibri" pitchFamily="34" charset="-120"/>
              </a:rPr>
              <a:t>Grafana dashboard ConfigMap</a:t>
            </a:r>
            <a:endParaRPr lang="en-US" sz="1400" dirty="0"/>
          </a:p>
          <a:p>
            <a:pPr marL="203200" indent="-203200">
              <a:spcAft>
                <a:spcPts val="700"/>
              </a:spcAft>
              <a:buClr>
                <a:srgbClr val="8B7BF0"/>
              </a:buClr>
              <a:buSzPct val="100000"/>
              <a:buChar char="•"/>
            </a:pPr>
            <a:r>
              <a:rPr lang="en-US" sz="1400" dirty="0">
                <a:solidFill>
                  <a:srgbClr val="E8EAF0"/>
                </a:solidFill>
                <a:latin typeface="Calibri" pitchFamily="34" charset="0"/>
                <a:ea typeface="Calibri" pitchFamily="34" charset="-122"/>
                <a:cs typeface="Calibri" pitchFamily="34" charset="-120"/>
              </a:rPr>
              <a:t>Optional simulator Deployment</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014"/>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300" kern="0" dirty="0">
                <a:solidFill>
                  <a:srgbClr val="8B7BF0"/>
                </a:solidFill>
                <a:latin typeface="Calibri" pitchFamily="34" charset="0"/>
                <a:ea typeface="Calibri" pitchFamily="34" charset="-122"/>
                <a:cs typeface="Calibri" pitchFamily="34" charset="-120"/>
              </a:rPr>
              <a:t>LIVE ON AWS</a:t>
            </a:r>
            <a:endParaRPr lang="en-US" sz="1200" dirty="0"/>
          </a:p>
        </p:txBody>
      </p:sp>
      <p:sp>
        <p:nvSpPr>
          <p:cNvPr id="3" name="Text 1"/>
          <p:cNvSpPr/>
          <p:nvPr/>
        </p:nvSpPr>
        <p:spPr>
          <a:xfrm>
            <a:off x="548640" y="676656"/>
            <a:ext cx="11064240" cy="603504"/>
          </a:xfrm>
          <a:prstGeom prst="rect">
            <a:avLst/>
          </a:prstGeom>
          <a:noFill/>
          <a:ln/>
        </p:spPr>
        <p:txBody>
          <a:bodyPr wrap="square" lIns="0" tIns="0" rIns="0" bIns="0" rtlCol="0" anchor="t"/>
          <a:lstStyle/>
          <a:p>
            <a:pPr indent="0" marL="0">
              <a:buNone/>
            </a:pPr>
            <a:r>
              <a:rPr lang="en-US" sz="3400" b="1" dirty="0">
                <a:solidFill>
                  <a:srgbClr val="E8EAF0"/>
                </a:solidFill>
                <a:latin typeface="Calibri" pitchFamily="34" charset="0"/>
                <a:ea typeface="Calibri" pitchFamily="34" charset="-122"/>
                <a:cs typeface="Calibri" pitchFamily="34" charset="-120"/>
              </a:rPr>
              <a:t>Served through the Ingress and load balancer</a:t>
            </a:r>
            <a:endParaRPr lang="en-US" sz="3400" dirty="0"/>
          </a:p>
        </p:txBody>
      </p:sp>
      <p:sp>
        <p:nvSpPr>
          <p:cNvPr id="4" name="Shape 2"/>
          <p:cNvSpPr/>
          <p:nvPr/>
        </p:nvSpPr>
        <p:spPr>
          <a:xfrm>
            <a:off x="548640" y="1463040"/>
            <a:ext cx="7982488" cy="4572000"/>
          </a:xfrm>
          <a:prstGeom prst="roundRect">
            <a:avLst>
              <a:gd name="adj" fmla="val 1200"/>
            </a:avLst>
          </a:prstGeom>
          <a:solidFill>
            <a:srgbClr val="171A21"/>
          </a:solidFill>
          <a:ln w="9525">
            <a:solidFill>
              <a:srgbClr val="2C313C"/>
            </a:solidFill>
            <a:prstDash val="solid"/>
          </a:ln>
        </p:spPr>
      </p:sp>
      <p:pic>
        <p:nvPicPr>
          <p:cNvPr id="5" name="Image 0" descr="Dashboard on EKS via the ELB hostname: 8/8 rovers online, 259 events in the last hour">    </p:cNvPr>
          <p:cNvPicPr>
            <a:picLocks noChangeAspect="1"/>
          </p:cNvPicPr>
          <p:nvPr/>
        </p:nvPicPr>
        <p:blipFill>
          <a:blip r:embed="rId1"/>
          <a:stretch>
            <a:fillRect/>
          </a:stretch>
        </p:blipFill>
        <p:spPr>
          <a:xfrm>
            <a:off x="603504" y="1517904"/>
            <a:ext cx="7872760" cy="4462272"/>
          </a:xfrm>
          <a:prstGeom prst="rect">
            <a:avLst/>
          </a:prstGeom>
        </p:spPr>
      </p:pic>
      <p:sp>
        <p:nvSpPr>
          <p:cNvPr id="6" name="Text 3"/>
          <p:cNvSpPr/>
          <p:nvPr/>
        </p:nvSpPr>
        <p:spPr>
          <a:xfrm>
            <a:off x="548640" y="6108192"/>
            <a:ext cx="7982488" cy="274320"/>
          </a:xfrm>
          <a:prstGeom prst="rect">
            <a:avLst/>
          </a:prstGeom>
          <a:noFill/>
          <a:ln/>
        </p:spPr>
        <p:txBody>
          <a:bodyPr wrap="square" lIns="0" tIns="0" rIns="0" bIns="0" rtlCol="0" anchor="t"/>
          <a:lstStyle/>
          <a:p>
            <a:pPr indent="0" marL="0">
              <a:buNone/>
            </a:pPr>
            <a:r>
              <a:rPr lang="en-US" sz="1200" dirty="0">
                <a:solidFill>
                  <a:srgbClr val="9BA1AE"/>
                </a:solidFill>
                <a:latin typeface="Calibri" pitchFamily="34" charset="0"/>
                <a:ea typeface="Calibri" pitchFamily="34" charset="-122"/>
                <a:cs typeface="Calibri" pitchFamily="34" charset="-120"/>
              </a:rPr>
              <a:t>Dashboard on EKS via the ELB hostname: 8/8 rovers online, 259 events in the last hour</a:t>
            </a:r>
            <a:endParaRPr lang="en-US" sz="1200" dirty="0"/>
          </a:p>
        </p:txBody>
      </p:sp>
      <p:sp>
        <p:nvSpPr>
          <p:cNvPr id="7" name="Text 4"/>
          <p:cNvSpPr/>
          <p:nvPr/>
        </p:nvSpPr>
        <p:spPr>
          <a:xfrm>
            <a:off x="8896888" y="1508760"/>
            <a:ext cx="2746167" cy="320040"/>
          </a:xfrm>
          <a:prstGeom prst="rect">
            <a:avLst/>
          </a:prstGeom>
          <a:noFill/>
          <a:ln/>
        </p:spPr>
        <p:txBody>
          <a:bodyPr wrap="square" lIns="0" tIns="0" rIns="0" bIns="0" rtlCol="0" anchor="t"/>
          <a:lstStyle/>
          <a:p>
            <a:pPr indent="0" marL="0">
              <a:buNone/>
            </a:pPr>
            <a:r>
              <a:rPr lang="en-US" sz="1600" b="1" dirty="0">
                <a:solidFill>
                  <a:srgbClr val="8B7BF0"/>
                </a:solidFill>
                <a:latin typeface="Calibri" pitchFamily="34" charset="0"/>
                <a:ea typeface="Calibri" pitchFamily="34" charset="-122"/>
                <a:cs typeface="Calibri" pitchFamily="34" charset="-120"/>
              </a:rPr>
              <a:t>Ingress routes</a:t>
            </a:r>
            <a:endParaRPr lang="en-US" sz="1600" dirty="0"/>
          </a:p>
        </p:txBody>
      </p:sp>
      <p:sp>
        <p:nvSpPr>
          <p:cNvPr id="8" name="Shape 5"/>
          <p:cNvSpPr/>
          <p:nvPr/>
        </p:nvSpPr>
        <p:spPr>
          <a:xfrm>
            <a:off x="8896888" y="1920240"/>
            <a:ext cx="2746167" cy="548640"/>
          </a:xfrm>
          <a:prstGeom prst="roundRect">
            <a:avLst>
              <a:gd name="adj" fmla="val 13333"/>
            </a:avLst>
          </a:prstGeom>
          <a:solidFill>
            <a:srgbClr val="171A21"/>
          </a:solidFill>
          <a:ln w="9525">
            <a:solidFill>
              <a:srgbClr val="2C313C"/>
            </a:solidFill>
            <a:prstDash val="solid"/>
          </a:ln>
        </p:spPr>
      </p:sp>
      <p:sp>
        <p:nvSpPr>
          <p:cNvPr id="9" name="Text 6"/>
          <p:cNvSpPr/>
          <p:nvPr/>
        </p:nvSpPr>
        <p:spPr>
          <a:xfrm>
            <a:off x="9061480" y="1920240"/>
            <a:ext cx="658368" cy="548640"/>
          </a:xfrm>
          <a:prstGeom prst="rect">
            <a:avLst/>
          </a:prstGeom>
          <a:noFill/>
          <a:ln/>
        </p:spPr>
        <p:txBody>
          <a:bodyPr wrap="square" lIns="0" tIns="0" rIns="0" bIns="0" rtlCol="0" anchor="ctr"/>
          <a:lstStyle/>
          <a:p>
            <a:pPr indent="0" marL="0">
              <a:buNone/>
            </a:pPr>
            <a:r>
              <a:rPr lang="en-US" sz="1500" b="1" dirty="0">
                <a:solidFill>
                  <a:srgbClr val="E8EAF0"/>
                </a:solidFill>
                <a:latin typeface="Courier New" pitchFamily="34" charset="0"/>
                <a:ea typeface="Courier New" pitchFamily="34" charset="-122"/>
                <a:cs typeface="Courier New" pitchFamily="34" charset="-120"/>
              </a:rPr>
              <a:t>/</a:t>
            </a:r>
            <a:endParaRPr lang="en-US" sz="1500" dirty="0"/>
          </a:p>
        </p:txBody>
      </p:sp>
      <p:sp>
        <p:nvSpPr>
          <p:cNvPr id="10" name="Text 7"/>
          <p:cNvSpPr/>
          <p:nvPr/>
        </p:nvSpPr>
        <p:spPr>
          <a:xfrm>
            <a:off x="9765568" y="1920240"/>
            <a:ext cx="1786047" cy="548640"/>
          </a:xfrm>
          <a:prstGeom prst="rect">
            <a:avLst/>
          </a:prstGeom>
          <a:noFill/>
          <a:ln/>
        </p:spPr>
        <p:txBody>
          <a:bodyPr wrap="square" lIns="0" tIns="0" rIns="0" bIns="0" rtlCol="0" anchor="ctr"/>
          <a:lstStyle/>
          <a:p>
            <a:pPr indent="0" marL="0">
              <a:buNone/>
            </a:pPr>
            <a:r>
              <a:rPr lang="en-US" sz="1400" dirty="0">
                <a:solidFill>
                  <a:srgbClr val="9BA1AE"/>
                </a:solidFill>
                <a:latin typeface="Calibri" pitchFamily="34" charset="0"/>
                <a:ea typeface="Calibri" pitchFamily="34" charset="-122"/>
                <a:cs typeface="Calibri" pitchFamily="34" charset="-120"/>
              </a:rPr>
              <a:t>→ frontend (nginx)</a:t>
            </a:r>
            <a:endParaRPr lang="en-US" sz="1400" dirty="0"/>
          </a:p>
        </p:txBody>
      </p:sp>
      <p:sp>
        <p:nvSpPr>
          <p:cNvPr id="11" name="Shape 8"/>
          <p:cNvSpPr/>
          <p:nvPr/>
        </p:nvSpPr>
        <p:spPr>
          <a:xfrm>
            <a:off x="8896888" y="2606040"/>
            <a:ext cx="2746167" cy="548640"/>
          </a:xfrm>
          <a:prstGeom prst="roundRect">
            <a:avLst>
              <a:gd name="adj" fmla="val 13333"/>
            </a:avLst>
          </a:prstGeom>
          <a:solidFill>
            <a:srgbClr val="171A21"/>
          </a:solidFill>
          <a:ln w="9525">
            <a:solidFill>
              <a:srgbClr val="2C313C"/>
            </a:solidFill>
            <a:prstDash val="solid"/>
          </a:ln>
        </p:spPr>
      </p:sp>
      <p:sp>
        <p:nvSpPr>
          <p:cNvPr id="12" name="Text 9"/>
          <p:cNvSpPr/>
          <p:nvPr/>
        </p:nvSpPr>
        <p:spPr>
          <a:xfrm>
            <a:off x="9061480" y="2606040"/>
            <a:ext cx="658368" cy="548640"/>
          </a:xfrm>
          <a:prstGeom prst="rect">
            <a:avLst/>
          </a:prstGeom>
          <a:noFill/>
          <a:ln/>
        </p:spPr>
        <p:txBody>
          <a:bodyPr wrap="square" lIns="0" tIns="0" rIns="0" bIns="0" rtlCol="0" anchor="ctr"/>
          <a:lstStyle/>
          <a:p>
            <a:pPr indent="0" marL="0">
              <a:buNone/>
            </a:pPr>
            <a:r>
              <a:rPr lang="en-US" sz="1500" b="1" dirty="0">
                <a:solidFill>
                  <a:srgbClr val="E8EAF0"/>
                </a:solidFill>
                <a:latin typeface="Courier New" pitchFamily="34" charset="0"/>
                <a:ea typeface="Courier New" pitchFamily="34" charset="-122"/>
                <a:cs typeface="Courier New" pitchFamily="34" charset="-120"/>
              </a:rPr>
              <a:t>/api</a:t>
            </a:r>
            <a:endParaRPr lang="en-US" sz="1500" dirty="0"/>
          </a:p>
        </p:txBody>
      </p:sp>
      <p:sp>
        <p:nvSpPr>
          <p:cNvPr id="13" name="Text 10"/>
          <p:cNvSpPr/>
          <p:nvPr/>
        </p:nvSpPr>
        <p:spPr>
          <a:xfrm>
            <a:off x="9765568" y="2606040"/>
            <a:ext cx="1786047" cy="548640"/>
          </a:xfrm>
          <a:prstGeom prst="rect">
            <a:avLst/>
          </a:prstGeom>
          <a:noFill/>
          <a:ln/>
        </p:spPr>
        <p:txBody>
          <a:bodyPr wrap="square" lIns="0" tIns="0" rIns="0" bIns="0" rtlCol="0" anchor="ctr"/>
          <a:lstStyle/>
          <a:p>
            <a:pPr indent="0" marL="0">
              <a:buNone/>
            </a:pPr>
            <a:r>
              <a:rPr lang="en-US" sz="1400" dirty="0">
                <a:solidFill>
                  <a:srgbClr val="9BA1AE"/>
                </a:solidFill>
                <a:latin typeface="Calibri" pitchFamily="34" charset="0"/>
                <a:ea typeface="Calibri" pitchFamily="34" charset="-122"/>
                <a:cs typeface="Calibri" pitchFamily="34" charset="-120"/>
              </a:rPr>
              <a:t>→ backend (FastAPI)</a:t>
            </a:r>
            <a:endParaRPr lang="en-US" sz="1400" dirty="0"/>
          </a:p>
        </p:txBody>
      </p:sp>
      <p:sp>
        <p:nvSpPr>
          <p:cNvPr id="14" name="Text 11"/>
          <p:cNvSpPr/>
          <p:nvPr/>
        </p:nvSpPr>
        <p:spPr>
          <a:xfrm>
            <a:off x="8896888" y="3520440"/>
            <a:ext cx="2746167" cy="2560320"/>
          </a:xfrm>
          <a:prstGeom prst="rect">
            <a:avLst/>
          </a:prstGeom>
          <a:noFill/>
          <a:ln/>
        </p:spPr>
        <p:txBody>
          <a:bodyPr wrap="square" lIns="0" tIns="0" rIns="0" bIns="0" rtlCol="0" anchor="t"/>
          <a:lstStyle/>
          <a:p>
            <a:pPr marL="203200" indent="-203200">
              <a:spcAft>
                <a:spcPts val="1000"/>
              </a:spcAft>
              <a:buClr>
                <a:srgbClr val="8B7BF0"/>
              </a:buClr>
              <a:buSzPct val="100000"/>
              <a:buChar char="•"/>
            </a:pPr>
            <a:r>
              <a:rPr lang="en-US" sz="1400" dirty="0">
                <a:solidFill>
                  <a:srgbClr val="E8EAF0"/>
                </a:solidFill>
                <a:latin typeface="Calibri" pitchFamily="34" charset="0"/>
                <a:ea typeface="Calibri" pitchFamily="34" charset="-122"/>
                <a:cs typeface="Calibri" pitchFamily="34" charset="-120"/>
              </a:rPr>
              <a:t>One AWS load balancer in front of ingress-nginx</a:t>
            </a:r>
            <a:endParaRPr lang="en-US" sz="1400" dirty="0"/>
          </a:p>
          <a:p>
            <a:pPr marL="203200" indent="-203200">
              <a:spcAft>
                <a:spcPts val="1000"/>
              </a:spcAft>
              <a:buClr>
                <a:srgbClr val="8B7BF0"/>
              </a:buClr>
              <a:buSzPct val="100000"/>
              <a:buChar char="•"/>
            </a:pPr>
            <a:r>
              <a:rPr lang="en-US" sz="1400" dirty="0">
                <a:solidFill>
                  <a:srgbClr val="E8EAF0"/>
                </a:solidFill>
                <a:latin typeface="Calibri" pitchFamily="34" charset="0"/>
                <a:ea typeface="Calibri" pitchFamily="34" charset="-122"/>
                <a:cs typeface="Calibri" pitchFamily="34" charset="-120"/>
              </a:rPr>
              <a:t>Services stay ClusterIP, nothing else is exposed</a:t>
            </a:r>
            <a:endParaRPr lang="en-US" sz="1400" dirty="0"/>
          </a:p>
          <a:p>
            <a:pPr marL="203200" indent="-203200">
              <a:spcAft>
                <a:spcPts val="1000"/>
              </a:spcAft>
              <a:buClr>
                <a:srgbClr val="8B7BF0"/>
              </a:buClr>
              <a:buSzPct val="100000"/>
              <a:buChar char="•"/>
            </a:pPr>
            <a:r>
              <a:rPr lang="en-US" sz="1400" dirty="0">
                <a:solidFill>
                  <a:srgbClr val="E8EAF0"/>
                </a:solidFill>
                <a:latin typeface="Calibri" pitchFamily="34" charset="0"/>
                <a:ea typeface="Calibri" pitchFamily="34" charset="-122"/>
                <a:cs typeface="Calibri" pitchFamily="34" charset="-120"/>
              </a:rPr>
              <a:t>Images pulled from GHCR by commit SHA</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014"/>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300" kern="0" dirty="0">
                <a:solidFill>
                  <a:srgbClr val="8B7BF0"/>
                </a:solidFill>
                <a:latin typeface="Calibri" pitchFamily="34" charset="0"/>
                <a:ea typeface="Calibri" pitchFamily="34" charset="-122"/>
                <a:cs typeface="Calibri" pitchFamily="34" charset="-120"/>
              </a:rPr>
              <a:t>AUTOSCALING</a:t>
            </a:r>
            <a:endParaRPr lang="en-US" sz="1200" dirty="0"/>
          </a:p>
        </p:txBody>
      </p:sp>
      <p:sp>
        <p:nvSpPr>
          <p:cNvPr id="3" name="Text 1"/>
          <p:cNvSpPr/>
          <p:nvPr/>
        </p:nvSpPr>
        <p:spPr>
          <a:xfrm>
            <a:off x="548640" y="676656"/>
            <a:ext cx="11064240" cy="603504"/>
          </a:xfrm>
          <a:prstGeom prst="rect">
            <a:avLst/>
          </a:prstGeom>
          <a:noFill/>
          <a:ln/>
        </p:spPr>
        <p:txBody>
          <a:bodyPr wrap="square" lIns="0" tIns="0" rIns="0" bIns="0" rtlCol="0" anchor="t"/>
          <a:lstStyle/>
          <a:p>
            <a:pPr indent="0" marL="0">
              <a:buNone/>
            </a:pPr>
            <a:r>
              <a:rPr lang="en-US" sz="3400" b="1" dirty="0">
                <a:solidFill>
                  <a:srgbClr val="E8EAF0"/>
                </a:solidFill>
                <a:latin typeface="Calibri" pitchFamily="34" charset="0"/>
                <a:ea typeface="Calibri" pitchFamily="34" charset="-122"/>
                <a:cs typeface="Calibri" pitchFamily="34" charset="-120"/>
              </a:rPr>
              <a:t>200 rovers of load, zero errors</a:t>
            </a:r>
            <a:endParaRPr lang="en-US" sz="3400" dirty="0"/>
          </a:p>
        </p:txBody>
      </p:sp>
      <p:sp>
        <p:nvSpPr>
          <p:cNvPr id="4" name="Shape 2"/>
          <p:cNvSpPr/>
          <p:nvPr/>
        </p:nvSpPr>
        <p:spPr>
          <a:xfrm>
            <a:off x="548640" y="1554480"/>
            <a:ext cx="2567864" cy="1920240"/>
          </a:xfrm>
          <a:prstGeom prst="roundRect">
            <a:avLst>
              <a:gd name="adj" fmla="val 3810"/>
            </a:avLst>
          </a:prstGeom>
          <a:solidFill>
            <a:srgbClr val="171A21"/>
          </a:solidFill>
          <a:ln w="9525">
            <a:solidFill>
              <a:srgbClr val="2C313C"/>
            </a:solidFill>
            <a:prstDash val="solid"/>
          </a:ln>
        </p:spPr>
      </p:sp>
      <p:sp>
        <p:nvSpPr>
          <p:cNvPr id="5" name="Text 3"/>
          <p:cNvSpPr/>
          <p:nvPr/>
        </p:nvSpPr>
        <p:spPr>
          <a:xfrm>
            <a:off x="777240" y="1783080"/>
            <a:ext cx="2110664" cy="822960"/>
          </a:xfrm>
          <a:prstGeom prst="rect">
            <a:avLst/>
          </a:prstGeom>
          <a:noFill/>
          <a:ln/>
        </p:spPr>
        <p:txBody>
          <a:bodyPr wrap="square" lIns="0" tIns="0" rIns="0" bIns="0" rtlCol="0" anchor="t"/>
          <a:lstStyle/>
          <a:p>
            <a:pPr indent="0" marL="0">
              <a:buNone/>
            </a:pPr>
            <a:r>
              <a:rPr lang="en-US" sz="4000" b="1" dirty="0">
                <a:solidFill>
                  <a:srgbClr val="8B7BF0"/>
                </a:solidFill>
                <a:latin typeface="Calibri" pitchFamily="34" charset="0"/>
                <a:ea typeface="Calibri" pitchFamily="34" charset="-122"/>
                <a:cs typeface="Calibri" pitchFamily="34" charset="-120"/>
              </a:rPr>
              <a:t>200</a:t>
            </a:r>
            <a:endParaRPr lang="en-US" sz="4000" dirty="0"/>
          </a:p>
        </p:txBody>
      </p:sp>
      <p:sp>
        <p:nvSpPr>
          <p:cNvPr id="6" name="Text 4"/>
          <p:cNvSpPr/>
          <p:nvPr/>
        </p:nvSpPr>
        <p:spPr>
          <a:xfrm>
            <a:off x="777240" y="2651760"/>
            <a:ext cx="2110664" cy="640080"/>
          </a:xfrm>
          <a:prstGeom prst="rect">
            <a:avLst/>
          </a:prstGeom>
          <a:noFill/>
          <a:ln/>
        </p:spPr>
        <p:txBody>
          <a:bodyPr wrap="square" lIns="0" tIns="0" rIns="0" bIns="0" rtlCol="0" anchor="t"/>
          <a:lstStyle/>
          <a:p>
            <a:pPr indent="0" marL="0">
              <a:buNone/>
            </a:pPr>
            <a:r>
              <a:rPr lang="en-US" sz="1500" dirty="0">
                <a:solidFill>
                  <a:srgbClr val="9BA1AE"/>
                </a:solidFill>
                <a:latin typeface="Calibri" pitchFamily="34" charset="0"/>
                <a:ea typeface="Calibri" pitchFamily="34" charset="-122"/>
                <a:cs typeface="Calibri" pitchFamily="34" charset="-120"/>
              </a:rPr>
              <a:t>simulated rovers in the load test</a:t>
            </a:r>
            <a:endParaRPr lang="en-US" sz="1500" dirty="0"/>
          </a:p>
        </p:txBody>
      </p:sp>
      <p:sp>
        <p:nvSpPr>
          <p:cNvPr id="7" name="Shape 5"/>
          <p:cNvSpPr/>
          <p:nvPr/>
        </p:nvSpPr>
        <p:spPr>
          <a:xfrm>
            <a:off x="3390824" y="1554480"/>
            <a:ext cx="2567864" cy="1920240"/>
          </a:xfrm>
          <a:prstGeom prst="roundRect">
            <a:avLst>
              <a:gd name="adj" fmla="val 3810"/>
            </a:avLst>
          </a:prstGeom>
          <a:solidFill>
            <a:srgbClr val="171A21"/>
          </a:solidFill>
          <a:ln w="9525">
            <a:solidFill>
              <a:srgbClr val="2C313C"/>
            </a:solidFill>
            <a:prstDash val="solid"/>
          </a:ln>
        </p:spPr>
      </p:sp>
      <p:sp>
        <p:nvSpPr>
          <p:cNvPr id="8" name="Text 6"/>
          <p:cNvSpPr/>
          <p:nvPr/>
        </p:nvSpPr>
        <p:spPr>
          <a:xfrm>
            <a:off x="3619424" y="1783080"/>
            <a:ext cx="2110664" cy="822960"/>
          </a:xfrm>
          <a:prstGeom prst="rect">
            <a:avLst/>
          </a:prstGeom>
          <a:noFill/>
          <a:ln/>
        </p:spPr>
        <p:txBody>
          <a:bodyPr wrap="square" lIns="0" tIns="0" rIns="0" bIns="0" rtlCol="0" anchor="t"/>
          <a:lstStyle/>
          <a:p>
            <a:pPr indent="0" marL="0">
              <a:buNone/>
            </a:pPr>
            <a:r>
              <a:rPr lang="en-US" sz="4000" b="1" dirty="0">
                <a:solidFill>
                  <a:srgbClr val="8B7BF0"/>
                </a:solidFill>
                <a:latin typeface="Calibri" pitchFamily="34" charset="0"/>
                <a:ea typeface="Calibri" pitchFamily="34" charset="-122"/>
                <a:cs typeface="Calibri" pitchFamily="34" charset="-120"/>
              </a:rPr>
              <a:t>2 → 6</a:t>
            </a:r>
            <a:endParaRPr lang="en-US" sz="4000" dirty="0"/>
          </a:p>
        </p:txBody>
      </p:sp>
      <p:sp>
        <p:nvSpPr>
          <p:cNvPr id="9" name="Text 7"/>
          <p:cNvSpPr/>
          <p:nvPr/>
        </p:nvSpPr>
        <p:spPr>
          <a:xfrm>
            <a:off x="3619424" y="2651760"/>
            <a:ext cx="2110664" cy="640080"/>
          </a:xfrm>
          <a:prstGeom prst="rect">
            <a:avLst/>
          </a:prstGeom>
          <a:noFill/>
          <a:ln/>
        </p:spPr>
        <p:txBody>
          <a:bodyPr wrap="square" lIns="0" tIns="0" rIns="0" bIns="0" rtlCol="0" anchor="t"/>
          <a:lstStyle/>
          <a:p>
            <a:pPr indent="0" marL="0">
              <a:buNone/>
            </a:pPr>
            <a:r>
              <a:rPr lang="en-US" sz="1500" dirty="0">
                <a:solidFill>
                  <a:srgbClr val="9BA1AE"/>
                </a:solidFill>
                <a:latin typeface="Calibri" pitchFamily="34" charset="0"/>
                <a:ea typeface="Calibri" pitchFamily="34" charset="-122"/>
                <a:cs typeface="Calibri" pitchFamily="34" charset="-120"/>
              </a:rPr>
              <a:t>backend replicas, scaled by the HPA</a:t>
            </a:r>
            <a:endParaRPr lang="en-US" sz="1500" dirty="0"/>
          </a:p>
        </p:txBody>
      </p:sp>
      <p:sp>
        <p:nvSpPr>
          <p:cNvPr id="10" name="Shape 8"/>
          <p:cNvSpPr/>
          <p:nvPr/>
        </p:nvSpPr>
        <p:spPr>
          <a:xfrm>
            <a:off x="6233008" y="1554480"/>
            <a:ext cx="2567864" cy="1920240"/>
          </a:xfrm>
          <a:prstGeom prst="roundRect">
            <a:avLst>
              <a:gd name="adj" fmla="val 3810"/>
            </a:avLst>
          </a:prstGeom>
          <a:solidFill>
            <a:srgbClr val="171A21"/>
          </a:solidFill>
          <a:ln w="9525">
            <a:solidFill>
              <a:srgbClr val="2C313C"/>
            </a:solidFill>
            <a:prstDash val="solid"/>
          </a:ln>
        </p:spPr>
      </p:sp>
      <p:sp>
        <p:nvSpPr>
          <p:cNvPr id="11" name="Text 9"/>
          <p:cNvSpPr/>
          <p:nvPr/>
        </p:nvSpPr>
        <p:spPr>
          <a:xfrm>
            <a:off x="6461608" y="1783080"/>
            <a:ext cx="2110664" cy="822960"/>
          </a:xfrm>
          <a:prstGeom prst="rect">
            <a:avLst/>
          </a:prstGeom>
          <a:noFill/>
          <a:ln/>
        </p:spPr>
        <p:txBody>
          <a:bodyPr wrap="square" lIns="0" tIns="0" rIns="0" bIns="0" rtlCol="0" anchor="t"/>
          <a:lstStyle/>
          <a:p>
            <a:pPr indent="0" marL="0">
              <a:buNone/>
            </a:pPr>
            <a:r>
              <a:rPr lang="en-US" sz="4000" b="1" dirty="0">
                <a:solidFill>
                  <a:srgbClr val="5BBF7A"/>
                </a:solidFill>
                <a:latin typeface="Calibri" pitchFamily="34" charset="0"/>
                <a:ea typeface="Calibri" pitchFamily="34" charset="-122"/>
                <a:cs typeface="Calibri" pitchFamily="34" charset="-120"/>
              </a:rPr>
              <a:t>0</a:t>
            </a:r>
            <a:endParaRPr lang="en-US" sz="4000" dirty="0"/>
          </a:p>
        </p:txBody>
      </p:sp>
      <p:sp>
        <p:nvSpPr>
          <p:cNvPr id="12" name="Text 10"/>
          <p:cNvSpPr/>
          <p:nvPr/>
        </p:nvSpPr>
        <p:spPr>
          <a:xfrm>
            <a:off x="6461608" y="2651760"/>
            <a:ext cx="2110664" cy="640080"/>
          </a:xfrm>
          <a:prstGeom prst="rect">
            <a:avLst/>
          </a:prstGeom>
          <a:noFill/>
          <a:ln/>
        </p:spPr>
        <p:txBody>
          <a:bodyPr wrap="square" lIns="0" tIns="0" rIns="0" bIns="0" rtlCol="0" anchor="t"/>
          <a:lstStyle/>
          <a:p>
            <a:pPr indent="0" marL="0">
              <a:buNone/>
            </a:pPr>
            <a:r>
              <a:rPr lang="en-US" sz="1500" dirty="0">
                <a:solidFill>
                  <a:srgbClr val="9BA1AE"/>
                </a:solidFill>
                <a:latin typeface="Calibri" pitchFamily="34" charset="0"/>
                <a:ea typeface="Calibri" pitchFamily="34" charset="-122"/>
                <a:cs typeface="Calibri" pitchFamily="34" charset="-120"/>
              </a:rPr>
              <a:t>HTTP 5xx errors during the test</a:t>
            </a:r>
            <a:endParaRPr lang="en-US" sz="1500" dirty="0"/>
          </a:p>
        </p:txBody>
      </p:sp>
      <p:sp>
        <p:nvSpPr>
          <p:cNvPr id="13" name="Shape 11"/>
          <p:cNvSpPr/>
          <p:nvPr/>
        </p:nvSpPr>
        <p:spPr>
          <a:xfrm>
            <a:off x="9075191" y="1554480"/>
            <a:ext cx="2567864" cy="1920240"/>
          </a:xfrm>
          <a:prstGeom prst="roundRect">
            <a:avLst>
              <a:gd name="adj" fmla="val 3810"/>
            </a:avLst>
          </a:prstGeom>
          <a:solidFill>
            <a:srgbClr val="171A21"/>
          </a:solidFill>
          <a:ln w="9525">
            <a:solidFill>
              <a:srgbClr val="2C313C"/>
            </a:solidFill>
            <a:prstDash val="solid"/>
          </a:ln>
        </p:spPr>
      </p:sp>
      <p:sp>
        <p:nvSpPr>
          <p:cNvPr id="14" name="Text 12"/>
          <p:cNvSpPr/>
          <p:nvPr/>
        </p:nvSpPr>
        <p:spPr>
          <a:xfrm>
            <a:off x="9303791" y="1783080"/>
            <a:ext cx="2110664" cy="822960"/>
          </a:xfrm>
          <a:prstGeom prst="rect">
            <a:avLst/>
          </a:prstGeom>
          <a:noFill/>
          <a:ln/>
        </p:spPr>
        <p:txBody>
          <a:bodyPr wrap="square" lIns="0" tIns="0" rIns="0" bIns="0" rtlCol="0" anchor="t"/>
          <a:lstStyle/>
          <a:p>
            <a:pPr indent="0" marL="0">
              <a:buNone/>
            </a:pPr>
            <a:r>
              <a:rPr lang="en-US" sz="4000" b="1" dirty="0">
                <a:solidFill>
                  <a:srgbClr val="8B7BF0"/>
                </a:solidFill>
                <a:latin typeface="Calibri" pitchFamily="34" charset="0"/>
                <a:ea typeface="Calibri" pitchFamily="34" charset="-122"/>
                <a:cs typeface="Calibri" pitchFamily="34" charset="-120"/>
              </a:rPr>
              <a:t>≈335 ms</a:t>
            </a:r>
            <a:endParaRPr lang="en-US" sz="4000" dirty="0"/>
          </a:p>
        </p:txBody>
      </p:sp>
      <p:sp>
        <p:nvSpPr>
          <p:cNvPr id="15" name="Text 13"/>
          <p:cNvSpPr/>
          <p:nvPr/>
        </p:nvSpPr>
        <p:spPr>
          <a:xfrm>
            <a:off x="9303791" y="2651760"/>
            <a:ext cx="2110664" cy="640080"/>
          </a:xfrm>
          <a:prstGeom prst="rect">
            <a:avLst/>
          </a:prstGeom>
          <a:noFill/>
          <a:ln/>
        </p:spPr>
        <p:txBody>
          <a:bodyPr wrap="square" lIns="0" tIns="0" rIns="0" bIns="0" rtlCol="0" anchor="t"/>
          <a:lstStyle/>
          <a:p>
            <a:pPr indent="0" marL="0">
              <a:buNone/>
            </a:pPr>
            <a:r>
              <a:rPr lang="en-US" sz="1500" dirty="0">
                <a:solidFill>
                  <a:srgbClr val="9BA1AE"/>
                </a:solidFill>
                <a:latin typeface="Calibri" pitchFamily="34" charset="0"/>
                <a:ea typeface="Calibri" pitchFamily="34" charset="-122"/>
                <a:cs typeface="Calibri" pitchFamily="34" charset="-120"/>
              </a:rPr>
              <a:t>p95 request latency</a:t>
            </a:r>
            <a:endParaRPr lang="en-US" sz="1500" dirty="0"/>
          </a:p>
        </p:txBody>
      </p:sp>
      <p:sp>
        <p:nvSpPr>
          <p:cNvPr id="16" name="Shape 14"/>
          <p:cNvSpPr/>
          <p:nvPr/>
        </p:nvSpPr>
        <p:spPr>
          <a:xfrm>
            <a:off x="548640" y="4160520"/>
            <a:ext cx="2377440" cy="868680"/>
          </a:xfrm>
          <a:prstGeom prst="roundRect">
            <a:avLst>
              <a:gd name="adj" fmla="val 8421"/>
            </a:avLst>
          </a:prstGeom>
          <a:solidFill>
            <a:srgbClr val="1F232C"/>
          </a:solidFill>
          <a:ln w="9525">
            <a:solidFill>
              <a:srgbClr val="2C313C"/>
            </a:solidFill>
            <a:prstDash val="solid"/>
          </a:ln>
        </p:spPr>
      </p:sp>
      <p:sp>
        <p:nvSpPr>
          <p:cNvPr id="17" name="Text 15"/>
          <p:cNvSpPr/>
          <p:nvPr/>
        </p:nvSpPr>
        <p:spPr>
          <a:xfrm>
            <a:off x="621792" y="4160520"/>
            <a:ext cx="2231136" cy="868680"/>
          </a:xfrm>
          <a:prstGeom prst="rect">
            <a:avLst/>
          </a:prstGeom>
          <a:noFill/>
          <a:ln/>
        </p:spPr>
        <p:txBody>
          <a:bodyPr wrap="square" lIns="0" tIns="0" rIns="0" bIns="0" rtlCol="0" anchor="ctr"/>
          <a:lstStyle/>
          <a:p>
            <a:pPr algn="ctr" indent="0" marL="0">
              <a:buNone/>
            </a:pPr>
            <a:r>
              <a:rPr lang="en-US" sz="1400" b="1" dirty="0">
                <a:solidFill>
                  <a:srgbClr val="E8EAF0"/>
                </a:solidFill>
                <a:latin typeface="Calibri" pitchFamily="34" charset="0"/>
                <a:ea typeface="Calibri" pitchFamily="34" charset="-122"/>
                <a:cs typeface="Calibri" pitchFamily="34" charset="-120"/>
              </a:rPr>
              <a:t>Simulator</a:t>
            </a:r>
            <a:endParaRPr lang="en-US" sz="1400" dirty="0"/>
          </a:p>
          <a:p>
            <a:pPr algn="ctr" indent="0" marL="0">
              <a:buNone/>
            </a:pPr>
            <a:r>
              <a:rPr lang="en-US" sz="1200" dirty="0">
                <a:solidFill>
                  <a:srgbClr val="9BA1AE"/>
                </a:solidFill>
                <a:latin typeface="Calibri" pitchFamily="34" charset="0"/>
                <a:ea typeface="Calibri" pitchFamily="34" charset="-122"/>
                <a:cs typeface="Calibri" pitchFamily="34" charset="-120"/>
              </a:rPr>
              <a:t>200 rovers posting telemetry</a:t>
            </a:r>
            <a:endParaRPr lang="en-US" sz="1400" dirty="0"/>
          </a:p>
        </p:txBody>
      </p:sp>
      <p:sp>
        <p:nvSpPr>
          <p:cNvPr id="18" name="Shape 16"/>
          <p:cNvSpPr/>
          <p:nvPr/>
        </p:nvSpPr>
        <p:spPr>
          <a:xfrm>
            <a:off x="2926080" y="4594860"/>
            <a:ext cx="528218" cy="0"/>
          </a:xfrm>
          <a:prstGeom prst="line">
            <a:avLst/>
          </a:prstGeom>
          <a:noFill/>
          <a:ln w="19050">
            <a:solidFill>
              <a:srgbClr val="9BA1AE"/>
            </a:solidFill>
            <a:prstDash val="solid"/>
            <a:tailEnd type="triangle"/>
          </a:ln>
        </p:spPr>
      </p:sp>
      <p:sp>
        <p:nvSpPr>
          <p:cNvPr id="19" name="Shape 17"/>
          <p:cNvSpPr/>
          <p:nvPr/>
        </p:nvSpPr>
        <p:spPr>
          <a:xfrm>
            <a:off x="3454298" y="4160520"/>
            <a:ext cx="2377440" cy="868680"/>
          </a:xfrm>
          <a:prstGeom prst="roundRect">
            <a:avLst>
              <a:gd name="adj" fmla="val 8421"/>
            </a:avLst>
          </a:prstGeom>
          <a:solidFill>
            <a:srgbClr val="1F232C"/>
          </a:solidFill>
          <a:ln w="9525">
            <a:solidFill>
              <a:srgbClr val="2C313C"/>
            </a:solidFill>
            <a:prstDash val="solid"/>
          </a:ln>
        </p:spPr>
      </p:sp>
      <p:sp>
        <p:nvSpPr>
          <p:cNvPr id="20" name="Text 18"/>
          <p:cNvSpPr/>
          <p:nvPr/>
        </p:nvSpPr>
        <p:spPr>
          <a:xfrm>
            <a:off x="3527450" y="4160520"/>
            <a:ext cx="2231136" cy="868680"/>
          </a:xfrm>
          <a:prstGeom prst="rect">
            <a:avLst/>
          </a:prstGeom>
          <a:noFill/>
          <a:ln/>
        </p:spPr>
        <p:txBody>
          <a:bodyPr wrap="square" lIns="0" tIns="0" rIns="0" bIns="0" rtlCol="0" anchor="ctr"/>
          <a:lstStyle/>
          <a:p>
            <a:pPr algn="ctr" indent="0" marL="0">
              <a:buNone/>
            </a:pPr>
            <a:r>
              <a:rPr lang="en-US" sz="1400" b="1" dirty="0">
                <a:solidFill>
                  <a:srgbClr val="E8EAF0"/>
                </a:solidFill>
                <a:latin typeface="Calibri" pitchFamily="34" charset="0"/>
                <a:ea typeface="Calibri" pitchFamily="34" charset="-122"/>
                <a:cs typeface="Calibri" pitchFamily="34" charset="-120"/>
              </a:rPr>
              <a:t>Backend CPU</a:t>
            </a:r>
            <a:endParaRPr lang="en-US" sz="1400" dirty="0"/>
          </a:p>
          <a:p>
            <a:pPr algn="ctr" indent="0" marL="0">
              <a:buNone/>
            </a:pPr>
            <a:r>
              <a:rPr lang="en-US" sz="1200" dirty="0">
                <a:solidFill>
                  <a:srgbClr val="9BA1AE"/>
                </a:solidFill>
                <a:latin typeface="Calibri" pitchFamily="34" charset="0"/>
                <a:ea typeface="Calibri" pitchFamily="34" charset="-122"/>
                <a:cs typeface="Calibri" pitchFamily="34" charset="-120"/>
              </a:rPr>
              <a:t>rises above the 60% target</a:t>
            </a:r>
            <a:endParaRPr lang="en-US" sz="1400" dirty="0"/>
          </a:p>
        </p:txBody>
      </p:sp>
      <p:sp>
        <p:nvSpPr>
          <p:cNvPr id="21" name="Shape 19"/>
          <p:cNvSpPr/>
          <p:nvPr/>
        </p:nvSpPr>
        <p:spPr>
          <a:xfrm>
            <a:off x="5831738" y="4594860"/>
            <a:ext cx="528218" cy="0"/>
          </a:xfrm>
          <a:prstGeom prst="line">
            <a:avLst/>
          </a:prstGeom>
          <a:noFill/>
          <a:ln w="19050">
            <a:solidFill>
              <a:srgbClr val="9BA1AE"/>
            </a:solidFill>
            <a:prstDash val="solid"/>
            <a:tailEnd type="triangle"/>
          </a:ln>
        </p:spPr>
      </p:sp>
      <p:sp>
        <p:nvSpPr>
          <p:cNvPr id="22" name="Shape 20"/>
          <p:cNvSpPr/>
          <p:nvPr/>
        </p:nvSpPr>
        <p:spPr>
          <a:xfrm>
            <a:off x="6359957" y="4160520"/>
            <a:ext cx="2377440" cy="868680"/>
          </a:xfrm>
          <a:prstGeom prst="roundRect">
            <a:avLst>
              <a:gd name="adj" fmla="val 8421"/>
            </a:avLst>
          </a:prstGeom>
          <a:solidFill>
            <a:srgbClr val="1F232C"/>
          </a:solidFill>
          <a:ln w="9525">
            <a:solidFill>
              <a:srgbClr val="8B7BF0"/>
            </a:solidFill>
            <a:prstDash val="solid"/>
          </a:ln>
        </p:spPr>
      </p:sp>
      <p:sp>
        <p:nvSpPr>
          <p:cNvPr id="23" name="Text 21"/>
          <p:cNvSpPr/>
          <p:nvPr/>
        </p:nvSpPr>
        <p:spPr>
          <a:xfrm>
            <a:off x="6433109" y="4160520"/>
            <a:ext cx="2231136" cy="868680"/>
          </a:xfrm>
          <a:prstGeom prst="rect">
            <a:avLst/>
          </a:prstGeom>
          <a:noFill/>
          <a:ln/>
        </p:spPr>
        <p:txBody>
          <a:bodyPr wrap="square" lIns="0" tIns="0" rIns="0" bIns="0" rtlCol="0" anchor="ctr"/>
          <a:lstStyle/>
          <a:p>
            <a:pPr algn="ctr" indent="0" marL="0">
              <a:buNone/>
            </a:pPr>
            <a:r>
              <a:rPr lang="en-US" sz="1400" b="1" dirty="0">
                <a:solidFill>
                  <a:srgbClr val="E8EAF0"/>
                </a:solidFill>
                <a:latin typeface="Calibri" pitchFamily="34" charset="0"/>
                <a:ea typeface="Calibri" pitchFamily="34" charset="-122"/>
                <a:cs typeface="Calibri" pitchFamily="34" charset="-120"/>
              </a:rPr>
              <a:t>metrics-server → HPA</a:t>
            </a:r>
            <a:endParaRPr lang="en-US" sz="1400" dirty="0"/>
          </a:p>
          <a:p>
            <a:pPr algn="ctr" indent="0" marL="0">
              <a:buNone/>
            </a:pPr>
            <a:r>
              <a:rPr lang="en-US" sz="1200" dirty="0">
                <a:solidFill>
                  <a:srgbClr val="9BA1AE"/>
                </a:solidFill>
                <a:latin typeface="Calibri" pitchFamily="34" charset="0"/>
                <a:ea typeface="Calibri" pitchFamily="34" charset="-122"/>
                <a:cs typeface="Calibri" pitchFamily="34" charset="-120"/>
              </a:rPr>
              <a:t>adds replicas, max 6</a:t>
            </a:r>
            <a:endParaRPr lang="en-US" sz="1400" dirty="0"/>
          </a:p>
        </p:txBody>
      </p:sp>
      <p:sp>
        <p:nvSpPr>
          <p:cNvPr id="24" name="Shape 22"/>
          <p:cNvSpPr/>
          <p:nvPr/>
        </p:nvSpPr>
        <p:spPr>
          <a:xfrm>
            <a:off x="8737397" y="4594860"/>
            <a:ext cx="528218" cy="0"/>
          </a:xfrm>
          <a:prstGeom prst="line">
            <a:avLst/>
          </a:prstGeom>
          <a:noFill/>
          <a:ln w="19050">
            <a:solidFill>
              <a:srgbClr val="9BA1AE"/>
            </a:solidFill>
            <a:prstDash val="solid"/>
            <a:tailEnd type="triangle"/>
          </a:ln>
        </p:spPr>
      </p:sp>
      <p:sp>
        <p:nvSpPr>
          <p:cNvPr id="25" name="Shape 23"/>
          <p:cNvSpPr/>
          <p:nvPr/>
        </p:nvSpPr>
        <p:spPr>
          <a:xfrm>
            <a:off x="9265615" y="4160520"/>
            <a:ext cx="2377440" cy="868680"/>
          </a:xfrm>
          <a:prstGeom prst="roundRect">
            <a:avLst>
              <a:gd name="adj" fmla="val 8421"/>
            </a:avLst>
          </a:prstGeom>
          <a:solidFill>
            <a:srgbClr val="1F232C"/>
          </a:solidFill>
          <a:ln w="9525">
            <a:solidFill>
              <a:srgbClr val="2C313C"/>
            </a:solidFill>
            <a:prstDash val="solid"/>
          </a:ln>
        </p:spPr>
      </p:sp>
      <p:sp>
        <p:nvSpPr>
          <p:cNvPr id="26" name="Text 24"/>
          <p:cNvSpPr/>
          <p:nvPr/>
        </p:nvSpPr>
        <p:spPr>
          <a:xfrm>
            <a:off x="9338767" y="4160520"/>
            <a:ext cx="2231136" cy="868680"/>
          </a:xfrm>
          <a:prstGeom prst="rect">
            <a:avLst/>
          </a:prstGeom>
          <a:noFill/>
          <a:ln/>
        </p:spPr>
        <p:txBody>
          <a:bodyPr wrap="square" lIns="0" tIns="0" rIns="0" bIns="0" rtlCol="0" anchor="ctr"/>
          <a:lstStyle/>
          <a:p>
            <a:pPr algn="ctr" indent="0" marL="0">
              <a:buNone/>
            </a:pPr>
            <a:r>
              <a:rPr lang="en-US" sz="1400" b="1" dirty="0">
                <a:solidFill>
                  <a:srgbClr val="E8EAF0"/>
                </a:solidFill>
                <a:latin typeface="Calibri" pitchFamily="34" charset="0"/>
                <a:ea typeface="Calibri" pitchFamily="34" charset="-122"/>
                <a:cs typeface="Calibri" pitchFamily="34" charset="-120"/>
              </a:rPr>
              <a:t>6 backend pods</a:t>
            </a:r>
            <a:endParaRPr lang="en-US" sz="1400" dirty="0"/>
          </a:p>
          <a:p>
            <a:pPr algn="ctr" indent="0" marL="0">
              <a:buNone/>
            </a:pPr>
            <a:r>
              <a:rPr lang="en-US" sz="1200" dirty="0">
                <a:solidFill>
                  <a:srgbClr val="9BA1AE"/>
                </a:solidFill>
                <a:latin typeface="Calibri" pitchFamily="34" charset="0"/>
                <a:ea typeface="Calibri" pitchFamily="34" charset="-122"/>
                <a:cs typeface="Calibri" pitchFamily="34" charset="-120"/>
              </a:rPr>
              <a:t>share the load, 0 errors</a:t>
            </a:r>
            <a:endParaRPr lang="en-US" sz="1400" dirty="0"/>
          </a:p>
        </p:txBody>
      </p:sp>
      <p:sp>
        <p:nvSpPr>
          <p:cNvPr id="27" name="Text 25"/>
          <p:cNvSpPr/>
          <p:nvPr/>
        </p:nvSpPr>
        <p:spPr>
          <a:xfrm>
            <a:off x="548640" y="5440680"/>
            <a:ext cx="11064240" cy="548640"/>
          </a:xfrm>
          <a:prstGeom prst="rect">
            <a:avLst/>
          </a:prstGeom>
          <a:noFill/>
          <a:ln/>
        </p:spPr>
        <p:txBody>
          <a:bodyPr wrap="square" lIns="0" tIns="0" rIns="0" bIns="0" rtlCol="0" anchor="t"/>
          <a:lstStyle/>
          <a:p>
            <a:pPr indent="0" marL="0">
              <a:buNone/>
            </a:pPr>
            <a:r>
              <a:rPr lang="en-US" sz="1500" dirty="0">
                <a:solidFill>
                  <a:srgbClr val="9BA1AE"/>
                </a:solidFill>
                <a:latin typeface="Calibri" pitchFamily="34" charset="0"/>
                <a:ea typeface="Calibri" pitchFamily="34" charset="-122"/>
                <a:cs typeface="Calibri" pitchFamily="34" charset="-120"/>
              </a:rPr>
              <a:t>The simulator doubles as the load generator, so the test exercises the real API paths that rovers use.</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014"/>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300" kern="0" dirty="0">
                <a:solidFill>
                  <a:srgbClr val="8B7BF0"/>
                </a:solidFill>
                <a:latin typeface="Calibri" pitchFamily="34" charset="0"/>
                <a:ea typeface="Calibri" pitchFamily="34" charset="-122"/>
                <a:cs typeface="Calibri" pitchFamily="34" charset="-120"/>
              </a:rPr>
              <a:t>OBSERVABILITY</a:t>
            </a:r>
            <a:endParaRPr lang="en-US" sz="1200" dirty="0"/>
          </a:p>
        </p:txBody>
      </p:sp>
      <p:sp>
        <p:nvSpPr>
          <p:cNvPr id="3" name="Text 1"/>
          <p:cNvSpPr/>
          <p:nvPr/>
        </p:nvSpPr>
        <p:spPr>
          <a:xfrm>
            <a:off x="548640" y="676656"/>
            <a:ext cx="11064240" cy="603504"/>
          </a:xfrm>
          <a:prstGeom prst="rect">
            <a:avLst/>
          </a:prstGeom>
          <a:noFill/>
          <a:ln/>
        </p:spPr>
        <p:txBody>
          <a:bodyPr wrap="square" lIns="0" tIns="0" rIns="0" bIns="0" rtlCol="0" anchor="t"/>
          <a:lstStyle/>
          <a:p>
            <a:pPr indent="0" marL="0">
              <a:buNone/>
            </a:pPr>
            <a:r>
              <a:rPr lang="en-US" sz="3400" b="1" dirty="0">
                <a:solidFill>
                  <a:srgbClr val="E8EAF0"/>
                </a:solidFill>
                <a:latin typeface="Calibri" pitchFamily="34" charset="0"/>
                <a:ea typeface="Calibri" pitchFamily="34" charset="-122"/>
                <a:cs typeface="Calibri" pitchFamily="34" charset="-120"/>
              </a:rPr>
              <a:t>Custom metrics scraped by Prometheus</a:t>
            </a:r>
            <a:endParaRPr lang="en-US" sz="3400" dirty="0"/>
          </a:p>
        </p:txBody>
      </p:sp>
      <p:sp>
        <p:nvSpPr>
          <p:cNvPr id="4" name="Shape 2"/>
          <p:cNvSpPr/>
          <p:nvPr/>
        </p:nvSpPr>
        <p:spPr>
          <a:xfrm>
            <a:off x="548640" y="1463040"/>
            <a:ext cx="5257800" cy="2243208"/>
          </a:xfrm>
          <a:prstGeom prst="roundRect">
            <a:avLst>
              <a:gd name="adj" fmla="val 2446"/>
            </a:avLst>
          </a:prstGeom>
          <a:solidFill>
            <a:srgbClr val="171A21"/>
          </a:solidFill>
          <a:ln w="9525">
            <a:solidFill>
              <a:srgbClr val="2C313C"/>
            </a:solidFill>
            <a:prstDash val="solid"/>
          </a:ln>
        </p:spPr>
      </p:sp>
      <p:pic>
        <p:nvPicPr>
          <p:cNvPr id="5" name="Image 0" descr="Backend /metrics: custom patrol_* metrics">    </p:cNvPr>
          <p:cNvPicPr>
            <a:picLocks noChangeAspect="1"/>
          </p:cNvPicPr>
          <p:nvPr/>
        </p:nvPicPr>
        <p:blipFill>
          <a:blip r:embed="rId1"/>
          <a:stretch>
            <a:fillRect/>
          </a:stretch>
        </p:blipFill>
        <p:spPr>
          <a:xfrm>
            <a:off x="603504" y="1517904"/>
            <a:ext cx="5148072" cy="2133480"/>
          </a:xfrm>
          <a:prstGeom prst="rect">
            <a:avLst/>
          </a:prstGeom>
        </p:spPr>
      </p:pic>
      <p:sp>
        <p:nvSpPr>
          <p:cNvPr id="6" name="Text 3"/>
          <p:cNvSpPr/>
          <p:nvPr/>
        </p:nvSpPr>
        <p:spPr>
          <a:xfrm>
            <a:off x="548640" y="3779400"/>
            <a:ext cx="5257800" cy="274320"/>
          </a:xfrm>
          <a:prstGeom prst="rect">
            <a:avLst/>
          </a:prstGeom>
          <a:noFill/>
          <a:ln/>
        </p:spPr>
        <p:txBody>
          <a:bodyPr wrap="square" lIns="0" tIns="0" rIns="0" bIns="0" rtlCol="0" anchor="t"/>
          <a:lstStyle/>
          <a:p>
            <a:pPr indent="0" marL="0">
              <a:buNone/>
            </a:pPr>
            <a:r>
              <a:rPr lang="en-US" sz="1200" dirty="0">
                <a:solidFill>
                  <a:srgbClr val="9BA1AE"/>
                </a:solidFill>
                <a:latin typeface="Calibri" pitchFamily="34" charset="0"/>
                <a:ea typeface="Calibri" pitchFamily="34" charset="-122"/>
                <a:cs typeface="Calibri" pitchFamily="34" charset="-120"/>
              </a:rPr>
              <a:t>Backend /metrics: custom patrol_* metrics</a:t>
            </a:r>
            <a:endParaRPr lang="en-US" sz="1200" dirty="0"/>
          </a:p>
        </p:txBody>
      </p:sp>
      <p:sp>
        <p:nvSpPr>
          <p:cNvPr id="7" name="Shape 4"/>
          <p:cNvSpPr/>
          <p:nvPr/>
        </p:nvSpPr>
        <p:spPr>
          <a:xfrm>
            <a:off x="6172200" y="1463040"/>
            <a:ext cx="5470855" cy="3180321"/>
          </a:xfrm>
          <a:prstGeom prst="roundRect">
            <a:avLst>
              <a:gd name="adj" fmla="val 1725"/>
            </a:avLst>
          </a:prstGeom>
          <a:solidFill>
            <a:srgbClr val="171A21"/>
          </a:solidFill>
          <a:ln w="9525">
            <a:solidFill>
              <a:srgbClr val="2C313C"/>
            </a:solidFill>
            <a:prstDash val="solid"/>
          </a:ln>
        </p:spPr>
      </p:sp>
      <p:pic>
        <p:nvPicPr>
          <p:cNvPr id="8" name="Image 1" descr="Prometheus targets: campus-patrol-backend 2/2 UP via ServiceMonitor">    </p:cNvPr>
          <p:cNvPicPr>
            <a:picLocks noChangeAspect="1"/>
          </p:cNvPicPr>
          <p:nvPr/>
        </p:nvPicPr>
        <p:blipFill>
          <a:blip r:embed="rId2"/>
          <a:stretch>
            <a:fillRect/>
          </a:stretch>
        </p:blipFill>
        <p:spPr>
          <a:xfrm>
            <a:off x="6227064" y="1517904"/>
            <a:ext cx="5361127" cy="3070593"/>
          </a:xfrm>
          <a:prstGeom prst="rect">
            <a:avLst/>
          </a:prstGeom>
        </p:spPr>
      </p:pic>
      <p:sp>
        <p:nvSpPr>
          <p:cNvPr id="9" name="Text 5"/>
          <p:cNvSpPr/>
          <p:nvPr/>
        </p:nvSpPr>
        <p:spPr>
          <a:xfrm>
            <a:off x="6172200" y="4716513"/>
            <a:ext cx="5470855" cy="274320"/>
          </a:xfrm>
          <a:prstGeom prst="rect">
            <a:avLst/>
          </a:prstGeom>
          <a:noFill/>
          <a:ln/>
        </p:spPr>
        <p:txBody>
          <a:bodyPr wrap="square" lIns="0" tIns="0" rIns="0" bIns="0" rtlCol="0" anchor="t"/>
          <a:lstStyle/>
          <a:p>
            <a:pPr indent="0" marL="0">
              <a:buNone/>
            </a:pPr>
            <a:r>
              <a:rPr lang="en-US" sz="1200" dirty="0">
                <a:solidFill>
                  <a:srgbClr val="9BA1AE"/>
                </a:solidFill>
                <a:latin typeface="Calibri" pitchFamily="34" charset="0"/>
                <a:ea typeface="Calibri" pitchFamily="34" charset="-122"/>
                <a:cs typeface="Calibri" pitchFamily="34" charset="-120"/>
              </a:rPr>
              <a:t>Prometheus targets: campus-patrol-backend 2/2 UP via ServiceMonitor</a:t>
            </a:r>
            <a:endParaRPr lang="en-US" sz="1200" dirty="0"/>
          </a:p>
        </p:txBody>
      </p:sp>
      <p:sp>
        <p:nvSpPr>
          <p:cNvPr id="10" name="Text 6"/>
          <p:cNvSpPr/>
          <p:nvPr/>
        </p:nvSpPr>
        <p:spPr>
          <a:xfrm>
            <a:off x="548640" y="4328040"/>
            <a:ext cx="5257800" cy="320040"/>
          </a:xfrm>
          <a:prstGeom prst="rect">
            <a:avLst/>
          </a:prstGeom>
          <a:noFill/>
          <a:ln/>
        </p:spPr>
        <p:txBody>
          <a:bodyPr wrap="square" lIns="0" tIns="0" rIns="0" bIns="0" rtlCol="0" anchor="t"/>
          <a:lstStyle/>
          <a:p>
            <a:pPr indent="0" marL="0">
              <a:buNone/>
            </a:pPr>
            <a:r>
              <a:rPr lang="en-US" sz="1600" b="1" dirty="0">
                <a:solidFill>
                  <a:srgbClr val="8B7BF0"/>
                </a:solidFill>
                <a:latin typeface="Calibri" pitchFamily="34" charset="0"/>
                <a:ea typeface="Calibri" pitchFamily="34" charset="-122"/>
                <a:cs typeface="Calibri" pitchFamily="34" charset="-120"/>
              </a:rPr>
              <a:t>Alert rules shipped in the chart</a:t>
            </a:r>
            <a:endParaRPr lang="en-US" sz="1600" dirty="0"/>
          </a:p>
        </p:txBody>
      </p:sp>
      <p:sp>
        <p:nvSpPr>
          <p:cNvPr id="11" name="Text 7"/>
          <p:cNvSpPr/>
          <p:nvPr/>
        </p:nvSpPr>
        <p:spPr>
          <a:xfrm>
            <a:off x="548640" y="4739520"/>
            <a:ext cx="2651760" cy="365760"/>
          </a:xfrm>
          <a:prstGeom prst="rect">
            <a:avLst/>
          </a:prstGeom>
          <a:noFill/>
          <a:ln/>
        </p:spPr>
        <p:txBody>
          <a:bodyPr wrap="square" lIns="0" tIns="0" rIns="0" bIns="0" rtlCol="0" anchor="t"/>
          <a:lstStyle/>
          <a:p>
            <a:pPr indent="0" marL="0">
              <a:buNone/>
            </a:pPr>
            <a:r>
              <a:rPr lang="en-US" sz="1400" b="1" dirty="0">
                <a:solidFill>
                  <a:srgbClr val="E8EAF0"/>
                </a:solidFill>
                <a:latin typeface="Courier New" pitchFamily="34" charset="0"/>
                <a:ea typeface="Courier New" pitchFamily="34" charset="-122"/>
                <a:cs typeface="Courier New" pitchFamily="34" charset="-120"/>
              </a:rPr>
              <a:t>RoverOffline</a:t>
            </a:r>
            <a:endParaRPr lang="en-US" sz="1400" dirty="0"/>
          </a:p>
        </p:txBody>
      </p:sp>
      <p:sp>
        <p:nvSpPr>
          <p:cNvPr id="12" name="Text 8"/>
          <p:cNvSpPr/>
          <p:nvPr/>
        </p:nvSpPr>
        <p:spPr>
          <a:xfrm>
            <a:off x="3291840" y="4739520"/>
            <a:ext cx="2514600" cy="365760"/>
          </a:xfrm>
          <a:prstGeom prst="rect">
            <a:avLst/>
          </a:prstGeom>
          <a:noFill/>
          <a:ln/>
        </p:spPr>
        <p:txBody>
          <a:bodyPr wrap="square" lIns="0" tIns="0" rIns="0" bIns="0" rtlCol="0" anchor="t"/>
          <a:lstStyle/>
          <a:p>
            <a:pPr indent="0" marL="0">
              <a:buNone/>
            </a:pPr>
            <a:r>
              <a:rPr lang="en-US" sz="1400" dirty="0">
                <a:solidFill>
                  <a:srgbClr val="9BA1AE"/>
                </a:solidFill>
                <a:latin typeface="Calibri" pitchFamily="34" charset="0"/>
                <a:ea typeface="Calibri" pitchFamily="34" charset="-122"/>
                <a:cs typeface="Calibri" pitchFamily="34" charset="-120"/>
              </a:rPr>
              <a:t>a rover stops reporting</a:t>
            </a:r>
            <a:endParaRPr lang="en-US" sz="1400" dirty="0"/>
          </a:p>
        </p:txBody>
      </p:sp>
      <p:sp>
        <p:nvSpPr>
          <p:cNvPr id="13" name="Text 9"/>
          <p:cNvSpPr/>
          <p:nvPr/>
        </p:nvSpPr>
        <p:spPr>
          <a:xfrm>
            <a:off x="548640" y="5215008"/>
            <a:ext cx="2651760" cy="365760"/>
          </a:xfrm>
          <a:prstGeom prst="rect">
            <a:avLst/>
          </a:prstGeom>
          <a:noFill/>
          <a:ln/>
        </p:spPr>
        <p:txBody>
          <a:bodyPr wrap="square" lIns="0" tIns="0" rIns="0" bIns="0" rtlCol="0" anchor="t"/>
          <a:lstStyle/>
          <a:p>
            <a:pPr indent="0" marL="0">
              <a:buNone/>
            </a:pPr>
            <a:r>
              <a:rPr lang="en-US" sz="1400" b="1" dirty="0">
                <a:solidFill>
                  <a:srgbClr val="E8EAF0"/>
                </a:solidFill>
                <a:latin typeface="Courier New" pitchFamily="34" charset="0"/>
                <a:ea typeface="Courier New" pitchFamily="34" charset="-122"/>
                <a:cs typeface="Courier New" pitchFamily="34" charset="-120"/>
              </a:rPr>
              <a:t>BackendHighErrorRate</a:t>
            </a:r>
            <a:endParaRPr lang="en-US" sz="1400" dirty="0"/>
          </a:p>
        </p:txBody>
      </p:sp>
      <p:sp>
        <p:nvSpPr>
          <p:cNvPr id="14" name="Text 10"/>
          <p:cNvSpPr/>
          <p:nvPr/>
        </p:nvSpPr>
        <p:spPr>
          <a:xfrm>
            <a:off x="3291840" y="5215008"/>
            <a:ext cx="2514600" cy="365760"/>
          </a:xfrm>
          <a:prstGeom prst="rect">
            <a:avLst/>
          </a:prstGeom>
          <a:noFill/>
          <a:ln/>
        </p:spPr>
        <p:txBody>
          <a:bodyPr wrap="square" lIns="0" tIns="0" rIns="0" bIns="0" rtlCol="0" anchor="t"/>
          <a:lstStyle/>
          <a:p>
            <a:pPr indent="0" marL="0">
              <a:buNone/>
            </a:pPr>
            <a:r>
              <a:rPr lang="en-US" sz="1400" dirty="0">
                <a:solidFill>
                  <a:srgbClr val="9BA1AE"/>
                </a:solidFill>
                <a:latin typeface="Calibri" pitchFamily="34" charset="0"/>
                <a:ea typeface="Calibri" pitchFamily="34" charset="-122"/>
                <a:cs typeface="Calibri" pitchFamily="34" charset="-120"/>
              </a:rPr>
              <a:t>too many 5xx responses</a:t>
            </a:r>
            <a:endParaRPr lang="en-US" sz="1400" dirty="0"/>
          </a:p>
        </p:txBody>
      </p:sp>
      <p:sp>
        <p:nvSpPr>
          <p:cNvPr id="15" name="Text 11"/>
          <p:cNvSpPr/>
          <p:nvPr/>
        </p:nvSpPr>
        <p:spPr>
          <a:xfrm>
            <a:off x="548640" y="5690496"/>
            <a:ext cx="2651760" cy="365760"/>
          </a:xfrm>
          <a:prstGeom prst="rect">
            <a:avLst/>
          </a:prstGeom>
          <a:noFill/>
          <a:ln/>
        </p:spPr>
        <p:txBody>
          <a:bodyPr wrap="square" lIns="0" tIns="0" rIns="0" bIns="0" rtlCol="0" anchor="t"/>
          <a:lstStyle/>
          <a:p>
            <a:pPr indent="0" marL="0">
              <a:buNone/>
            </a:pPr>
            <a:r>
              <a:rPr lang="en-US" sz="1400" b="1" dirty="0">
                <a:solidFill>
                  <a:srgbClr val="E8EAF0"/>
                </a:solidFill>
                <a:latin typeface="Courier New" pitchFamily="34" charset="0"/>
                <a:ea typeface="Courier New" pitchFamily="34" charset="-122"/>
                <a:cs typeface="Courier New" pitchFamily="34" charset="-120"/>
              </a:rPr>
              <a:t>IncidentBacklog</a:t>
            </a:r>
            <a:endParaRPr lang="en-US" sz="1400" dirty="0"/>
          </a:p>
        </p:txBody>
      </p:sp>
      <p:sp>
        <p:nvSpPr>
          <p:cNvPr id="16" name="Text 12"/>
          <p:cNvSpPr/>
          <p:nvPr/>
        </p:nvSpPr>
        <p:spPr>
          <a:xfrm>
            <a:off x="3291840" y="5690496"/>
            <a:ext cx="2514600" cy="365760"/>
          </a:xfrm>
          <a:prstGeom prst="rect">
            <a:avLst/>
          </a:prstGeom>
          <a:noFill/>
          <a:ln/>
        </p:spPr>
        <p:txBody>
          <a:bodyPr wrap="square" lIns="0" tIns="0" rIns="0" bIns="0" rtlCol="0" anchor="t"/>
          <a:lstStyle/>
          <a:p>
            <a:pPr indent="0" marL="0">
              <a:buNone/>
            </a:pPr>
            <a:r>
              <a:rPr lang="en-US" sz="1400" dirty="0">
                <a:solidFill>
                  <a:srgbClr val="9BA1AE"/>
                </a:solidFill>
                <a:latin typeface="Calibri" pitchFamily="34" charset="0"/>
                <a:ea typeface="Calibri" pitchFamily="34" charset="-122"/>
                <a:cs typeface="Calibri" pitchFamily="34" charset="-120"/>
              </a:rPr>
              <a:t>open incidents pile up</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1014"/>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300" kern="0" dirty="0">
                <a:solidFill>
                  <a:srgbClr val="8B7BF0"/>
                </a:solidFill>
                <a:latin typeface="Calibri" pitchFamily="34" charset="0"/>
                <a:ea typeface="Calibri" pitchFamily="34" charset="-122"/>
                <a:cs typeface="Calibri" pitchFamily="34" charset="-120"/>
              </a:rPr>
              <a:t>OBSERVABILITY</a:t>
            </a:r>
            <a:endParaRPr lang="en-US" sz="1200" dirty="0"/>
          </a:p>
        </p:txBody>
      </p:sp>
      <p:sp>
        <p:nvSpPr>
          <p:cNvPr id="3" name="Text 1"/>
          <p:cNvSpPr/>
          <p:nvPr/>
        </p:nvSpPr>
        <p:spPr>
          <a:xfrm>
            <a:off x="548640" y="676656"/>
            <a:ext cx="11064240" cy="603504"/>
          </a:xfrm>
          <a:prstGeom prst="rect">
            <a:avLst/>
          </a:prstGeom>
          <a:noFill/>
          <a:ln/>
        </p:spPr>
        <p:txBody>
          <a:bodyPr wrap="square" lIns="0" tIns="0" rIns="0" bIns="0" rtlCol="0" anchor="t"/>
          <a:lstStyle/>
          <a:p>
            <a:pPr indent="0" marL="0">
              <a:buNone/>
            </a:pPr>
            <a:r>
              <a:rPr lang="en-US" sz="3400" b="1" dirty="0">
                <a:solidFill>
                  <a:srgbClr val="E8EAF0"/>
                </a:solidFill>
                <a:latin typeface="Calibri" pitchFamily="34" charset="0"/>
                <a:ea typeface="Calibri" pitchFamily="34" charset="-122"/>
                <a:cs typeface="Calibri" pitchFamily="34" charset="-120"/>
              </a:rPr>
              <a:t>Every scrape target in the cluster is UP</a:t>
            </a:r>
            <a:endParaRPr lang="en-US" sz="3400" dirty="0"/>
          </a:p>
        </p:txBody>
      </p:sp>
      <p:sp>
        <p:nvSpPr>
          <p:cNvPr id="4" name="Text 2"/>
          <p:cNvSpPr/>
          <p:nvPr/>
        </p:nvSpPr>
        <p:spPr>
          <a:xfrm>
            <a:off x="548640" y="1417320"/>
            <a:ext cx="11064240" cy="329184"/>
          </a:xfrm>
          <a:prstGeom prst="rect">
            <a:avLst/>
          </a:prstGeom>
          <a:noFill/>
          <a:ln/>
        </p:spPr>
        <p:txBody>
          <a:bodyPr wrap="square" lIns="0" tIns="0" rIns="0" bIns="0" rtlCol="0" anchor="t"/>
          <a:lstStyle/>
          <a:p>
            <a:pPr indent="0" marL="0">
              <a:buNone/>
            </a:pPr>
            <a:r>
              <a:rPr lang="en-US" sz="1500" dirty="0">
                <a:solidFill>
                  <a:srgbClr val="9BA1AE"/>
                </a:solidFill>
                <a:latin typeface="Calibri" pitchFamily="34" charset="0"/>
                <a:ea typeface="Calibri" pitchFamily="34" charset="-122"/>
                <a:cs typeface="Calibri" pitchFamily="34" charset="-120"/>
              </a:rPr>
              <a:t>kube-prometheus-stack also scrapes the control plane and nodes, so app and platform health live in one place.</a:t>
            </a:r>
            <a:endParaRPr lang="en-US" sz="1500" dirty="0"/>
          </a:p>
        </p:txBody>
      </p:sp>
      <p:sp>
        <p:nvSpPr>
          <p:cNvPr id="5" name="Shape 3"/>
          <p:cNvSpPr/>
          <p:nvPr/>
        </p:nvSpPr>
        <p:spPr>
          <a:xfrm>
            <a:off x="548640" y="1920240"/>
            <a:ext cx="5413248" cy="3133296"/>
          </a:xfrm>
          <a:prstGeom prst="roundRect">
            <a:avLst>
              <a:gd name="adj" fmla="val 1751"/>
            </a:avLst>
          </a:prstGeom>
          <a:solidFill>
            <a:srgbClr val="171A21"/>
          </a:solidFill>
          <a:ln w="9525">
            <a:solidFill>
              <a:srgbClr val="2C313C"/>
            </a:solidFill>
            <a:prstDash val="solid"/>
          </a:ln>
        </p:spPr>
      </p:sp>
      <p:pic>
        <p:nvPicPr>
          <p:cNvPr id="6" name="Image 0" descr="apiserver 2/2, coredns 2/2, grafana 1/1 UP">    </p:cNvPr>
          <p:cNvPicPr>
            <a:picLocks noChangeAspect="1"/>
          </p:cNvPicPr>
          <p:nvPr/>
        </p:nvPicPr>
        <p:blipFill>
          <a:blip r:embed="rId1"/>
          <a:stretch>
            <a:fillRect/>
          </a:stretch>
        </p:blipFill>
        <p:spPr>
          <a:xfrm>
            <a:off x="603504" y="1975104"/>
            <a:ext cx="5303520" cy="3023568"/>
          </a:xfrm>
          <a:prstGeom prst="rect">
            <a:avLst/>
          </a:prstGeom>
        </p:spPr>
      </p:pic>
      <p:sp>
        <p:nvSpPr>
          <p:cNvPr id="7" name="Text 4"/>
          <p:cNvSpPr/>
          <p:nvPr/>
        </p:nvSpPr>
        <p:spPr>
          <a:xfrm>
            <a:off x="548640" y="5126688"/>
            <a:ext cx="5413248" cy="274320"/>
          </a:xfrm>
          <a:prstGeom prst="rect">
            <a:avLst/>
          </a:prstGeom>
          <a:noFill/>
          <a:ln/>
        </p:spPr>
        <p:txBody>
          <a:bodyPr wrap="square" lIns="0" tIns="0" rIns="0" bIns="0" rtlCol="0" anchor="t"/>
          <a:lstStyle/>
          <a:p>
            <a:pPr indent="0" marL="0">
              <a:buNone/>
            </a:pPr>
            <a:r>
              <a:rPr lang="en-US" sz="1200" dirty="0">
                <a:solidFill>
                  <a:srgbClr val="9BA1AE"/>
                </a:solidFill>
                <a:latin typeface="Calibri" pitchFamily="34" charset="0"/>
                <a:ea typeface="Calibri" pitchFamily="34" charset="-122"/>
                <a:cs typeface="Calibri" pitchFamily="34" charset="-120"/>
              </a:rPr>
              <a:t>apiserver 2/2, coredns 2/2, grafana 1/1 UP</a:t>
            </a:r>
            <a:endParaRPr lang="en-US" sz="1200" dirty="0"/>
          </a:p>
        </p:txBody>
      </p:sp>
      <p:sp>
        <p:nvSpPr>
          <p:cNvPr id="8" name="Shape 5"/>
          <p:cNvSpPr/>
          <p:nvPr/>
        </p:nvSpPr>
        <p:spPr>
          <a:xfrm>
            <a:off x="6229807" y="1920240"/>
            <a:ext cx="5413248" cy="2845671"/>
          </a:xfrm>
          <a:prstGeom prst="roundRect">
            <a:avLst>
              <a:gd name="adj" fmla="val 1928"/>
            </a:avLst>
          </a:prstGeom>
          <a:solidFill>
            <a:srgbClr val="171A21"/>
          </a:solidFill>
          <a:ln w="9525">
            <a:solidFill>
              <a:srgbClr val="2C313C"/>
            </a:solidFill>
            <a:prstDash val="solid"/>
          </a:ln>
        </p:spPr>
      </p:sp>
      <p:pic>
        <p:nvPicPr>
          <p:cNvPr id="9" name="Image 1" descr="kube-proxy 3/3 (one per node), kube-state-metrics 1/1, kubelet 3/3 UP">    </p:cNvPr>
          <p:cNvPicPr>
            <a:picLocks noChangeAspect="1"/>
          </p:cNvPicPr>
          <p:nvPr/>
        </p:nvPicPr>
        <p:blipFill>
          <a:blip r:embed="rId2"/>
          <a:stretch>
            <a:fillRect/>
          </a:stretch>
        </p:blipFill>
        <p:spPr>
          <a:xfrm>
            <a:off x="6284671" y="1975104"/>
            <a:ext cx="5303520" cy="2735943"/>
          </a:xfrm>
          <a:prstGeom prst="rect">
            <a:avLst/>
          </a:prstGeom>
        </p:spPr>
      </p:pic>
      <p:sp>
        <p:nvSpPr>
          <p:cNvPr id="10" name="Text 6"/>
          <p:cNvSpPr/>
          <p:nvPr/>
        </p:nvSpPr>
        <p:spPr>
          <a:xfrm>
            <a:off x="6229807" y="4839063"/>
            <a:ext cx="5413248" cy="274320"/>
          </a:xfrm>
          <a:prstGeom prst="rect">
            <a:avLst/>
          </a:prstGeom>
          <a:noFill/>
          <a:ln/>
        </p:spPr>
        <p:txBody>
          <a:bodyPr wrap="square" lIns="0" tIns="0" rIns="0" bIns="0" rtlCol="0" anchor="t"/>
          <a:lstStyle/>
          <a:p>
            <a:pPr indent="0" marL="0">
              <a:buNone/>
            </a:pPr>
            <a:r>
              <a:rPr lang="en-US" sz="1200" dirty="0">
                <a:solidFill>
                  <a:srgbClr val="9BA1AE"/>
                </a:solidFill>
                <a:latin typeface="Calibri" pitchFamily="34" charset="0"/>
                <a:ea typeface="Calibri" pitchFamily="34" charset="-122"/>
                <a:cs typeface="Calibri" pitchFamily="34" charset="-120"/>
              </a:rPr>
              <a:t>kube-proxy 3/3 (one per node), kube-state-metrics 1/1, kubelet 3/3 UP</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1014"/>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300" kern="0" dirty="0">
                <a:solidFill>
                  <a:srgbClr val="8B7BF0"/>
                </a:solidFill>
                <a:latin typeface="Calibri" pitchFamily="34" charset="0"/>
                <a:ea typeface="Calibri" pitchFamily="34" charset="-122"/>
                <a:cs typeface="Calibri" pitchFamily="34" charset="-120"/>
              </a:rPr>
              <a:t>OBSERVABILITY</a:t>
            </a:r>
            <a:endParaRPr lang="en-US" sz="1200" dirty="0"/>
          </a:p>
        </p:txBody>
      </p:sp>
      <p:sp>
        <p:nvSpPr>
          <p:cNvPr id="3" name="Text 1"/>
          <p:cNvSpPr/>
          <p:nvPr/>
        </p:nvSpPr>
        <p:spPr>
          <a:xfrm>
            <a:off x="548640" y="676656"/>
            <a:ext cx="11064240" cy="603504"/>
          </a:xfrm>
          <a:prstGeom prst="rect">
            <a:avLst/>
          </a:prstGeom>
          <a:noFill/>
          <a:ln/>
        </p:spPr>
        <p:txBody>
          <a:bodyPr wrap="square" lIns="0" tIns="0" rIns="0" bIns="0" rtlCol="0" anchor="t"/>
          <a:lstStyle/>
          <a:p>
            <a:pPr indent="0" marL="0">
              <a:buNone/>
            </a:pPr>
            <a:r>
              <a:rPr lang="en-US" sz="3400" b="1" dirty="0">
                <a:solidFill>
                  <a:srgbClr val="E8EAF0"/>
                </a:solidFill>
                <a:latin typeface="Calibri" pitchFamily="34" charset="0"/>
                <a:ea typeface="Calibri" pitchFamily="34" charset="-122"/>
                <a:cs typeface="Calibri" pitchFamily="34" charset="-120"/>
              </a:rPr>
              <a:t>Grafana dashboard, shipped as code</a:t>
            </a:r>
            <a:endParaRPr lang="en-US" sz="3400" dirty="0"/>
          </a:p>
        </p:txBody>
      </p:sp>
      <p:sp>
        <p:nvSpPr>
          <p:cNvPr id="4" name="Text 2"/>
          <p:cNvSpPr/>
          <p:nvPr/>
        </p:nvSpPr>
        <p:spPr>
          <a:xfrm>
            <a:off x="548640" y="1417320"/>
            <a:ext cx="11064240" cy="329184"/>
          </a:xfrm>
          <a:prstGeom prst="rect">
            <a:avLst/>
          </a:prstGeom>
          <a:noFill/>
          <a:ln/>
        </p:spPr>
        <p:txBody>
          <a:bodyPr wrap="square" lIns="0" tIns="0" rIns="0" bIns="0" rtlCol="0" anchor="t"/>
          <a:lstStyle/>
          <a:p>
            <a:pPr indent="0" marL="0">
              <a:buNone/>
            </a:pPr>
            <a:r>
              <a:rPr lang="en-US" sz="1500" dirty="0">
                <a:solidFill>
                  <a:srgbClr val="9BA1AE"/>
                </a:solidFill>
                <a:latin typeface="Calibri" pitchFamily="34" charset="0"/>
                <a:ea typeface="Calibri" pitchFamily="34" charset="-122"/>
                <a:cs typeface="Calibri" pitchFamily="34" charset="-120"/>
              </a:rPr>
              <a:t>11 panels in a ConfigMap, auto-loaded by Grafana's sidecar, so the dashboard is versioned with the chart.</a:t>
            </a:r>
            <a:endParaRPr lang="en-US" sz="1500" dirty="0"/>
          </a:p>
        </p:txBody>
      </p:sp>
      <p:sp>
        <p:nvSpPr>
          <p:cNvPr id="5" name="Shape 3"/>
          <p:cNvSpPr/>
          <p:nvPr/>
        </p:nvSpPr>
        <p:spPr>
          <a:xfrm>
            <a:off x="548640" y="1920240"/>
            <a:ext cx="5413248" cy="3126280"/>
          </a:xfrm>
          <a:prstGeom prst="roundRect">
            <a:avLst>
              <a:gd name="adj" fmla="val 1755"/>
            </a:avLst>
          </a:prstGeom>
          <a:solidFill>
            <a:srgbClr val="171A21"/>
          </a:solidFill>
          <a:ln w="9525">
            <a:solidFill>
              <a:srgbClr val="2C313C"/>
            </a:solidFill>
            <a:prstDash val="solid"/>
          </a:ln>
        </p:spPr>
      </p:sp>
      <p:pic>
        <p:nvPicPr>
          <p:cNvPr id="6" name="Image 0" descr="Stat row, request rate, p95 latency, CPU vs replicas, events by type">    </p:cNvPr>
          <p:cNvPicPr>
            <a:picLocks noChangeAspect="1"/>
          </p:cNvPicPr>
          <p:nvPr/>
        </p:nvPicPr>
        <p:blipFill>
          <a:blip r:embed="rId1"/>
          <a:stretch>
            <a:fillRect/>
          </a:stretch>
        </p:blipFill>
        <p:spPr>
          <a:xfrm>
            <a:off x="603504" y="1975104"/>
            <a:ext cx="5303520" cy="3016552"/>
          </a:xfrm>
          <a:prstGeom prst="rect">
            <a:avLst/>
          </a:prstGeom>
        </p:spPr>
      </p:pic>
      <p:sp>
        <p:nvSpPr>
          <p:cNvPr id="7" name="Text 4"/>
          <p:cNvSpPr/>
          <p:nvPr/>
        </p:nvSpPr>
        <p:spPr>
          <a:xfrm>
            <a:off x="548640" y="5119672"/>
            <a:ext cx="5413248" cy="274320"/>
          </a:xfrm>
          <a:prstGeom prst="rect">
            <a:avLst/>
          </a:prstGeom>
          <a:noFill/>
          <a:ln/>
        </p:spPr>
        <p:txBody>
          <a:bodyPr wrap="square" lIns="0" tIns="0" rIns="0" bIns="0" rtlCol="0" anchor="t"/>
          <a:lstStyle/>
          <a:p>
            <a:pPr indent="0" marL="0">
              <a:buNone/>
            </a:pPr>
            <a:r>
              <a:rPr lang="en-US" sz="1200" dirty="0">
                <a:solidFill>
                  <a:srgbClr val="9BA1AE"/>
                </a:solidFill>
                <a:latin typeface="Calibri" pitchFamily="34" charset="0"/>
                <a:ea typeface="Calibri" pitchFamily="34" charset="-122"/>
                <a:cs typeface="Calibri" pitchFamily="34" charset="-120"/>
              </a:rPr>
              <a:t>Stat row, request rate, p95 latency, CPU vs replicas, events by type</a:t>
            </a:r>
            <a:endParaRPr lang="en-US" sz="1200" dirty="0"/>
          </a:p>
        </p:txBody>
      </p:sp>
      <p:sp>
        <p:nvSpPr>
          <p:cNvPr id="8" name="Shape 5"/>
          <p:cNvSpPr/>
          <p:nvPr/>
        </p:nvSpPr>
        <p:spPr>
          <a:xfrm>
            <a:off x="6229807" y="1920240"/>
            <a:ext cx="5413248" cy="3121257"/>
          </a:xfrm>
          <a:prstGeom prst="roundRect">
            <a:avLst>
              <a:gd name="adj" fmla="val 1758"/>
            </a:avLst>
          </a:prstGeom>
          <a:solidFill>
            <a:srgbClr val="171A21"/>
          </a:solidFill>
          <a:ln w="9525">
            <a:solidFill>
              <a:srgbClr val="2C313C"/>
            </a:solidFill>
            <a:prstDash val="solid"/>
          </a:ln>
        </p:spPr>
      </p:sp>
      <p:pic>
        <p:nvPicPr>
          <p:cNvPr id="9" name="Image 1" descr="Scrolled down: per-rover battery gauge">    </p:cNvPr>
          <p:cNvPicPr>
            <a:picLocks noChangeAspect="1"/>
          </p:cNvPicPr>
          <p:nvPr/>
        </p:nvPicPr>
        <p:blipFill>
          <a:blip r:embed="rId2"/>
          <a:stretch>
            <a:fillRect/>
          </a:stretch>
        </p:blipFill>
        <p:spPr>
          <a:xfrm>
            <a:off x="6284671" y="1975104"/>
            <a:ext cx="5303520" cy="3011529"/>
          </a:xfrm>
          <a:prstGeom prst="rect">
            <a:avLst/>
          </a:prstGeom>
        </p:spPr>
      </p:pic>
      <p:sp>
        <p:nvSpPr>
          <p:cNvPr id="10" name="Text 6"/>
          <p:cNvSpPr/>
          <p:nvPr/>
        </p:nvSpPr>
        <p:spPr>
          <a:xfrm>
            <a:off x="6229807" y="5114649"/>
            <a:ext cx="5413248" cy="274320"/>
          </a:xfrm>
          <a:prstGeom prst="rect">
            <a:avLst/>
          </a:prstGeom>
          <a:noFill/>
          <a:ln/>
        </p:spPr>
        <p:txBody>
          <a:bodyPr wrap="square" lIns="0" tIns="0" rIns="0" bIns="0" rtlCol="0" anchor="t"/>
          <a:lstStyle/>
          <a:p>
            <a:pPr indent="0" marL="0">
              <a:buNone/>
            </a:pPr>
            <a:r>
              <a:rPr lang="en-US" sz="1200" dirty="0">
                <a:solidFill>
                  <a:srgbClr val="9BA1AE"/>
                </a:solidFill>
                <a:latin typeface="Calibri" pitchFamily="34" charset="0"/>
                <a:ea typeface="Calibri" pitchFamily="34" charset="-122"/>
                <a:cs typeface="Calibri" pitchFamily="34" charset="-120"/>
              </a:rPr>
              <a:t>Scrolled down: per-rover battery gauge</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1014"/>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300" kern="0" dirty="0">
                <a:solidFill>
                  <a:srgbClr val="8B7BF0"/>
                </a:solidFill>
                <a:latin typeface="Calibri" pitchFamily="34" charset="0"/>
                <a:ea typeface="Calibri" pitchFamily="34" charset="-122"/>
                <a:cs typeface="Calibri" pitchFamily="34" charset="-120"/>
              </a:rPr>
              <a:t>TROUBLESHOOTING LAB</a:t>
            </a:r>
            <a:endParaRPr lang="en-US" sz="1200" dirty="0"/>
          </a:p>
        </p:txBody>
      </p:sp>
      <p:sp>
        <p:nvSpPr>
          <p:cNvPr id="3" name="Text 1"/>
          <p:cNvSpPr/>
          <p:nvPr/>
        </p:nvSpPr>
        <p:spPr>
          <a:xfrm>
            <a:off x="548640" y="676656"/>
            <a:ext cx="11064240" cy="603504"/>
          </a:xfrm>
          <a:prstGeom prst="rect">
            <a:avLst/>
          </a:prstGeom>
          <a:noFill/>
          <a:ln/>
        </p:spPr>
        <p:txBody>
          <a:bodyPr wrap="square" lIns="0" tIns="0" rIns="0" bIns="0" rtlCol="0" anchor="t"/>
          <a:lstStyle/>
          <a:p>
            <a:pPr indent="0" marL="0">
              <a:buNone/>
            </a:pPr>
            <a:r>
              <a:rPr lang="en-US" sz="3400" b="1" dirty="0">
                <a:solidFill>
                  <a:srgbClr val="E8EAF0"/>
                </a:solidFill>
                <a:latin typeface="Calibri" pitchFamily="34" charset="0"/>
                <a:ea typeface="Calibri" pitchFamily="34" charset="-122"/>
                <a:cs typeface="Calibri" pitchFamily="34" charset="-120"/>
              </a:rPr>
              <a:t>Three broken deployments, fixed live</a:t>
            </a:r>
            <a:endParaRPr lang="en-US" sz="3400" dirty="0"/>
          </a:p>
        </p:txBody>
      </p:sp>
      <p:sp>
        <p:nvSpPr>
          <p:cNvPr id="4" name="Shape 2"/>
          <p:cNvSpPr/>
          <p:nvPr/>
        </p:nvSpPr>
        <p:spPr>
          <a:xfrm>
            <a:off x="548640" y="1508760"/>
            <a:ext cx="3515258" cy="4754880"/>
          </a:xfrm>
          <a:prstGeom prst="roundRect">
            <a:avLst>
              <a:gd name="adj" fmla="val 2081"/>
            </a:avLst>
          </a:prstGeom>
          <a:solidFill>
            <a:srgbClr val="171A21"/>
          </a:solidFill>
          <a:ln w="9525">
            <a:solidFill>
              <a:srgbClr val="2C313C"/>
            </a:solidFill>
            <a:prstDash val="solid"/>
          </a:ln>
        </p:spPr>
      </p:sp>
      <p:sp>
        <p:nvSpPr>
          <p:cNvPr id="5" name="Text 3"/>
          <p:cNvSpPr/>
          <p:nvPr/>
        </p:nvSpPr>
        <p:spPr>
          <a:xfrm>
            <a:off x="822960" y="1737360"/>
            <a:ext cx="914400" cy="411480"/>
          </a:xfrm>
          <a:prstGeom prst="rect">
            <a:avLst/>
          </a:prstGeom>
          <a:noFill/>
          <a:ln/>
        </p:spPr>
        <p:txBody>
          <a:bodyPr wrap="square" lIns="0" tIns="0" rIns="0" bIns="0" rtlCol="0" anchor="t"/>
          <a:lstStyle/>
          <a:p>
            <a:pPr indent="0" marL="0">
              <a:buNone/>
            </a:pPr>
            <a:r>
              <a:rPr lang="en-US" sz="2400" b="1" dirty="0">
                <a:solidFill>
                  <a:srgbClr val="8B7BF0"/>
                </a:solidFill>
                <a:latin typeface="Calibri" pitchFamily="34" charset="0"/>
                <a:ea typeface="Calibri" pitchFamily="34" charset="-122"/>
                <a:cs typeface="Calibri" pitchFamily="34" charset="-120"/>
              </a:rPr>
              <a:t>01</a:t>
            </a:r>
            <a:endParaRPr lang="en-US" sz="2400" dirty="0"/>
          </a:p>
        </p:txBody>
      </p:sp>
      <p:sp>
        <p:nvSpPr>
          <p:cNvPr id="6" name="Text 4"/>
          <p:cNvSpPr/>
          <p:nvPr/>
        </p:nvSpPr>
        <p:spPr>
          <a:xfrm>
            <a:off x="822960" y="2194560"/>
            <a:ext cx="2966618" cy="411480"/>
          </a:xfrm>
          <a:prstGeom prst="rect">
            <a:avLst/>
          </a:prstGeom>
          <a:noFill/>
          <a:ln/>
        </p:spPr>
        <p:txBody>
          <a:bodyPr wrap="square" lIns="0" tIns="0" rIns="0" bIns="0" rtlCol="0" anchor="t"/>
          <a:lstStyle/>
          <a:p>
            <a:pPr indent="0" marL="0">
              <a:buNone/>
            </a:pPr>
            <a:r>
              <a:rPr lang="en-US" sz="1800" b="1" dirty="0">
                <a:solidFill>
                  <a:srgbClr val="E8EAF0"/>
                </a:solidFill>
                <a:latin typeface="Calibri" pitchFamily="34" charset="0"/>
                <a:ea typeface="Calibri" pitchFamily="34" charset="-122"/>
                <a:cs typeface="Calibri" pitchFamily="34" charset="-120"/>
              </a:rPr>
              <a:t>ImagePullBackOff</a:t>
            </a:r>
            <a:endParaRPr lang="en-US" sz="1800" dirty="0"/>
          </a:p>
        </p:txBody>
      </p:sp>
      <p:sp>
        <p:nvSpPr>
          <p:cNvPr id="7" name="Text 5"/>
          <p:cNvSpPr/>
          <p:nvPr/>
        </p:nvSpPr>
        <p:spPr>
          <a:xfrm>
            <a:off x="822960" y="2788920"/>
            <a:ext cx="2966618" cy="256032"/>
          </a:xfrm>
          <a:prstGeom prst="rect">
            <a:avLst/>
          </a:prstGeom>
          <a:noFill/>
          <a:ln/>
        </p:spPr>
        <p:txBody>
          <a:bodyPr wrap="square" lIns="0" tIns="0" rIns="0" bIns="0" rtlCol="0" anchor="t"/>
          <a:lstStyle/>
          <a:p>
            <a:pPr indent="0" marL="0">
              <a:buNone/>
            </a:pPr>
            <a:r>
              <a:rPr lang="en-US" sz="1200" b="1" spc="200" kern="0" dirty="0">
                <a:solidFill>
                  <a:srgbClr val="9BA1AE"/>
                </a:solidFill>
                <a:latin typeface="Calibri" pitchFamily="34" charset="0"/>
                <a:ea typeface="Calibri" pitchFamily="34" charset="-122"/>
                <a:cs typeface="Calibri" pitchFamily="34" charset="-120"/>
              </a:rPr>
              <a:t>SYMPTOM</a:t>
            </a:r>
            <a:endParaRPr lang="en-US" sz="1200" dirty="0"/>
          </a:p>
        </p:txBody>
      </p:sp>
      <p:sp>
        <p:nvSpPr>
          <p:cNvPr id="8" name="Text 6"/>
          <p:cNvSpPr/>
          <p:nvPr/>
        </p:nvSpPr>
        <p:spPr>
          <a:xfrm>
            <a:off x="822960" y="3063240"/>
            <a:ext cx="2966618" cy="822960"/>
          </a:xfrm>
          <a:prstGeom prst="rect">
            <a:avLst/>
          </a:prstGeom>
          <a:noFill/>
          <a:ln/>
        </p:spPr>
        <p:txBody>
          <a:bodyPr wrap="square" lIns="0" tIns="0" rIns="0" bIns="0" rtlCol="0" anchor="t"/>
          <a:lstStyle/>
          <a:p>
            <a:pPr indent="0" marL="0">
              <a:buNone/>
            </a:pPr>
            <a:r>
              <a:rPr lang="en-US" sz="1500" dirty="0">
                <a:solidFill>
                  <a:srgbClr val="E8EAF0"/>
                </a:solidFill>
                <a:latin typeface="Calibri" pitchFamily="34" charset="0"/>
                <a:ea typeface="Calibri" pitchFamily="34" charset="-122"/>
                <a:cs typeface="Calibri" pitchFamily="34" charset="-120"/>
              </a:rPr>
              <a:t>Pod never starts</a:t>
            </a:r>
            <a:endParaRPr lang="en-US" sz="1500" dirty="0"/>
          </a:p>
        </p:txBody>
      </p:sp>
      <p:sp>
        <p:nvSpPr>
          <p:cNvPr id="9" name="Text 7"/>
          <p:cNvSpPr/>
          <p:nvPr/>
        </p:nvSpPr>
        <p:spPr>
          <a:xfrm>
            <a:off x="822960" y="3931920"/>
            <a:ext cx="2966618" cy="256032"/>
          </a:xfrm>
          <a:prstGeom prst="rect">
            <a:avLst/>
          </a:prstGeom>
          <a:noFill/>
          <a:ln/>
        </p:spPr>
        <p:txBody>
          <a:bodyPr wrap="square" lIns="0" tIns="0" rIns="0" bIns="0" rtlCol="0" anchor="t"/>
          <a:lstStyle/>
          <a:p>
            <a:pPr indent="0" marL="0">
              <a:buNone/>
            </a:pPr>
            <a:r>
              <a:rPr lang="en-US" sz="1200" b="1" spc="200" kern="0" dirty="0">
                <a:solidFill>
                  <a:srgbClr val="9BA1AE"/>
                </a:solidFill>
                <a:latin typeface="Calibri" pitchFamily="34" charset="0"/>
                <a:ea typeface="Calibri" pitchFamily="34" charset="-122"/>
                <a:cs typeface="Calibri" pitchFamily="34" charset="-120"/>
              </a:rPr>
              <a:t>DIAGNOSIS</a:t>
            </a:r>
            <a:endParaRPr lang="en-US" sz="1200" dirty="0"/>
          </a:p>
        </p:txBody>
      </p:sp>
      <p:sp>
        <p:nvSpPr>
          <p:cNvPr id="10" name="Text 8"/>
          <p:cNvSpPr/>
          <p:nvPr/>
        </p:nvSpPr>
        <p:spPr>
          <a:xfrm>
            <a:off x="822960" y="4206240"/>
            <a:ext cx="2966618" cy="822960"/>
          </a:xfrm>
          <a:prstGeom prst="rect">
            <a:avLst/>
          </a:prstGeom>
          <a:noFill/>
          <a:ln/>
        </p:spPr>
        <p:txBody>
          <a:bodyPr wrap="square" lIns="0" tIns="0" rIns="0" bIns="0" rtlCol="0" anchor="t"/>
          <a:lstStyle/>
          <a:p>
            <a:pPr indent="0" marL="0">
              <a:buNone/>
            </a:pPr>
            <a:r>
              <a:rPr lang="en-US" sz="1500" dirty="0">
                <a:solidFill>
                  <a:srgbClr val="E8EAF0"/>
                </a:solidFill>
                <a:latin typeface="Calibri" pitchFamily="34" charset="0"/>
                <a:ea typeface="Calibri" pitchFamily="34" charset="-122"/>
                <a:cs typeface="Calibri" pitchFamily="34" charset="-120"/>
              </a:rPr>
              <a:t>kubectl describe pod: the image tag does not exist in the registry</a:t>
            </a:r>
            <a:endParaRPr lang="en-US" sz="1500" dirty="0"/>
          </a:p>
        </p:txBody>
      </p:sp>
      <p:sp>
        <p:nvSpPr>
          <p:cNvPr id="11" name="Text 9"/>
          <p:cNvSpPr/>
          <p:nvPr/>
        </p:nvSpPr>
        <p:spPr>
          <a:xfrm>
            <a:off x="822960" y="5074920"/>
            <a:ext cx="2966618" cy="256032"/>
          </a:xfrm>
          <a:prstGeom prst="rect">
            <a:avLst/>
          </a:prstGeom>
          <a:noFill/>
          <a:ln/>
        </p:spPr>
        <p:txBody>
          <a:bodyPr wrap="square" lIns="0" tIns="0" rIns="0" bIns="0" rtlCol="0" anchor="t"/>
          <a:lstStyle/>
          <a:p>
            <a:pPr indent="0" marL="0">
              <a:buNone/>
            </a:pPr>
            <a:r>
              <a:rPr lang="en-US" sz="1200" b="1" spc="200" kern="0" dirty="0">
                <a:solidFill>
                  <a:srgbClr val="9BA1AE"/>
                </a:solidFill>
                <a:latin typeface="Calibri" pitchFamily="34" charset="0"/>
                <a:ea typeface="Calibri" pitchFamily="34" charset="-122"/>
                <a:cs typeface="Calibri" pitchFamily="34" charset="-120"/>
              </a:rPr>
              <a:t>FIX</a:t>
            </a:r>
            <a:endParaRPr lang="en-US" sz="1200" dirty="0"/>
          </a:p>
        </p:txBody>
      </p:sp>
      <p:sp>
        <p:nvSpPr>
          <p:cNvPr id="12" name="Text 10"/>
          <p:cNvSpPr/>
          <p:nvPr/>
        </p:nvSpPr>
        <p:spPr>
          <a:xfrm>
            <a:off x="822960" y="5349240"/>
            <a:ext cx="2966618" cy="822960"/>
          </a:xfrm>
          <a:prstGeom prst="rect">
            <a:avLst/>
          </a:prstGeom>
          <a:noFill/>
          <a:ln/>
        </p:spPr>
        <p:txBody>
          <a:bodyPr wrap="square" lIns="0" tIns="0" rIns="0" bIns="0" rtlCol="0" anchor="t"/>
          <a:lstStyle/>
          <a:p>
            <a:pPr indent="0" marL="0">
              <a:buNone/>
            </a:pPr>
            <a:r>
              <a:rPr lang="en-US" sz="1500" dirty="0">
                <a:solidFill>
                  <a:srgbClr val="E8EAF0"/>
                </a:solidFill>
                <a:latin typeface="Calibri" pitchFamily="34" charset="0"/>
                <a:ea typeface="Calibri" pitchFamily="34" charset="-122"/>
                <a:cs typeface="Calibri" pitchFamily="34" charset="-120"/>
              </a:rPr>
              <a:t>Point the Deployment at a real tag</a:t>
            </a:r>
            <a:endParaRPr lang="en-US" sz="1500" dirty="0"/>
          </a:p>
        </p:txBody>
      </p:sp>
      <p:sp>
        <p:nvSpPr>
          <p:cNvPr id="13" name="Shape 11"/>
          <p:cNvSpPr/>
          <p:nvPr/>
        </p:nvSpPr>
        <p:spPr>
          <a:xfrm>
            <a:off x="4338218" y="1508760"/>
            <a:ext cx="3515258" cy="4754880"/>
          </a:xfrm>
          <a:prstGeom prst="roundRect">
            <a:avLst>
              <a:gd name="adj" fmla="val 2081"/>
            </a:avLst>
          </a:prstGeom>
          <a:solidFill>
            <a:srgbClr val="171A21"/>
          </a:solidFill>
          <a:ln w="9525">
            <a:solidFill>
              <a:srgbClr val="2C313C"/>
            </a:solidFill>
            <a:prstDash val="solid"/>
          </a:ln>
        </p:spPr>
      </p:sp>
      <p:sp>
        <p:nvSpPr>
          <p:cNvPr id="14" name="Text 12"/>
          <p:cNvSpPr/>
          <p:nvPr/>
        </p:nvSpPr>
        <p:spPr>
          <a:xfrm>
            <a:off x="4612538" y="1737360"/>
            <a:ext cx="914400" cy="411480"/>
          </a:xfrm>
          <a:prstGeom prst="rect">
            <a:avLst/>
          </a:prstGeom>
          <a:noFill/>
          <a:ln/>
        </p:spPr>
        <p:txBody>
          <a:bodyPr wrap="square" lIns="0" tIns="0" rIns="0" bIns="0" rtlCol="0" anchor="t"/>
          <a:lstStyle/>
          <a:p>
            <a:pPr indent="0" marL="0">
              <a:buNone/>
            </a:pPr>
            <a:r>
              <a:rPr lang="en-US" sz="2400" b="1" dirty="0">
                <a:solidFill>
                  <a:srgbClr val="8B7BF0"/>
                </a:solidFill>
                <a:latin typeface="Calibri" pitchFamily="34" charset="0"/>
                <a:ea typeface="Calibri" pitchFamily="34" charset="-122"/>
                <a:cs typeface="Calibri" pitchFamily="34" charset="-120"/>
              </a:rPr>
              <a:t>02</a:t>
            </a:r>
            <a:endParaRPr lang="en-US" sz="2400" dirty="0"/>
          </a:p>
        </p:txBody>
      </p:sp>
      <p:sp>
        <p:nvSpPr>
          <p:cNvPr id="15" name="Text 13"/>
          <p:cNvSpPr/>
          <p:nvPr/>
        </p:nvSpPr>
        <p:spPr>
          <a:xfrm>
            <a:off x="4612538" y="2194560"/>
            <a:ext cx="2966618" cy="411480"/>
          </a:xfrm>
          <a:prstGeom prst="rect">
            <a:avLst/>
          </a:prstGeom>
          <a:noFill/>
          <a:ln/>
        </p:spPr>
        <p:txBody>
          <a:bodyPr wrap="square" lIns="0" tIns="0" rIns="0" bIns="0" rtlCol="0" anchor="t"/>
          <a:lstStyle/>
          <a:p>
            <a:pPr indent="0" marL="0">
              <a:buNone/>
            </a:pPr>
            <a:r>
              <a:rPr lang="en-US" sz="1800" b="1" dirty="0">
                <a:solidFill>
                  <a:srgbClr val="E8EAF0"/>
                </a:solidFill>
                <a:latin typeface="Calibri" pitchFamily="34" charset="0"/>
                <a:ea typeface="Calibri" pitchFamily="34" charset="-122"/>
                <a:cs typeface="Calibri" pitchFamily="34" charset="-120"/>
              </a:rPr>
              <a:t>Selector mismatch</a:t>
            </a:r>
            <a:endParaRPr lang="en-US" sz="1800" dirty="0"/>
          </a:p>
        </p:txBody>
      </p:sp>
      <p:sp>
        <p:nvSpPr>
          <p:cNvPr id="16" name="Text 14"/>
          <p:cNvSpPr/>
          <p:nvPr/>
        </p:nvSpPr>
        <p:spPr>
          <a:xfrm>
            <a:off x="4612538" y="2788920"/>
            <a:ext cx="2966618" cy="256032"/>
          </a:xfrm>
          <a:prstGeom prst="rect">
            <a:avLst/>
          </a:prstGeom>
          <a:noFill/>
          <a:ln/>
        </p:spPr>
        <p:txBody>
          <a:bodyPr wrap="square" lIns="0" tIns="0" rIns="0" bIns="0" rtlCol="0" anchor="t"/>
          <a:lstStyle/>
          <a:p>
            <a:pPr indent="0" marL="0">
              <a:buNone/>
            </a:pPr>
            <a:r>
              <a:rPr lang="en-US" sz="1200" b="1" spc="200" kern="0" dirty="0">
                <a:solidFill>
                  <a:srgbClr val="9BA1AE"/>
                </a:solidFill>
                <a:latin typeface="Calibri" pitchFamily="34" charset="0"/>
                <a:ea typeface="Calibri" pitchFamily="34" charset="-122"/>
                <a:cs typeface="Calibri" pitchFamily="34" charset="-120"/>
              </a:rPr>
              <a:t>SYMPTOM</a:t>
            </a:r>
            <a:endParaRPr lang="en-US" sz="1200" dirty="0"/>
          </a:p>
        </p:txBody>
      </p:sp>
      <p:sp>
        <p:nvSpPr>
          <p:cNvPr id="17" name="Text 15"/>
          <p:cNvSpPr/>
          <p:nvPr/>
        </p:nvSpPr>
        <p:spPr>
          <a:xfrm>
            <a:off x="4612538" y="3063240"/>
            <a:ext cx="2966618" cy="822960"/>
          </a:xfrm>
          <a:prstGeom prst="rect">
            <a:avLst/>
          </a:prstGeom>
          <a:noFill/>
          <a:ln/>
        </p:spPr>
        <p:txBody>
          <a:bodyPr wrap="square" lIns="0" tIns="0" rIns="0" bIns="0" rtlCol="0" anchor="t"/>
          <a:lstStyle/>
          <a:p>
            <a:pPr indent="0" marL="0">
              <a:buNone/>
            </a:pPr>
            <a:r>
              <a:rPr lang="en-US" sz="1500" dirty="0">
                <a:solidFill>
                  <a:srgbClr val="E8EAF0"/>
                </a:solidFill>
                <a:latin typeface="Calibri" pitchFamily="34" charset="0"/>
                <a:ea typeface="Calibri" pitchFamily="34" charset="-122"/>
                <a:cs typeface="Calibri" pitchFamily="34" charset="-120"/>
              </a:rPr>
              <a:t>Service has no endpoints, requests fail</a:t>
            </a:r>
            <a:endParaRPr lang="en-US" sz="1500" dirty="0"/>
          </a:p>
        </p:txBody>
      </p:sp>
      <p:sp>
        <p:nvSpPr>
          <p:cNvPr id="18" name="Text 16"/>
          <p:cNvSpPr/>
          <p:nvPr/>
        </p:nvSpPr>
        <p:spPr>
          <a:xfrm>
            <a:off x="4612538" y="3931920"/>
            <a:ext cx="2966618" cy="256032"/>
          </a:xfrm>
          <a:prstGeom prst="rect">
            <a:avLst/>
          </a:prstGeom>
          <a:noFill/>
          <a:ln/>
        </p:spPr>
        <p:txBody>
          <a:bodyPr wrap="square" lIns="0" tIns="0" rIns="0" bIns="0" rtlCol="0" anchor="t"/>
          <a:lstStyle/>
          <a:p>
            <a:pPr indent="0" marL="0">
              <a:buNone/>
            </a:pPr>
            <a:r>
              <a:rPr lang="en-US" sz="1200" b="1" spc="200" kern="0" dirty="0">
                <a:solidFill>
                  <a:srgbClr val="9BA1AE"/>
                </a:solidFill>
                <a:latin typeface="Calibri" pitchFamily="34" charset="0"/>
                <a:ea typeface="Calibri" pitchFamily="34" charset="-122"/>
                <a:cs typeface="Calibri" pitchFamily="34" charset="-120"/>
              </a:rPr>
              <a:t>DIAGNOSIS</a:t>
            </a:r>
            <a:endParaRPr lang="en-US" sz="1200" dirty="0"/>
          </a:p>
        </p:txBody>
      </p:sp>
      <p:sp>
        <p:nvSpPr>
          <p:cNvPr id="19" name="Text 17"/>
          <p:cNvSpPr/>
          <p:nvPr/>
        </p:nvSpPr>
        <p:spPr>
          <a:xfrm>
            <a:off x="4612538" y="4206240"/>
            <a:ext cx="2966618" cy="822960"/>
          </a:xfrm>
          <a:prstGeom prst="rect">
            <a:avLst/>
          </a:prstGeom>
          <a:noFill/>
          <a:ln/>
        </p:spPr>
        <p:txBody>
          <a:bodyPr wrap="square" lIns="0" tIns="0" rIns="0" bIns="0" rtlCol="0" anchor="t"/>
          <a:lstStyle/>
          <a:p>
            <a:pPr indent="0" marL="0">
              <a:buNone/>
            </a:pPr>
            <a:r>
              <a:rPr lang="en-US" sz="1500" dirty="0">
                <a:solidFill>
                  <a:srgbClr val="E8EAF0"/>
                </a:solidFill>
                <a:latin typeface="Calibri" pitchFamily="34" charset="0"/>
                <a:ea typeface="Calibri" pitchFamily="34" charset="-122"/>
                <a:cs typeface="Calibri" pitchFamily="34" charset="-120"/>
              </a:rPr>
              <a:t>kubectl get endpoints is empty: the Service selector does not match the pod labels</a:t>
            </a:r>
            <a:endParaRPr lang="en-US" sz="1500" dirty="0"/>
          </a:p>
        </p:txBody>
      </p:sp>
      <p:sp>
        <p:nvSpPr>
          <p:cNvPr id="20" name="Text 18"/>
          <p:cNvSpPr/>
          <p:nvPr/>
        </p:nvSpPr>
        <p:spPr>
          <a:xfrm>
            <a:off x="4612538" y="5074920"/>
            <a:ext cx="2966618" cy="256032"/>
          </a:xfrm>
          <a:prstGeom prst="rect">
            <a:avLst/>
          </a:prstGeom>
          <a:noFill/>
          <a:ln/>
        </p:spPr>
        <p:txBody>
          <a:bodyPr wrap="square" lIns="0" tIns="0" rIns="0" bIns="0" rtlCol="0" anchor="t"/>
          <a:lstStyle/>
          <a:p>
            <a:pPr indent="0" marL="0">
              <a:buNone/>
            </a:pPr>
            <a:r>
              <a:rPr lang="en-US" sz="1200" b="1" spc="200" kern="0" dirty="0">
                <a:solidFill>
                  <a:srgbClr val="9BA1AE"/>
                </a:solidFill>
                <a:latin typeface="Calibri" pitchFamily="34" charset="0"/>
                <a:ea typeface="Calibri" pitchFamily="34" charset="-122"/>
                <a:cs typeface="Calibri" pitchFamily="34" charset="-120"/>
              </a:rPr>
              <a:t>FIX</a:t>
            </a:r>
            <a:endParaRPr lang="en-US" sz="1200" dirty="0"/>
          </a:p>
        </p:txBody>
      </p:sp>
      <p:sp>
        <p:nvSpPr>
          <p:cNvPr id="21" name="Text 19"/>
          <p:cNvSpPr/>
          <p:nvPr/>
        </p:nvSpPr>
        <p:spPr>
          <a:xfrm>
            <a:off x="4612538" y="5349240"/>
            <a:ext cx="2966618" cy="822960"/>
          </a:xfrm>
          <a:prstGeom prst="rect">
            <a:avLst/>
          </a:prstGeom>
          <a:noFill/>
          <a:ln/>
        </p:spPr>
        <p:txBody>
          <a:bodyPr wrap="square" lIns="0" tIns="0" rIns="0" bIns="0" rtlCol="0" anchor="t"/>
          <a:lstStyle/>
          <a:p>
            <a:pPr indent="0" marL="0">
              <a:buNone/>
            </a:pPr>
            <a:r>
              <a:rPr lang="en-US" sz="1500" dirty="0">
                <a:solidFill>
                  <a:srgbClr val="E8EAF0"/>
                </a:solidFill>
                <a:latin typeface="Calibri" pitchFamily="34" charset="0"/>
                <a:ea typeface="Calibri" pitchFamily="34" charset="-122"/>
                <a:cs typeface="Calibri" pitchFamily="34" charset="-120"/>
              </a:rPr>
              <a:t>Make the selector match the labels</a:t>
            </a:r>
            <a:endParaRPr lang="en-US" sz="1500" dirty="0"/>
          </a:p>
        </p:txBody>
      </p:sp>
      <p:sp>
        <p:nvSpPr>
          <p:cNvPr id="22" name="Shape 20"/>
          <p:cNvSpPr/>
          <p:nvPr/>
        </p:nvSpPr>
        <p:spPr>
          <a:xfrm>
            <a:off x="8127797" y="1508760"/>
            <a:ext cx="3515258" cy="4754880"/>
          </a:xfrm>
          <a:prstGeom prst="roundRect">
            <a:avLst>
              <a:gd name="adj" fmla="val 2081"/>
            </a:avLst>
          </a:prstGeom>
          <a:solidFill>
            <a:srgbClr val="171A21"/>
          </a:solidFill>
          <a:ln w="9525">
            <a:solidFill>
              <a:srgbClr val="2C313C"/>
            </a:solidFill>
            <a:prstDash val="solid"/>
          </a:ln>
        </p:spPr>
      </p:sp>
      <p:sp>
        <p:nvSpPr>
          <p:cNvPr id="23" name="Text 21"/>
          <p:cNvSpPr/>
          <p:nvPr/>
        </p:nvSpPr>
        <p:spPr>
          <a:xfrm>
            <a:off x="8402117" y="1737360"/>
            <a:ext cx="914400" cy="411480"/>
          </a:xfrm>
          <a:prstGeom prst="rect">
            <a:avLst/>
          </a:prstGeom>
          <a:noFill/>
          <a:ln/>
        </p:spPr>
        <p:txBody>
          <a:bodyPr wrap="square" lIns="0" tIns="0" rIns="0" bIns="0" rtlCol="0" anchor="t"/>
          <a:lstStyle/>
          <a:p>
            <a:pPr indent="0" marL="0">
              <a:buNone/>
            </a:pPr>
            <a:r>
              <a:rPr lang="en-US" sz="2400" b="1" dirty="0">
                <a:solidFill>
                  <a:srgbClr val="8B7BF0"/>
                </a:solidFill>
                <a:latin typeface="Calibri" pitchFamily="34" charset="0"/>
                <a:ea typeface="Calibri" pitchFamily="34" charset="-122"/>
                <a:cs typeface="Calibri" pitchFamily="34" charset="-120"/>
              </a:rPr>
              <a:t>03</a:t>
            </a:r>
            <a:endParaRPr lang="en-US" sz="2400" dirty="0"/>
          </a:p>
        </p:txBody>
      </p:sp>
      <p:sp>
        <p:nvSpPr>
          <p:cNvPr id="24" name="Text 22"/>
          <p:cNvSpPr/>
          <p:nvPr/>
        </p:nvSpPr>
        <p:spPr>
          <a:xfrm>
            <a:off x="8402117" y="2194560"/>
            <a:ext cx="2966618" cy="411480"/>
          </a:xfrm>
          <a:prstGeom prst="rect">
            <a:avLst/>
          </a:prstGeom>
          <a:noFill/>
          <a:ln/>
        </p:spPr>
        <p:txBody>
          <a:bodyPr wrap="square" lIns="0" tIns="0" rIns="0" bIns="0" rtlCol="0" anchor="t"/>
          <a:lstStyle/>
          <a:p>
            <a:pPr indent="0" marL="0">
              <a:buNone/>
            </a:pPr>
            <a:r>
              <a:rPr lang="en-US" sz="1800" b="1" dirty="0">
                <a:solidFill>
                  <a:srgbClr val="E8EAF0"/>
                </a:solidFill>
                <a:latin typeface="Calibri" pitchFamily="34" charset="0"/>
                <a:ea typeface="Calibri" pitchFamily="34" charset="-122"/>
                <a:cs typeface="Calibri" pitchFamily="34" charset="-120"/>
              </a:rPr>
              <a:t>Failing readiness probe</a:t>
            </a:r>
            <a:endParaRPr lang="en-US" sz="1800" dirty="0"/>
          </a:p>
        </p:txBody>
      </p:sp>
      <p:sp>
        <p:nvSpPr>
          <p:cNvPr id="25" name="Text 23"/>
          <p:cNvSpPr/>
          <p:nvPr/>
        </p:nvSpPr>
        <p:spPr>
          <a:xfrm>
            <a:off x="8402117" y="2788920"/>
            <a:ext cx="2966618" cy="256032"/>
          </a:xfrm>
          <a:prstGeom prst="rect">
            <a:avLst/>
          </a:prstGeom>
          <a:noFill/>
          <a:ln/>
        </p:spPr>
        <p:txBody>
          <a:bodyPr wrap="square" lIns="0" tIns="0" rIns="0" bIns="0" rtlCol="0" anchor="t"/>
          <a:lstStyle/>
          <a:p>
            <a:pPr indent="0" marL="0">
              <a:buNone/>
            </a:pPr>
            <a:r>
              <a:rPr lang="en-US" sz="1200" b="1" spc="200" kern="0" dirty="0">
                <a:solidFill>
                  <a:srgbClr val="9BA1AE"/>
                </a:solidFill>
                <a:latin typeface="Calibri" pitchFamily="34" charset="0"/>
                <a:ea typeface="Calibri" pitchFamily="34" charset="-122"/>
                <a:cs typeface="Calibri" pitchFamily="34" charset="-120"/>
              </a:rPr>
              <a:t>SYMPTOM</a:t>
            </a:r>
            <a:endParaRPr lang="en-US" sz="1200" dirty="0"/>
          </a:p>
        </p:txBody>
      </p:sp>
      <p:sp>
        <p:nvSpPr>
          <p:cNvPr id="26" name="Text 24"/>
          <p:cNvSpPr/>
          <p:nvPr/>
        </p:nvSpPr>
        <p:spPr>
          <a:xfrm>
            <a:off x="8402117" y="3063240"/>
            <a:ext cx="2966618" cy="822960"/>
          </a:xfrm>
          <a:prstGeom prst="rect">
            <a:avLst/>
          </a:prstGeom>
          <a:noFill/>
          <a:ln/>
        </p:spPr>
        <p:txBody>
          <a:bodyPr wrap="square" lIns="0" tIns="0" rIns="0" bIns="0" rtlCol="0" anchor="t"/>
          <a:lstStyle/>
          <a:p>
            <a:pPr indent="0" marL="0">
              <a:buNone/>
            </a:pPr>
            <a:r>
              <a:rPr lang="en-US" sz="1500" dirty="0">
                <a:solidFill>
                  <a:srgbClr val="E8EAF0"/>
                </a:solidFill>
                <a:latin typeface="Calibri" pitchFamily="34" charset="0"/>
                <a:ea typeface="Calibri" pitchFamily="34" charset="-122"/>
                <a:cs typeface="Calibri" pitchFamily="34" charset="-120"/>
              </a:rPr>
              <a:t>Pod Running but 0/1 Ready</a:t>
            </a:r>
            <a:endParaRPr lang="en-US" sz="1500" dirty="0"/>
          </a:p>
        </p:txBody>
      </p:sp>
      <p:sp>
        <p:nvSpPr>
          <p:cNvPr id="27" name="Text 25"/>
          <p:cNvSpPr/>
          <p:nvPr/>
        </p:nvSpPr>
        <p:spPr>
          <a:xfrm>
            <a:off x="8402117" y="3931920"/>
            <a:ext cx="2966618" cy="256032"/>
          </a:xfrm>
          <a:prstGeom prst="rect">
            <a:avLst/>
          </a:prstGeom>
          <a:noFill/>
          <a:ln/>
        </p:spPr>
        <p:txBody>
          <a:bodyPr wrap="square" lIns="0" tIns="0" rIns="0" bIns="0" rtlCol="0" anchor="t"/>
          <a:lstStyle/>
          <a:p>
            <a:pPr indent="0" marL="0">
              <a:buNone/>
            </a:pPr>
            <a:r>
              <a:rPr lang="en-US" sz="1200" b="1" spc="200" kern="0" dirty="0">
                <a:solidFill>
                  <a:srgbClr val="9BA1AE"/>
                </a:solidFill>
                <a:latin typeface="Calibri" pitchFamily="34" charset="0"/>
                <a:ea typeface="Calibri" pitchFamily="34" charset="-122"/>
                <a:cs typeface="Calibri" pitchFamily="34" charset="-120"/>
              </a:rPr>
              <a:t>DIAGNOSIS</a:t>
            </a:r>
            <a:endParaRPr lang="en-US" sz="1200" dirty="0"/>
          </a:p>
        </p:txBody>
      </p:sp>
      <p:sp>
        <p:nvSpPr>
          <p:cNvPr id="28" name="Text 26"/>
          <p:cNvSpPr/>
          <p:nvPr/>
        </p:nvSpPr>
        <p:spPr>
          <a:xfrm>
            <a:off x="8402117" y="4206240"/>
            <a:ext cx="2966618" cy="822960"/>
          </a:xfrm>
          <a:prstGeom prst="rect">
            <a:avLst/>
          </a:prstGeom>
          <a:noFill/>
          <a:ln/>
        </p:spPr>
        <p:txBody>
          <a:bodyPr wrap="square" lIns="0" tIns="0" rIns="0" bIns="0" rtlCol="0" anchor="t"/>
          <a:lstStyle/>
          <a:p>
            <a:pPr indent="0" marL="0">
              <a:buNone/>
            </a:pPr>
            <a:r>
              <a:rPr lang="en-US" sz="1500" dirty="0">
                <a:solidFill>
                  <a:srgbClr val="E8EAF0"/>
                </a:solidFill>
                <a:latin typeface="Calibri" pitchFamily="34" charset="0"/>
                <a:ea typeface="Calibri" pitchFamily="34" charset="-122"/>
                <a:cs typeface="Calibri" pitchFamily="34" charset="-120"/>
              </a:rPr>
              <a:t>kubectl describe pod: readiness probe failures in Events</a:t>
            </a:r>
            <a:endParaRPr lang="en-US" sz="1500" dirty="0"/>
          </a:p>
        </p:txBody>
      </p:sp>
      <p:sp>
        <p:nvSpPr>
          <p:cNvPr id="29" name="Text 27"/>
          <p:cNvSpPr/>
          <p:nvPr/>
        </p:nvSpPr>
        <p:spPr>
          <a:xfrm>
            <a:off x="8402117" y="5074920"/>
            <a:ext cx="2966618" cy="256032"/>
          </a:xfrm>
          <a:prstGeom prst="rect">
            <a:avLst/>
          </a:prstGeom>
          <a:noFill/>
          <a:ln/>
        </p:spPr>
        <p:txBody>
          <a:bodyPr wrap="square" lIns="0" tIns="0" rIns="0" bIns="0" rtlCol="0" anchor="t"/>
          <a:lstStyle/>
          <a:p>
            <a:pPr indent="0" marL="0">
              <a:buNone/>
            </a:pPr>
            <a:r>
              <a:rPr lang="en-US" sz="1200" b="1" spc="200" kern="0" dirty="0">
                <a:solidFill>
                  <a:srgbClr val="9BA1AE"/>
                </a:solidFill>
                <a:latin typeface="Calibri" pitchFamily="34" charset="0"/>
                <a:ea typeface="Calibri" pitchFamily="34" charset="-122"/>
                <a:cs typeface="Calibri" pitchFamily="34" charset="-120"/>
              </a:rPr>
              <a:t>FIX</a:t>
            </a:r>
            <a:endParaRPr lang="en-US" sz="1200" dirty="0"/>
          </a:p>
        </p:txBody>
      </p:sp>
      <p:sp>
        <p:nvSpPr>
          <p:cNvPr id="30" name="Text 28"/>
          <p:cNvSpPr/>
          <p:nvPr/>
        </p:nvSpPr>
        <p:spPr>
          <a:xfrm>
            <a:off x="8402117" y="5349240"/>
            <a:ext cx="2966618" cy="822960"/>
          </a:xfrm>
          <a:prstGeom prst="rect">
            <a:avLst/>
          </a:prstGeom>
          <a:noFill/>
          <a:ln/>
        </p:spPr>
        <p:txBody>
          <a:bodyPr wrap="square" lIns="0" tIns="0" rIns="0" bIns="0" rtlCol="0" anchor="t"/>
          <a:lstStyle/>
          <a:p>
            <a:pPr indent="0" marL="0">
              <a:buNone/>
            </a:pPr>
            <a:r>
              <a:rPr lang="en-US" sz="1500" dirty="0">
                <a:solidFill>
                  <a:srgbClr val="E8EAF0"/>
                </a:solidFill>
                <a:latin typeface="Calibri" pitchFamily="34" charset="0"/>
                <a:ea typeface="Calibri" pitchFamily="34" charset="-122"/>
                <a:cs typeface="Calibri" pitchFamily="34" charset="-120"/>
              </a:rPr>
              <a:t>Correct the probe so it targets a healthy endpoint</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1014"/>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300" kern="0" dirty="0">
                <a:solidFill>
                  <a:srgbClr val="8B7BF0"/>
                </a:solidFill>
                <a:latin typeface="Calibri" pitchFamily="34" charset="0"/>
                <a:ea typeface="Calibri" pitchFamily="34" charset="-122"/>
                <a:cs typeface="Calibri" pitchFamily="34" charset="-120"/>
              </a:rPr>
              <a:t>CHALLENGES &amp; LESSONS</a:t>
            </a:r>
            <a:endParaRPr lang="en-US" sz="1200" dirty="0"/>
          </a:p>
        </p:txBody>
      </p:sp>
      <p:sp>
        <p:nvSpPr>
          <p:cNvPr id="3" name="Text 1"/>
          <p:cNvSpPr/>
          <p:nvPr/>
        </p:nvSpPr>
        <p:spPr>
          <a:xfrm>
            <a:off x="548640" y="676656"/>
            <a:ext cx="11064240" cy="603504"/>
          </a:xfrm>
          <a:prstGeom prst="rect">
            <a:avLst/>
          </a:prstGeom>
          <a:noFill/>
          <a:ln/>
        </p:spPr>
        <p:txBody>
          <a:bodyPr wrap="square" lIns="0" tIns="0" rIns="0" bIns="0" rtlCol="0" anchor="t"/>
          <a:lstStyle/>
          <a:p>
            <a:pPr indent="0" marL="0">
              <a:buNone/>
            </a:pPr>
            <a:r>
              <a:rPr lang="en-US" sz="3400" b="1" dirty="0">
                <a:solidFill>
                  <a:srgbClr val="E8EAF0"/>
                </a:solidFill>
                <a:latin typeface="Calibri" pitchFamily="34" charset="0"/>
                <a:ea typeface="Calibri" pitchFamily="34" charset="-122"/>
                <a:cs typeface="Calibri" pitchFamily="34" charset="-120"/>
              </a:rPr>
              <a:t>Real problems hit along the way</a:t>
            </a:r>
            <a:endParaRPr lang="en-US" sz="3400" dirty="0"/>
          </a:p>
        </p:txBody>
      </p:sp>
      <p:sp>
        <p:nvSpPr>
          <p:cNvPr id="4" name="Shape 2"/>
          <p:cNvSpPr/>
          <p:nvPr/>
        </p:nvSpPr>
        <p:spPr>
          <a:xfrm>
            <a:off x="548640" y="1508760"/>
            <a:ext cx="3515258" cy="2240280"/>
          </a:xfrm>
          <a:prstGeom prst="roundRect">
            <a:avLst>
              <a:gd name="adj" fmla="val 3265"/>
            </a:avLst>
          </a:prstGeom>
          <a:solidFill>
            <a:srgbClr val="171A21"/>
          </a:solidFill>
          <a:ln w="9525">
            <a:solidFill>
              <a:srgbClr val="2C313C"/>
            </a:solidFill>
            <a:prstDash val="solid"/>
          </a:ln>
        </p:spPr>
      </p:sp>
      <p:sp>
        <p:nvSpPr>
          <p:cNvPr id="5" name="Text 3"/>
          <p:cNvSpPr/>
          <p:nvPr/>
        </p:nvSpPr>
        <p:spPr>
          <a:xfrm>
            <a:off x="822960" y="1764792"/>
            <a:ext cx="2966618" cy="731520"/>
          </a:xfrm>
          <a:prstGeom prst="rect">
            <a:avLst/>
          </a:prstGeom>
          <a:noFill/>
          <a:ln/>
        </p:spPr>
        <p:txBody>
          <a:bodyPr wrap="square" lIns="0" tIns="0" rIns="0" bIns="0" rtlCol="0" anchor="t"/>
          <a:lstStyle/>
          <a:p>
            <a:pPr indent="0" marL="0">
              <a:buNone/>
            </a:pPr>
            <a:r>
              <a:rPr lang="en-US" sz="1800" b="1" dirty="0">
                <a:solidFill>
                  <a:srgbClr val="E8EAF0"/>
                </a:solidFill>
                <a:latin typeface="Calibri" pitchFamily="34" charset="0"/>
                <a:ea typeface="Calibri" pitchFamily="34" charset="-122"/>
                <a:cs typeface="Calibri" pitchFamily="34" charset="-120"/>
              </a:rPr>
              <a:t>Trivy action would not resolve</a:t>
            </a:r>
            <a:endParaRPr lang="en-US" sz="1800" dirty="0"/>
          </a:p>
        </p:txBody>
      </p:sp>
      <p:sp>
        <p:nvSpPr>
          <p:cNvPr id="6" name="Text 4"/>
          <p:cNvSpPr/>
          <p:nvPr/>
        </p:nvSpPr>
        <p:spPr>
          <a:xfrm>
            <a:off x="822960" y="2560320"/>
            <a:ext cx="2966618" cy="1005840"/>
          </a:xfrm>
          <a:prstGeom prst="rect">
            <a:avLst/>
          </a:prstGeom>
          <a:noFill/>
          <a:ln/>
        </p:spPr>
        <p:txBody>
          <a:bodyPr wrap="square" lIns="0" tIns="0" rIns="0" bIns="0" rtlCol="0" anchor="t"/>
          <a:lstStyle/>
          <a:p>
            <a:pPr indent="0" marL="0">
              <a:buNone/>
            </a:pPr>
            <a:r>
              <a:rPr lang="en-US" sz="1500" dirty="0">
                <a:solidFill>
                  <a:srgbClr val="9BA1AE"/>
                </a:solidFill>
                <a:latin typeface="Calibri" pitchFamily="34" charset="0"/>
                <a:ea typeface="Calibri" pitchFamily="34" charset="-122"/>
                <a:cs typeface="Calibri" pitchFamily="34" charset="-120"/>
              </a:rPr>
              <a:t>Tag not found, then a removed transitive dependency. Pinned trivy-action v0.36.0.</a:t>
            </a:r>
            <a:endParaRPr lang="en-US" sz="1500" dirty="0"/>
          </a:p>
        </p:txBody>
      </p:sp>
      <p:sp>
        <p:nvSpPr>
          <p:cNvPr id="7" name="Shape 5"/>
          <p:cNvSpPr/>
          <p:nvPr/>
        </p:nvSpPr>
        <p:spPr>
          <a:xfrm>
            <a:off x="4338218" y="1508760"/>
            <a:ext cx="3515258" cy="2240280"/>
          </a:xfrm>
          <a:prstGeom prst="roundRect">
            <a:avLst>
              <a:gd name="adj" fmla="val 3265"/>
            </a:avLst>
          </a:prstGeom>
          <a:solidFill>
            <a:srgbClr val="171A21"/>
          </a:solidFill>
          <a:ln w="9525">
            <a:solidFill>
              <a:srgbClr val="2C313C"/>
            </a:solidFill>
            <a:prstDash val="solid"/>
          </a:ln>
        </p:spPr>
      </p:sp>
      <p:sp>
        <p:nvSpPr>
          <p:cNvPr id="8" name="Text 6"/>
          <p:cNvSpPr/>
          <p:nvPr/>
        </p:nvSpPr>
        <p:spPr>
          <a:xfrm>
            <a:off x="4612538" y="1764792"/>
            <a:ext cx="2966618" cy="731520"/>
          </a:xfrm>
          <a:prstGeom prst="rect">
            <a:avLst/>
          </a:prstGeom>
          <a:noFill/>
          <a:ln/>
        </p:spPr>
        <p:txBody>
          <a:bodyPr wrap="square" lIns="0" tIns="0" rIns="0" bIns="0" rtlCol="0" anchor="t"/>
          <a:lstStyle/>
          <a:p>
            <a:pPr indent="0" marL="0">
              <a:buNone/>
            </a:pPr>
            <a:r>
              <a:rPr lang="en-US" sz="1800" b="1" dirty="0">
                <a:solidFill>
                  <a:srgbClr val="E8EAF0"/>
                </a:solidFill>
                <a:latin typeface="Calibri" pitchFamily="34" charset="0"/>
                <a:ea typeface="Calibri" pitchFamily="34" charset="-122"/>
                <a:cs typeface="Calibri" pitchFamily="34" charset="-120"/>
              </a:rPr>
              <a:t>41 CVEs in the base image</a:t>
            </a:r>
            <a:endParaRPr lang="en-US" sz="1800" dirty="0"/>
          </a:p>
        </p:txBody>
      </p:sp>
      <p:sp>
        <p:nvSpPr>
          <p:cNvPr id="9" name="Text 7"/>
          <p:cNvSpPr/>
          <p:nvPr/>
        </p:nvSpPr>
        <p:spPr>
          <a:xfrm>
            <a:off x="4612538" y="2560320"/>
            <a:ext cx="2966618" cy="1005840"/>
          </a:xfrm>
          <a:prstGeom prst="rect">
            <a:avLst/>
          </a:prstGeom>
          <a:noFill/>
          <a:ln/>
        </p:spPr>
        <p:txBody>
          <a:bodyPr wrap="square" lIns="0" tIns="0" rIns="0" bIns="0" rtlCol="0" anchor="t"/>
          <a:lstStyle/>
          <a:p>
            <a:pPr indent="0" marL="0">
              <a:buNone/>
            </a:pPr>
            <a:r>
              <a:rPr lang="en-US" sz="1500" dirty="0">
                <a:solidFill>
                  <a:srgbClr val="9BA1AE"/>
                </a:solidFill>
                <a:latin typeface="Calibri" pitchFamily="34" charset="0"/>
                <a:ea typeface="Calibri" pitchFamily="34" charset="-122"/>
                <a:cs typeface="Calibri" pitchFamily="34" charset="-120"/>
              </a:rPr>
              <a:t>The gate blocked the push. Moved to nginx-unprivileged:1.30-alpine.</a:t>
            </a:r>
            <a:endParaRPr lang="en-US" sz="1500" dirty="0"/>
          </a:p>
        </p:txBody>
      </p:sp>
      <p:sp>
        <p:nvSpPr>
          <p:cNvPr id="10" name="Shape 8"/>
          <p:cNvSpPr/>
          <p:nvPr/>
        </p:nvSpPr>
        <p:spPr>
          <a:xfrm>
            <a:off x="8127797" y="1508760"/>
            <a:ext cx="3515258" cy="2240280"/>
          </a:xfrm>
          <a:prstGeom prst="roundRect">
            <a:avLst>
              <a:gd name="adj" fmla="val 3265"/>
            </a:avLst>
          </a:prstGeom>
          <a:solidFill>
            <a:srgbClr val="171A21"/>
          </a:solidFill>
          <a:ln w="9525">
            <a:solidFill>
              <a:srgbClr val="2C313C"/>
            </a:solidFill>
            <a:prstDash val="solid"/>
          </a:ln>
        </p:spPr>
      </p:sp>
      <p:sp>
        <p:nvSpPr>
          <p:cNvPr id="11" name="Text 9"/>
          <p:cNvSpPr/>
          <p:nvPr/>
        </p:nvSpPr>
        <p:spPr>
          <a:xfrm>
            <a:off x="8402117" y="1764792"/>
            <a:ext cx="2966618" cy="731520"/>
          </a:xfrm>
          <a:prstGeom prst="rect">
            <a:avLst/>
          </a:prstGeom>
          <a:noFill/>
          <a:ln/>
        </p:spPr>
        <p:txBody>
          <a:bodyPr wrap="square" lIns="0" tIns="0" rIns="0" bIns="0" rtlCol="0" anchor="t"/>
          <a:lstStyle/>
          <a:p>
            <a:pPr indent="0" marL="0">
              <a:buNone/>
            </a:pPr>
            <a:r>
              <a:rPr lang="en-US" sz="1800" b="1" dirty="0">
                <a:solidFill>
                  <a:srgbClr val="E8EAF0"/>
                </a:solidFill>
                <a:latin typeface="Calibri" pitchFamily="34" charset="0"/>
                <a:ea typeface="Calibri" pitchFamily="34" charset="-122"/>
                <a:cs typeface="Calibri" pitchFamily="34" charset="-120"/>
              </a:rPr>
              <a:t>Node group create timed out (409)</a:t>
            </a:r>
            <a:endParaRPr lang="en-US" sz="1800" dirty="0"/>
          </a:p>
        </p:txBody>
      </p:sp>
      <p:sp>
        <p:nvSpPr>
          <p:cNvPr id="12" name="Text 10"/>
          <p:cNvSpPr/>
          <p:nvPr/>
        </p:nvSpPr>
        <p:spPr>
          <a:xfrm>
            <a:off x="8402117" y="2560320"/>
            <a:ext cx="2966618" cy="1005840"/>
          </a:xfrm>
          <a:prstGeom prst="rect">
            <a:avLst/>
          </a:prstGeom>
          <a:noFill/>
          <a:ln/>
        </p:spPr>
        <p:txBody>
          <a:bodyPr wrap="square" lIns="0" tIns="0" rIns="0" bIns="0" rtlCol="0" anchor="t"/>
          <a:lstStyle/>
          <a:p>
            <a:pPr indent="0" marL="0">
              <a:buNone/>
            </a:pPr>
            <a:r>
              <a:rPr lang="en-US" sz="1500" dirty="0">
                <a:solidFill>
                  <a:srgbClr val="9BA1AE"/>
                </a:solidFill>
                <a:latin typeface="Calibri" pitchFamily="34" charset="0"/>
                <a:ea typeface="Calibri" pitchFamily="34" charset="-122"/>
                <a:cs typeface="Calibri" pitchFamily="34" charset="-120"/>
              </a:rPr>
              <a:t>terraform import, then re-apply. Zero drift afterwards.</a:t>
            </a:r>
            <a:endParaRPr lang="en-US" sz="1500" dirty="0"/>
          </a:p>
        </p:txBody>
      </p:sp>
      <p:sp>
        <p:nvSpPr>
          <p:cNvPr id="13" name="Shape 11"/>
          <p:cNvSpPr/>
          <p:nvPr/>
        </p:nvSpPr>
        <p:spPr>
          <a:xfrm>
            <a:off x="548640" y="4023360"/>
            <a:ext cx="3515258" cy="2240280"/>
          </a:xfrm>
          <a:prstGeom prst="roundRect">
            <a:avLst>
              <a:gd name="adj" fmla="val 3265"/>
            </a:avLst>
          </a:prstGeom>
          <a:solidFill>
            <a:srgbClr val="171A21"/>
          </a:solidFill>
          <a:ln w="9525">
            <a:solidFill>
              <a:srgbClr val="2C313C"/>
            </a:solidFill>
            <a:prstDash val="solid"/>
          </a:ln>
        </p:spPr>
      </p:sp>
      <p:sp>
        <p:nvSpPr>
          <p:cNvPr id="14" name="Text 12"/>
          <p:cNvSpPr/>
          <p:nvPr/>
        </p:nvSpPr>
        <p:spPr>
          <a:xfrm>
            <a:off x="822960" y="4279392"/>
            <a:ext cx="2966618" cy="731520"/>
          </a:xfrm>
          <a:prstGeom prst="rect">
            <a:avLst/>
          </a:prstGeom>
          <a:noFill/>
          <a:ln/>
        </p:spPr>
        <p:txBody>
          <a:bodyPr wrap="square" lIns="0" tIns="0" rIns="0" bIns="0" rtlCol="0" anchor="t"/>
          <a:lstStyle/>
          <a:p>
            <a:pPr indent="0" marL="0">
              <a:buNone/>
            </a:pPr>
            <a:r>
              <a:rPr lang="en-US" sz="1800" b="1" dirty="0">
                <a:solidFill>
                  <a:srgbClr val="E8EAF0"/>
                </a:solidFill>
                <a:latin typeface="Calibri" pitchFamily="34" charset="0"/>
                <a:ea typeface="Calibri" pitchFamily="34" charset="-122"/>
                <a:cs typeface="Calibri" pitchFamily="34" charset="-120"/>
              </a:rPr>
              <a:t>Postgres volume stuck Pending</a:t>
            </a:r>
            <a:endParaRPr lang="en-US" sz="1800" dirty="0"/>
          </a:p>
        </p:txBody>
      </p:sp>
      <p:sp>
        <p:nvSpPr>
          <p:cNvPr id="15" name="Text 13"/>
          <p:cNvSpPr/>
          <p:nvPr/>
        </p:nvSpPr>
        <p:spPr>
          <a:xfrm>
            <a:off x="822960" y="5074920"/>
            <a:ext cx="2966618" cy="1005840"/>
          </a:xfrm>
          <a:prstGeom prst="rect">
            <a:avLst/>
          </a:prstGeom>
          <a:noFill/>
          <a:ln/>
        </p:spPr>
        <p:txBody>
          <a:bodyPr wrap="square" lIns="0" tIns="0" rIns="0" bIns="0" rtlCol="0" anchor="t"/>
          <a:lstStyle/>
          <a:p>
            <a:pPr indent="0" marL="0">
              <a:buNone/>
            </a:pPr>
            <a:r>
              <a:rPr lang="en-US" sz="1500" dirty="0">
                <a:solidFill>
                  <a:srgbClr val="9BA1AE"/>
                </a:solidFill>
                <a:latin typeface="Calibri" pitchFamily="34" charset="0"/>
                <a:ea typeface="Calibri" pitchFamily="34" charset="-122"/>
                <a:cs typeface="Calibri" pitchFamily="34" charset="-120"/>
              </a:rPr>
              <a:t>EKS has no default StorageClass. Named gp2 explicitly.</a:t>
            </a:r>
            <a:endParaRPr lang="en-US" sz="1500" dirty="0"/>
          </a:p>
        </p:txBody>
      </p:sp>
      <p:sp>
        <p:nvSpPr>
          <p:cNvPr id="16" name="Shape 14"/>
          <p:cNvSpPr/>
          <p:nvPr/>
        </p:nvSpPr>
        <p:spPr>
          <a:xfrm>
            <a:off x="4338218" y="4023360"/>
            <a:ext cx="3515258" cy="2240280"/>
          </a:xfrm>
          <a:prstGeom prst="roundRect">
            <a:avLst>
              <a:gd name="adj" fmla="val 3265"/>
            </a:avLst>
          </a:prstGeom>
          <a:solidFill>
            <a:srgbClr val="171A21"/>
          </a:solidFill>
          <a:ln w="9525">
            <a:solidFill>
              <a:srgbClr val="2C313C"/>
            </a:solidFill>
            <a:prstDash val="solid"/>
          </a:ln>
        </p:spPr>
      </p:sp>
      <p:sp>
        <p:nvSpPr>
          <p:cNvPr id="17" name="Text 15"/>
          <p:cNvSpPr/>
          <p:nvPr/>
        </p:nvSpPr>
        <p:spPr>
          <a:xfrm>
            <a:off x="4612538" y="4279392"/>
            <a:ext cx="2966618" cy="731520"/>
          </a:xfrm>
          <a:prstGeom prst="rect">
            <a:avLst/>
          </a:prstGeom>
          <a:noFill/>
          <a:ln/>
        </p:spPr>
        <p:txBody>
          <a:bodyPr wrap="square" lIns="0" tIns="0" rIns="0" bIns="0" rtlCol="0" anchor="t"/>
          <a:lstStyle/>
          <a:p>
            <a:pPr indent="0" marL="0">
              <a:buNone/>
            </a:pPr>
            <a:r>
              <a:rPr lang="en-US" sz="1800" b="1" dirty="0">
                <a:solidFill>
                  <a:srgbClr val="E8EAF0"/>
                </a:solidFill>
                <a:latin typeface="Calibri" pitchFamily="34" charset="0"/>
                <a:ea typeface="Calibri" pitchFamily="34" charset="-122"/>
                <a:cs typeface="Calibri" pitchFamily="34" charset="-120"/>
              </a:rPr>
              <a:t>Replicas racing to run migrations</a:t>
            </a:r>
            <a:endParaRPr lang="en-US" sz="1800" dirty="0"/>
          </a:p>
        </p:txBody>
      </p:sp>
      <p:sp>
        <p:nvSpPr>
          <p:cNvPr id="18" name="Text 16"/>
          <p:cNvSpPr/>
          <p:nvPr/>
        </p:nvSpPr>
        <p:spPr>
          <a:xfrm>
            <a:off x="4612538" y="5074920"/>
            <a:ext cx="2966618" cy="1005840"/>
          </a:xfrm>
          <a:prstGeom prst="rect">
            <a:avLst/>
          </a:prstGeom>
          <a:noFill/>
          <a:ln/>
        </p:spPr>
        <p:txBody>
          <a:bodyPr wrap="square" lIns="0" tIns="0" rIns="0" bIns="0" rtlCol="0" anchor="t"/>
          <a:lstStyle/>
          <a:p>
            <a:pPr indent="0" marL="0">
              <a:buNone/>
            </a:pPr>
            <a:r>
              <a:rPr lang="en-US" sz="1500" dirty="0">
                <a:solidFill>
                  <a:srgbClr val="9BA1AE"/>
                </a:solidFill>
                <a:latin typeface="Calibri" pitchFamily="34" charset="0"/>
                <a:ea typeface="Calibri" pitchFamily="34" charset="-122"/>
                <a:cs typeface="Calibri" pitchFamily="34" charset="-120"/>
              </a:rPr>
              <a:t>Wrapped migrations in a Postgres advisory lock.</a:t>
            </a:r>
            <a:endParaRPr lang="en-US" sz="1500" dirty="0"/>
          </a:p>
        </p:txBody>
      </p:sp>
      <p:sp>
        <p:nvSpPr>
          <p:cNvPr id="19" name="Shape 17"/>
          <p:cNvSpPr/>
          <p:nvPr/>
        </p:nvSpPr>
        <p:spPr>
          <a:xfrm>
            <a:off x="8127797" y="4023360"/>
            <a:ext cx="3515258" cy="2240280"/>
          </a:xfrm>
          <a:prstGeom prst="roundRect">
            <a:avLst>
              <a:gd name="adj" fmla="val 3265"/>
            </a:avLst>
          </a:prstGeom>
          <a:solidFill>
            <a:srgbClr val="171A21"/>
          </a:solidFill>
          <a:ln w="9525">
            <a:solidFill>
              <a:srgbClr val="2C313C"/>
            </a:solidFill>
            <a:prstDash val="solid"/>
          </a:ln>
        </p:spPr>
      </p:sp>
      <p:sp>
        <p:nvSpPr>
          <p:cNvPr id="20" name="Text 18"/>
          <p:cNvSpPr/>
          <p:nvPr/>
        </p:nvSpPr>
        <p:spPr>
          <a:xfrm>
            <a:off x="8402117" y="4279392"/>
            <a:ext cx="2966618" cy="731520"/>
          </a:xfrm>
          <a:prstGeom prst="rect">
            <a:avLst/>
          </a:prstGeom>
          <a:noFill/>
          <a:ln/>
        </p:spPr>
        <p:txBody>
          <a:bodyPr wrap="square" lIns="0" tIns="0" rIns="0" bIns="0" rtlCol="0" anchor="t"/>
          <a:lstStyle/>
          <a:p>
            <a:pPr indent="0" marL="0">
              <a:buNone/>
            </a:pPr>
            <a:r>
              <a:rPr lang="en-US" sz="1800" b="1" dirty="0">
                <a:solidFill>
                  <a:srgbClr val="E8EAF0"/>
                </a:solidFill>
                <a:latin typeface="Calibri" pitchFamily="34" charset="0"/>
                <a:ea typeface="Calibri" pitchFamily="34" charset="-122"/>
                <a:cs typeface="Calibri" pitchFamily="34" charset="-120"/>
              </a:rPr>
              <a:t>Simulator ignored SIGTERM as PID 1</a:t>
            </a:r>
            <a:endParaRPr lang="en-US" sz="1800" dirty="0"/>
          </a:p>
        </p:txBody>
      </p:sp>
      <p:sp>
        <p:nvSpPr>
          <p:cNvPr id="21" name="Text 19"/>
          <p:cNvSpPr/>
          <p:nvPr/>
        </p:nvSpPr>
        <p:spPr>
          <a:xfrm>
            <a:off x="8402117" y="5074920"/>
            <a:ext cx="2966618" cy="1005840"/>
          </a:xfrm>
          <a:prstGeom prst="rect">
            <a:avLst/>
          </a:prstGeom>
          <a:noFill/>
          <a:ln/>
        </p:spPr>
        <p:txBody>
          <a:bodyPr wrap="square" lIns="0" tIns="0" rIns="0" bIns="0" rtlCol="0" anchor="t"/>
          <a:lstStyle/>
          <a:p>
            <a:pPr indent="0" marL="0">
              <a:buNone/>
            </a:pPr>
            <a:r>
              <a:rPr lang="en-US" sz="1500" dirty="0">
                <a:solidFill>
                  <a:srgbClr val="9BA1AE"/>
                </a:solidFill>
                <a:latin typeface="Calibri" pitchFamily="34" charset="0"/>
                <a:ea typeface="Calibri" pitchFamily="34" charset="-122"/>
                <a:cs typeface="Calibri" pitchFamily="34" charset="-120"/>
              </a:rPr>
              <a:t>Added a signal handler so pods stop promptly.</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1014"/>
        </a:solidFill>
      </p:bgPr>
    </p:bg>
    <p:spTree>
      <p:nvGrpSpPr>
        <p:cNvPr id="1" name=""/>
        <p:cNvGrpSpPr/>
        <p:nvPr/>
      </p:nvGrpSpPr>
      <p:grpSpPr>
        <a:xfrm>
          <a:off x="0" y="0"/>
          <a:ext cx="0" cy="0"/>
          <a:chOff x="0" y="0"/>
          <a:chExt cx="0" cy="0"/>
        </a:xfrm>
      </p:grpSpPr>
      <p:sp>
        <p:nvSpPr>
          <p:cNvPr id="2" name="Text 0"/>
          <p:cNvSpPr/>
          <p:nvPr/>
        </p:nvSpPr>
        <p:spPr>
          <a:xfrm>
            <a:off x="548640" y="822960"/>
            <a:ext cx="5486400" cy="292608"/>
          </a:xfrm>
          <a:prstGeom prst="rect">
            <a:avLst/>
          </a:prstGeom>
          <a:noFill/>
          <a:ln/>
        </p:spPr>
        <p:txBody>
          <a:bodyPr wrap="square" lIns="0" tIns="0" rIns="0" bIns="0" rtlCol="0" anchor="t"/>
          <a:lstStyle/>
          <a:p>
            <a:pPr indent="0" marL="0">
              <a:buNone/>
            </a:pPr>
            <a:r>
              <a:rPr lang="en-US" sz="1400" b="1" spc="300" kern="0" dirty="0">
                <a:solidFill>
                  <a:srgbClr val="8B7BF0"/>
                </a:solidFill>
                <a:latin typeface="Calibri" pitchFamily="34" charset="0"/>
                <a:ea typeface="Calibri" pitchFamily="34" charset="-122"/>
                <a:cs typeface="Calibri" pitchFamily="34" charset="-120"/>
              </a:rPr>
              <a:t>SUMMARY</a:t>
            </a:r>
            <a:endParaRPr lang="en-US" sz="1400" dirty="0"/>
          </a:p>
        </p:txBody>
      </p:sp>
      <p:sp>
        <p:nvSpPr>
          <p:cNvPr id="3" name="Text 1"/>
          <p:cNvSpPr/>
          <p:nvPr/>
        </p:nvSpPr>
        <p:spPr>
          <a:xfrm>
            <a:off x="548640" y="1143000"/>
            <a:ext cx="6400800" cy="914400"/>
          </a:xfrm>
          <a:prstGeom prst="rect">
            <a:avLst/>
          </a:prstGeom>
          <a:noFill/>
          <a:ln/>
        </p:spPr>
        <p:txBody>
          <a:bodyPr wrap="square" lIns="0" tIns="0" rIns="0" bIns="0" rtlCol="0" anchor="t"/>
          <a:lstStyle/>
          <a:p>
            <a:pPr indent="0" marL="0">
              <a:buNone/>
            </a:pPr>
            <a:r>
              <a:rPr lang="en-US" sz="5400" b="1" dirty="0">
                <a:solidFill>
                  <a:srgbClr val="E8EAF0"/>
                </a:solidFill>
                <a:latin typeface="Calibri" pitchFamily="34" charset="0"/>
                <a:ea typeface="Calibri" pitchFamily="34" charset="-122"/>
                <a:cs typeface="Calibri" pitchFamily="34" charset="-120"/>
              </a:rPr>
              <a:t>Thank you</a:t>
            </a:r>
            <a:endParaRPr lang="en-US" sz="5400" dirty="0"/>
          </a:p>
        </p:txBody>
      </p:sp>
      <p:sp>
        <p:nvSpPr>
          <p:cNvPr id="4" name="Text 2"/>
          <p:cNvSpPr/>
          <p:nvPr/>
        </p:nvSpPr>
        <p:spPr>
          <a:xfrm>
            <a:off x="548640" y="2057400"/>
            <a:ext cx="6400800" cy="548640"/>
          </a:xfrm>
          <a:prstGeom prst="rect">
            <a:avLst/>
          </a:prstGeom>
          <a:noFill/>
          <a:ln/>
        </p:spPr>
        <p:txBody>
          <a:bodyPr wrap="square" lIns="0" tIns="0" rIns="0" bIns="0" rtlCol="0" anchor="t"/>
          <a:lstStyle/>
          <a:p>
            <a:pPr indent="0" marL="0">
              <a:buNone/>
            </a:pPr>
            <a:r>
              <a:rPr lang="en-US" sz="2600" dirty="0">
                <a:solidFill>
                  <a:srgbClr val="8B7BF0"/>
                </a:solidFill>
                <a:latin typeface="Calibri" pitchFamily="34" charset="0"/>
                <a:ea typeface="Calibri" pitchFamily="34" charset="-122"/>
                <a:cs typeface="Calibri" pitchFamily="34" charset="-120"/>
              </a:rPr>
              <a:t>Questions?</a:t>
            </a:r>
            <a:endParaRPr lang="en-US" sz="2600" dirty="0"/>
          </a:p>
        </p:txBody>
      </p:sp>
      <p:sp>
        <p:nvSpPr>
          <p:cNvPr id="5" name="Shape 3"/>
          <p:cNvSpPr/>
          <p:nvPr/>
        </p:nvSpPr>
        <p:spPr>
          <a:xfrm>
            <a:off x="548640" y="3246120"/>
            <a:ext cx="2036003" cy="822960"/>
          </a:xfrm>
          <a:prstGeom prst="roundRect">
            <a:avLst>
              <a:gd name="adj" fmla="val 8889"/>
            </a:avLst>
          </a:prstGeom>
          <a:solidFill>
            <a:srgbClr val="171A21"/>
          </a:solidFill>
          <a:ln w="9525">
            <a:solidFill>
              <a:srgbClr val="2C313C"/>
            </a:solidFill>
            <a:prstDash val="solid"/>
          </a:ln>
        </p:spPr>
      </p:sp>
      <p:sp>
        <p:nvSpPr>
          <p:cNvPr id="6" name="Shape 4"/>
          <p:cNvSpPr/>
          <p:nvPr/>
        </p:nvSpPr>
        <p:spPr>
          <a:xfrm>
            <a:off x="731520" y="3538728"/>
            <a:ext cx="237744" cy="237744"/>
          </a:xfrm>
          <a:prstGeom prst="ellipse">
            <a:avLst/>
          </a:prstGeom>
          <a:solidFill>
            <a:srgbClr val="8B7BF0"/>
          </a:solidFill>
          <a:ln w="6350">
            <a:solidFill>
              <a:srgbClr val="8B7BF0"/>
            </a:solidFill>
            <a:prstDash val="solid"/>
          </a:ln>
        </p:spPr>
      </p:sp>
      <p:sp>
        <p:nvSpPr>
          <p:cNvPr id="7" name="Text 5"/>
          <p:cNvSpPr/>
          <p:nvPr/>
        </p:nvSpPr>
        <p:spPr>
          <a:xfrm>
            <a:off x="1097280" y="3246120"/>
            <a:ext cx="1350203" cy="822960"/>
          </a:xfrm>
          <a:prstGeom prst="rect">
            <a:avLst/>
          </a:prstGeom>
          <a:noFill/>
          <a:ln/>
        </p:spPr>
        <p:txBody>
          <a:bodyPr wrap="square" lIns="0" tIns="0" rIns="0" bIns="0" rtlCol="0" anchor="ctr"/>
          <a:lstStyle/>
          <a:p>
            <a:pPr indent="0" marL="0">
              <a:buNone/>
            </a:pPr>
            <a:r>
              <a:rPr lang="en-US" sz="1500" b="1" dirty="0">
                <a:solidFill>
                  <a:srgbClr val="E8EAF0"/>
                </a:solidFill>
                <a:latin typeface="Calibri" pitchFamily="34" charset="0"/>
                <a:ea typeface="Calibri" pitchFamily="34" charset="-122"/>
                <a:cs typeface="Calibri" pitchFamily="34" charset="-120"/>
              </a:rPr>
              <a:t>App &amp; REST API</a:t>
            </a:r>
            <a:endParaRPr lang="en-US" sz="1500" dirty="0"/>
          </a:p>
        </p:txBody>
      </p:sp>
      <p:sp>
        <p:nvSpPr>
          <p:cNvPr id="8" name="Shape 6"/>
          <p:cNvSpPr/>
          <p:nvPr/>
        </p:nvSpPr>
        <p:spPr>
          <a:xfrm>
            <a:off x="2813243" y="3246120"/>
            <a:ext cx="2036003" cy="822960"/>
          </a:xfrm>
          <a:prstGeom prst="roundRect">
            <a:avLst>
              <a:gd name="adj" fmla="val 8889"/>
            </a:avLst>
          </a:prstGeom>
          <a:solidFill>
            <a:srgbClr val="171A21"/>
          </a:solidFill>
          <a:ln w="9525">
            <a:solidFill>
              <a:srgbClr val="2C313C"/>
            </a:solidFill>
            <a:prstDash val="solid"/>
          </a:ln>
        </p:spPr>
      </p:sp>
      <p:sp>
        <p:nvSpPr>
          <p:cNvPr id="9" name="Shape 7"/>
          <p:cNvSpPr/>
          <p:nvPr/>
        </p:nvSpPr>
        <p:spPr>
          <a:xfrm>
            <a:off x="2996123" y="3538728"/>
            <a:ext cx="237744" cy="237744"/>
          </a:xfrm>
          <a:prstGeom prst="ellipse">
            <a:avLst/>
          </a:prstGeom>
          <a:solidFill>
            <a:srgbClr val="8B7BF0"/>
          </a:solidFill>
          <a:ln w="6350">
            <a:solidFill>
              <a:srgbClr val="8B7BF0"/>
            </a:solidFill>
            <a:prstDash val="solid"/>
          </a:ln>
        </p:spPr>
      </p:sp>
      <p:sp>
        <p:nvSpPr>
          <p:cNvPr id="10" name="Text 8"/>
          <p:cNvSpPr/>
          <p:nvPr/>
        </p:nvSpPr>
        <p:spPr>
          <a:xfrm>
            <a:off x="3361883" y="3246120"/>
            <a:ext cx="1350203" cy="822960"/>
          </a:xfrm>
          <a:prstGeom prst="rect">
            <a:avLst/>
          </a:prstGeom>
          <a:noFill/>
          <a:ln/>
        </p:spPr>
        <p:txBody>
          <a:bodyPr wrap="square" lIns="0" tIns="0" rIns="0" bIns="0" rtlCol="0" anchor="ctr"/>
          <a:lstStyle/>
          <a:p>
            <a:pPr indent="0" marL="0">
              <a:buNone/>
            </a:pPr>
            <a:r>
              <a:rPr lang="en-US" sz="1500" b="1" dirty="0">
                <a:solidFill>
                  <a:srgbClr val="E8EAF0"/>
                </a:solidFill>
                <a:latin typeface="Calibri" pitchFamily="34" charset="0"/>
                <a:ea typeface="Calibri" pitchFamily="34" charset="-122"/>
                <a:cs typeface="Calibri" pitchFamily="34" charset="-120"/>
              </a:rPr>
              <a:t>15 pytest tests</a:t>
            </a:r>
            <a:endParaRPr lang="en-US" sz="1500" dirty="0"/>
          </a:p>
        </p:txBody>
      </p:sp>
      <p:sp>
        <p:nvSpPr>
          <p:cNvPr id="11" name="Shape 9"/>
          <p:cNvSpPr/>
          <p:nvPr/>
        </p:nvSpPr>
        <p:spPr>
          <a:xfrm>
            <a:off x="5077846" y="3246120"/>
            <a:ext cx="2036003" cy="822960"/>
          </a:xfrm>
          <a:prstGeom prst="roundRect">
            <a:avLst>
              <a:gd name="adj" fmla="val 8889"/>
            </a:avLst>
          </a:prstGeom>
          <a:solidFill>
            <a:srgbClr val="171A21"/>
          </a:solidFill>
          <a:ln w="9525">
            <a:solidFill>
              <a:srgbClr val="2C313C"/>
            </a:solidFill>
            <a:prstDash val="solid"/>
          </a:ln>
        </p:spPr>
      </p:sp>
      <p:sp>
        <p:nvSpPr>
          <p:cNvPr id="12" name="Shape 10"/>
          <p:cNvSpPr/>
          <p:nvPr/>
        </p:nvSpPr>
        <p:spPr>
          <a:xfrm>
            <a:off x="5260726" y="3538728"/>
            <a:ext cx="237744" cy="237744"/>
          </a:xfrm>
          <a:prstGeom prst="ellipse">
            <a:avLst/>
          </a:prstGeom>
          <a:solidFill>
            <a:srgbClr val="8B7BF0"/>
          </a:solidFill>
          <a:ln w="6350">
            <a:solidFill>
              <a:srgbClr val="8B7BF0"/>
            </a:solidFill>
            <a:prstDash val="solid"/>
          </a:ln>
        </p:spPr>
      </p:sp>
      <p:sp>
        <p:nvSpPr>
          <p:cNvPr id="13" name="Text 11"/>
          <p:cNvSpPr/>
          <p:nvPr/>
        </p:nvSpPr>
        <p:spPr>
          <a:xfrm>
            <a:off x="5626486" y="3246120"/>
            <a:ext cx="1350203" cy="822960"/>
          </a:xfrm>
          <a:prstGeom prst="rect">
            <a:avLst/>
          </a:prstGeom>
          <a:noFill/>
          <a:ln/>
        </p:spPr>
        <p:txBody>
          <a:bodyPr wrap="square" lIns="0" tIns="0" rIns="0" bIns="0" rtlCol="0" anchor="ctr"/>
          <a:lstStyle/>
          <a:p>
            <a:pPr indent="0" marL="0">
              <a:buNone/>
            </a:pPr>
            <a:r>
              <a:rPr lang="en-US" sz="1500" b="1" dirty="0">
                <a:solidFill>
                  <a:srgbClr val="E8EAF0"/>
                </a:solidFill>
                <a:latin typeface="Calibri" pitchFamily="34" charset="0"/>
                <a:ea typeface="Calibri" pitchFamily="34" charset="-122"/>
                <a:cs typeface="Calibri" pitchFamily="34" charset="-120"/>
              </a:rPr>
              <a:t>Git workflow</a:t>
            </a:r>
            <a:endParaRPr lang="en-US" sz="1500" dirty="0"/>
          </a:p>
        </p:txBody>
      </p:sp>
      <p:sp>
        <p:nvSpPr>
          <p:cNvPr id="14" name="Shape 12"/>
          <p:cNvSpPr/>
          <p:nvPr/>
        </p:nvSpPr>
        <p:spPr>
          <a:xfrm>
            <a:off x="7342449" y="3246120"/>
            <a:ext cx="2036003" cy="822960"/>
          </a:xfrm>
          <a:prstGeom prst="roundRect">
            <a:avLst>
              <a:gd name="adj" fmla="val 8889"/>
            </a:avLst>
          </a:prstGeom>
          <a:solidFill>
            <a:srgbClr val="171A21"/>
          </a:solidFill>
          <a:ln w="9525">
            <a:solidFill>
              <a:srgbClr val="2C313C"/>
            </a:solidFill>
            <a:prstDash val="solid"/>
          </a:ln>
        </p:spPr>
      </p:sp>
      <p:sp>
        <p:nvSpPr>
          <p:cNvPr id="15" name="Shape 13"/>
          <p:cNvSpPr/>
          <p:nvPr/>
        </p:nvSpPr>
        <p:spPr>
          <a:xfrm>
            <a:off x="7525329" y="3538728"/>
            <a:ext cx="237744" cy="237744"/>
          </a:xfrm>
          <a:prstGeom prst="ellipse">
            <a:avLst/>
          </a:prstGeom>
          <a:solidFill>
            <a:srgbClr val="8B7BF0"/>
          </a:solidFill>
          <a:ln w="6350">
            <a:solidFill>
              <a:srgbClr val="8B7BF0"/>
            </a:solidFill>
            <a:prstDash val="solid"/>
          </a:ln>
        </p:spPr>
      </p:sp>
      <p:sp>
        <p:nvSpPr>
          <p:cNvPr id="16" name="Text 14"/>
          <p:cNvSpPr/>
          <p:nvPr/>
        </p:nvSpPr>
        <p:spPr>
          <a:xfrm>
            <a:off x="7891089" y="3246120"/>
            <a:ext cx="1350203" cy="822960"/>
          </a:xfrm>
          <a:prstGeom prst="rect">
            <a:avLst/>
          </a:prstGeom>
          <a:noFill/>
          <a:ln/>
        </p:spPr>
        <p:txBody>
          <a:bodyPr wrap="square" lIns="0" tIns="0" rIns="0" bIns="0" rtlCol="0" anchor="ctr"/>
          <a:lstStyle/>
          <a:p>
            <a:pPr indent="0" marL="0">
              <a:buNone/>
            </a:pPr>
            <a:r>
              <a:rPr lang="en-US" sz="1500" b="1" dirty="0">
                <a:solidFill>
                  <a:srgbClr val="E8EAF0"/>
                </a:solidFill>
                <a:latin typeface="Calibri" pitchFamily="34" charset="0"/>
                <a:ea typeface="Calibri" pitchFamily="34" charset="-122"/>
                <a:cs typeface="Calibri" pitchFamily="34" charset="-120"/>
              </a:rPr>
              <a:t>Non-root Docker</a:t>
            </a:r>
            <a:endParaRPr lang="en-US" sz="1500" dirty="0"/>
          </a:p>
        </p:txBody>
      </p:sp>
      <p:sp>
        <p:nvSpPr>
          <p:cNvPr id="17" name="Shape 15"/>
          <p:cNvSpPr/>
          <p:nvPr/>
        </p:nvSpPr>
        <p:spPr>
          <a:xfrm>
            <a:off x="9607052" y="3246120"/>
            <a:ext cx="2036003" cy="822960"/>
          </a:xfrm>
          <a:prstGeom prst="roundRect">
            <a:avLst>
              <a:gd name="adj" fmla="val 8889"/>
            </a:avLst>
          </a:prstGeom>
          <a:solidFill>
            <a:srgbClr val="171A21"/>
          </a:solidFill>
          <a:ln w="9525">
            <a:solidFill>
              <a:srgbClr val="2C313C"/>
            </a:solidFill>
            <a:prstDash val="solid"/>
          </a:ln>
        </p:spPr>
      </p:sp>
      <p:sp>
        <p:nvSpPr>
          <p:cNvPr id="18" name="Shape 16"/>
          <p:cNvSpPr/>
          <p:nvPr/>
        </p:nvSpPr>
        <p:spPr>
          <a:xfrm>
            <a:off x="9789932" y="3538728"/>
            <a:ext cx="237744" cy="237744"/>
          </a:xfrm>
          <a:prstGeom prst="ellipse">
            <a:avLst/>
          </a:prstGeom>
          <a:solidFill>
            <a:srgbClr val="8B7BF0"/>
          </a:solidFill>
          <a:ln w="6350">
            <a:solidFill>
              <a:srgbClr val="8B7BF0"/>
            </a:solidFill>
            <a:prstDash val="solid"/>
          </a:ln>
        </p:spPr>
      </p:sp>
      <p:sp>
        <p:nvSpPr>
          <p:cNvPr id="19" name="Text 17"/>
          <p:cNvSpPr/>
          <p:nvPr/>
        </p:nvSpPr>
        <p:spPr>
          <a:xfrm>
            <a:off x="10155692" y="3246120"/>
            <a:ext cx="1350203" cy="822960"/>
          </a:xfrm>
          <a:prstGeom prst="rect">
            <a:avLst/>
          </a:prstGeom>
          <a:noFill/>
          <a:ln/>
        </p:spPr>
        <p:txBody>
          <a:bodyPr wrap="square" lIns="0" tIns="0" rIns="0" bIns="0" rtlCol="0" anchor="ctr"/>
          <a:lstStyle/>
          <a:p>
            <a:pPr indent="0" marL="0">
              <a:buNone/>
            </a:pPr>
            <a:r>
              <a:rPr lang="en-US" sz="1500" b="1" dirty="0">
                <a:solidFill>
                  <a:srgbClr val="E8EAF0"/>
                </a:solidFill>
                <a:latin typeface="Calibri" pitchFamily="34" charset="0"/>
                <a:ea typeface="Calibri" pitchFamily="34" charset="-122"/>
                <a:cs typeface="Calibri" pitchFamily="34" charset="-120"/>
              </a:rPr>
              <a:t>CI/CD pipeline</a:t>
            </a:r>
            <a:endParaRPr lang="en-US" sz="1500" dirty="0"/>
          </a:p>
        </p:txBody>
      </p:sp>
      <p:sp>
        <p:nvSpPr>
          <p:cNvPr id="20" name="Shape 18"/>
          <p:cNvSpPr/>
          <p:nvPr/>
        </p:nvSpPr>
        <p:spPr>
          <a:xfrm>
            <a:off x="548640" y="4297680"/>
            <a:ext cx="2036003" cy="822960"/>
          </a:xfrm>
          <a:prstGeom prst="roundRect">
            <a:avLst>
              <a:gd name="adj" fmla="val 8889"/>
            </a:avLst>
          </a:prstGeom>
          <a:solidFill>
            <a:srgbClr val="171A21"/>
          </a:solidFill>
          <a:ln w="9525">
            <a:solidFill>
              <a:srgbClr val="2C313C"/>
            </a:solidFill>
            <a:prstDash val="solid"/>
          </a:ln>
        </p:spPr>
      </p:sp>
      <p:sp>
        <p:nvSpPr>
          <p:cNvPr id="21" name="Shape 19"/>
          <p:cNvSpPr/>
          <p:nvPr/>
        </p:nvSpPr>
        <p:spPr>
          <a:xfrm>
            <a:off x="731520" y="4590288"/>
            <a:ext cx="237744" cy="237744"/>
          </a:xfrm>
          <a:prstGeom prst="ellipse">
            <a:avLst/>
          </a:prstGeom>
          <a:solidFill>
            <a:srgbClr val="8B7BF0"/>
          </a:solidFill>
          <a:ln w="6350">
            <a:solidFill>
              <a:srgbClr val="8B7BF0"/>
            </a:solidFill>
            <a:prstDash val="solid"/>
          </a:ln>
        </p:spPr>
      </p:sp>
      <p:sp>
        <p:nvSpPr>
          <p:cNvPr id="22" name="Text 20"/>
          <p:cNvSpPr/>
          <p:nvPr/>
        </p:nvSpPr>
        <p:spPr>
          <a:xfrm>
            <a:off x="1097280" y="4297680"/>
            <a:ext cx="1350203" cy="822960"/>
          </a:xfrm>
          <a:prstGeom prst="rect">
            <a:avLst/>
          </a:prstGeom>
          <a:noFill/>
          <a:ln/>
        </p:spPr>
        <p:txBody>
          <a:bodyPr wrap="square" lIns="0" tIns="0" rIns="0" bIns="0" rtlCol="0" anchor="ctr"/>
          <a:lstStyle/>
          <a:p>
            <a:pPr indent="0" marL="0">
              <a:buNone/>
            </a:pPr>
            <a:r>
              <a:rPr lang="en-US" sz="1500" b="1" dirty="0">
                <a:solidFill>
                  <a:srgbClr val="E8EAF0"/>
                </a:solidFill>
                <a:latin typeface="Calibri" pitchFamily="34" charset="0"/>
                <a:ea typeface="Calibri" pitchFamily="34" charset="-122"/>
                <a:cs typeface="Calibri" pitchFamily="34" charset="-120"/>
              </a:rPr>
              <a:t>Trivy security gate</a:t>
            </a:r>
            <a:endParaRPr lang="en-US" sz="1500" dirty="0"/>
          </a:p>
        </p:txBody>
      </p:sp>
      <p:sp>
        <p:nvSpPr>
          <p:cNvPr id="23" name="Shape 21"/>
          <p:cNvSpPr/>
          <p:nvPr/>
        </p:nvSpPr>
        <p:spPr>
          <a:xfrm>
            <a:off x="2813243" y="4297680"/>
            <a:ext cx="2036003" cy="822960"/>
          </a:xfrm>
          <a:prstGeom prst="roundRect">
            <a:avLst>
              <a:gd name="adj" fmla="val 8889"/>
            </a:avLst>
          </a:prstGeom>
          <a:solidFill>
            <a:srgbClr val="171A21"/>
          </a:solidFill>
          <a:ln w="9525">
            <a:solidFill>
              <a:srgbClr val="2C313C"/>
            </a:solidFill>
            <a:prstDash val="solid"/>
          </a:ln>
        </p:spPr>
      </p:sp>
      <p:sp>
        <p:nvSpPr>
          <p:cNvPr id="24" name="Shape 22"/>
          <p:cNvSpPr/>
          <p:nvPr/>
        </p:nvSpPr>
        <p:spPr>
          <a:xfrm>
            <a:off x="2996123" y="4590288"/>
            <a:ext cx="237744" cy="237744"/>
          </a:xfrm>
          <a:prstGeom prst="ellipse">
            <a:avLst/>
          </a:prstGeom>
          <a:solidFill>
            <a:srgbClr val="8B7BF0"/>
          </a:solidFill>
          <a:ln w="6350">
            <a:solidFill>
              <a:srgbClr val="8B7BF0"/>
            </a:solidFill>
            <a:prstDash val="solid"/>
          </a:ln>
        </p:spPr>
      </p:sp>
      <p:sp>
        <p:nvSpPr>
          <p:cNvPr id="25" name="Text 23"/>
          <p:cNvSpPr/>
          <p:nvPr/>
        </p:nvSpPr>
        <p:spPr>
          <a:xfrm>
            <a:off x="3361883" y="4297680"/>
            <a:ext cx="1350203" cy="822960"/>
          </a:xfrm>
          <a:prstGeom prst="rect">
            <a:avLst/>
          </a:prstGeom>
          <a:noFill/>
          <a:ln/>
        </p:spPr>
        <p:txBody>
          <a:bodyPr wrap="square" lIns="0" tIns="0" rIns="0" bIns="0" rtlCol="0" anchor="ctr"/>
          <a:lstStyle/>
          <a:p>
            <a:pPr indent="0" marL="0">
              <a:buNone/>
            </a:pPr>
            <a:r>
              <a:rPr lang="en-US" sz="1500" b="1" dirty="0">
                <a:solidFill>
                  <a:srgbClr val="E8EAF0"/>
                </a:solidFill>
                <a:latin typeface="Calibri" pitchFamily="34" charset="0"/>
                <a:ea typeface="Calibri" pitchFamily="34" charset="-122"/>
                <a:cs typeface="Calibri" pitchFamily="34" charset="-120"/>
              </a:rPr>
              <a:t>Terraform on AWS</a:t>
            </a:r>
            <a:endParaRPr lang="en-US" sz="1500" dirty="0"/>
          </a:p>
        </p:txBody>
      </p:sp>
      <p:sp>
        <p:nvSpPr>
          <p:cNvPr id="26" name="Shape 24"/>
          <p:cNvSpPr/>
          <p:nvPr/>
        </p:nvSpPr>
        <p:spPr>
          <a:xfrm>
            <a:off x="5077846" y="4297680"/>
            <a:ext cx="2036003" cy="822960"/>
          </a:xfrm>
          <a:prstGeom prst="roundRect">
            <a:avLst>
              <a:gd name="adj" fmla="val 8889"/>
            </a:avLst>
          </a:prstGeom>
          <a:solidFill>
            <a:srgbClr val="171A21"/>
          </a:solidFill>
          <a:ln w="9525">
            <a:solidFill>
              <a:srgbClr val="2C313C"/>
            </a:solidFill>
            <a:prstDash val="solid"/>
          </a:ln>
        </p:spPr>
      </p:sp>
      <p:sp>
        <p:nvSpPr>
          <p:cNvPr id="27" name="Shape 25"/>
          <p:cNvSpPr/>
          <p:nvPr/>
        </p:nvSpPr>
        <p:spPr>
          <a:xfrm>
            <a:off x="5260726" y="4590288"/>
            <a:ext cx="237744" cy="237744"/>
          </a:xfrm>
          <a:prstGeom prst="ellipse">
            <a:avLst/>
          </a:prstGeom>
          <a:solidFill>
            <a:srgbClr val="8B7BF0"/>
          </a:solidFill>
          <a:ln w="6350">
            <a:solidFill>
              <a:srgbClr val="8B7BF0"/>
            </a:solidFill>
            <a:prstDash val="solid"/>
          </a:ln>
        </p:spPr>
      </p:sp>
      <p:sp>
        <p:nvSpPr>
          <p:cNvPr id="28" name="Text 26"/>
          <p:cNvSpPr/>
          <p:nvPr/>
        </p:nvSpPr>
        <p:spPr>
          <a:xfrm>
            <a:off x="5626486" y="4297680"/>
            <a:ext cx="1350203" cy="822960"/>
          </a:xfrm>
          <a:prstGeom prst="rect">
            <a:avLst/>
          </a:prstGeom>
          <a:noFill/>
          <a:ln/>
        </p:spPr>
        <p:txBody>
          <a:bodyPr wrap="square" lIns="0" tIns="0" rIns="0" bIns="0" rtlCol="0" anchor="ctr"/>
          <a:lstStyle/>
          <a:p>
            <a:pPr indent="0" marL="0">
              <a:buNone/>
            </a:pPr>
            <a:r>
              <a:rPr lang="en-US" sz="1500" b="1" dirty="0">
                <a:solidFill>
                  <a:srgbClr val="E8EAF0"/>
                </a:solidFill>
                <a:latin typeface="Calibri" pitchFamily="34" charset="0"/>
                <a:ea typeface="Calibri" pitchFamily="34" charset="-122"/>
                <a:cs typeface="Calibri" pitchFamily="34" charset="-120"/>
              </a:rPr>
              <a:t>Kubernetes + Helm</a:t>
            </a:r>
            <a:endParaRPr lang="en-US" sz="1500" dirty="0"/>
          </a:p>
        </p:txBody>
      </p:sp>
      <p:sp>
        <p:nvSpPr>
          <p:cNvPr id="29" name="Shape 27"/>
          <p:cNvSpPr/>
          <p:nvPr/>
        </p:nvSpPr>
        <p:spPr>
          <a:xfrm>
            <a:off x="7342449" y="4297680"/>
            <a:ext cx="2036003" cy="822960"/>
          </a:xfrm>
          <a:prstGeom prst="roundRect">
            <a:avLst>
              <a:gd name="adj" fmla="val 8889"/>
            </a:avLst>
          </a:prstGeom>
          <a:solidFill>
            <a:srgbClr val="171A21"/>
          </a:solidFill>
          <a:ln w="9525">
            <a:solidFill>
              <a:srgbClr val="2C313C"/>
            </a:solidFill>
            <a:prstDash val="solid"/>
          </a:ln>
        </p:spPr>
      </p:sp>
      <p:sp>
        <p:nvSpPr>
          <p:cNvPr id="30" name="Shape 28"/>
          <p:cNvSpPr/>
          <p:nvPr/>
        </p:nvSpPr>
        <p:spPr>
          <a:xfrm>
            <a:off x="7525329" y="4590288"/>
            <a:ext cx="237744" cy="237744"/>
          </a:xfrm>
          <a:prstGeom prst="ellipse">
            <a:avLst/>
          </a:prstGeom>
          <a:solidFill>
            <a:srgbClr val="8B7BF0"/>
          </a:solidFill>
          <a:ln w="6350">
            <a:solidFill>
              <a:srgbClr val="8B7BF0"/>
            </a:solidFill>
            <a:prstDash val="solid"/>
          </a:ln>
        </p:spPr>
      </p:sp>
      <p:sp>
        <p:nvSpPr>
          <p:cNvPr id="31" name="Text 29"/>
          <p:cNvSpPr/>
          <p:nvPr/>
        </p:nvSpPr>
        <p:spPr>
          <a:xfrm>
            <a:off x="7891089" y="4297680"/>
            <a:ext cx="1350203" cy="822960"/>
          </a:xfrm>
          <a:prstGeom prst="rect">
            <a:avLst/>
          </a:prstGeom>
          <a:noFill/>
          <a:ln/>
        </p:spPr>
        <p:txBody>
          <a:bodyPr wrap="square" lIns="0" tIns="0" rIns="0" bIns="0" rtlCol="0" anchor="ctr"/>
          <a:lstStyle/>
          <a:p>
            <a:pPr indent="0" marL="0">
              <a:buNone/>
            </a:pPr>
            <a:r>
              <a:rPr lang="en-US" sz="1500" b="1" dirty="0">
                <a:solidFill>
                  <a:srgbClr val="E8EAF0"/>
                </a:solidFill>
                <a:latin typeface="Calibri" pitchFamily="34" charset="0"/>
                <a:ea typeface="Calibri" pitchFamily="34" charset="-122"/>
                <a:cs typeface="Calibri" pitchFamily="34" charset="-120"/>
              </a:rPr>
              <a:t>HPA autoscaling</a:t>
            </a:r>
            <a:endParaRPr lang="en-US" sz="1500" dirty="0"/>
          </a:p>
        </p:txBody>
      </p:sp>
      <p:sp>
        <p:nvSpPr>
          <p:cNvPr id="32" name="Shape 30"/>
          <p:cNvSpPr/>
          <p:nvPr/>
        </p:nvSpPr>
        <p:spPr>
          <a:xfrm>
            <a:off x="9607052" y="4297680"/>
            <a:ext cx="2036003" cy="822960"/>
          </a:xfrm>
          <a:prstGeom prst="roundRect">
            <a:avLst>
              <a:gd name="adj" fmla="val 8889"/>
            </a:avLst>
          </a:prstGeom>
          <a:solidFill>
            <a:srgbClr val="171A21"/>
          </a:solidFill>
          <a:ln w="9525">
            <a:solidFill>
              <a:srgbClr val="2C313C"/>
            </a:solidFill>
            <a:prstDash val="solid"/>
          </a:ln>
        </p:spPr>
      </p:sp>
      <p:sp>
        <p:nvSpPr>
          <p:cNvPr id="33" name="Shape 31"/>
          <p:cNvSpPr/>
          <p:nvPr/>
        </p:nvSpPr>
        <p:spPr>
          <a:xfrm>
            <a:off x="9789932" y="4590288"/>
            <a:ext cx="237744" cy="237744"/>
          </a:xfrm>
          <a:prstGeom prst="ellipse">
            <a:avLst/>
          </a:prstGeom>
          <a:solidFill>
            <a:srgbClr val="8B7BF0"/>
          </a:solidFill>
          <a:ln w="6350">
            <a:solidFill>
              <a:srgbClr val="8B7BF0"/>
            </a:solidFill>
            <a:prstDash val="solid"/>
          </a:ln>
        </p:spPr>
      </p:sp>
      <p:sp>
        <p:nvSpPr>
          <p:cNvPr id="34" name="Text 32"/>
          <p:cNvSpPr/>
          <p:nvPr/>
        </p:nvSpPr>
        <p:spPr>
          <a:xfrm>
            <a:off x="10155692" y="4297680"/>
            <a:ext cx="1350203" cy="822960"/>
          </a:xfrm>
          <a:prstGeom prst="rect">
            <a:avLst/>
          </a:prstGeom>
          <a:noFill/>
          <a:ln/>
        </p:spPr>
        <p:txBody>
          <a:bodyPr wrap="square" lIns="0" tIns="0" rIns="0" bIns="0" rtlCol="0" anchor="ctr"/>
          <a:lstStyle/>
          <a:p>
            <a:pPr indent="0" marL="0">
              <a:buNone/>
            </a:pPr>
            <a:r>
              <a:rPr lang="en-US" sz="1500" b="1" dirty="0">
                <a:solidFill>
                  <a:srgbClr val="E8EAF0"/>
                </a:solidFill>
                <a:latin typeface="Calibri" pitchFamily="34" charset="0"/>
                <a:ea typeface="Calibri" pitchFamily="34" charset="-122"/>
                <a:cs typeface="Calibri" pitchFamily="34" charset="-120"/>
              </a:rPr>
              <a:t>Prometheus + Grafana</a:t>
            </a:r>
            <a:endParaRPr lang="en-US" sz="1500" dirty="0"/>
          </a:p>
        </p:txBody>
      </p:sp>
      <p:sp>
        <p:nvSpPr>
          <p:cNvPr id="35" name="Text 33"/>
          <p:cNvSpPr/>
          <p:nvPr/>
        </p:nvSpPr>
        <p:spPr>
          <a:xfrm>
            <a:off x="548640" y="5715000"/>
            <a:ext cx="11064240" cy="365760"/>
          </a:xfrm>
          <a:prstGeom prst="rect">
            <a:avLst/>
          </a:prstGeom>
          <a:noFill/>
          <a:ln/>
        </p:spPr>
        <p:txBody>
          <a:bodyPr wrap="square" lIns="0" tIns="0" rIns="0" bIns="0" rtlCol="0" anchor="t"/>
          <a:lstStyle/>
          <a:p>
            <a:pPr indent="0" marL="0">
              <a:buNone/>
            </a:pPr>
            <a:r>
              <a:rPr lang="en-US" sz="1500" dirty="0">
                <a:solidFill>
                  <a:srgbClr val="9BA1AE"/>
                </a:solidFill>
                <a:latin typeface="Calibri" pitchFamily="34" charset="0"/>
                <a:ea typeface="Calibri" pitchFamily="34" charset="-122"/>
                <a:cs typeface="Calibri" pitchFamily="34" charset="-120"/>
              </a:rPr>
              <a:t>Joe Daniel  ·  github.com/Joe-Daniel29/campus-patrol</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 Patrol — DevOps Capstone</dc:title>
  <dc:subject>PptxGenJS Presentation</dc:subject>
  <dc:creator>Joe Daniel</dc:creator>
  <cp:lastModifiedBy>Joe Daniel</cp:lastModifiedBy>
  <cp:revision>1</cp:revision>
  <dcterms:created xsi:type="dcterms:W3CDTF">2026-10-16T17:37:51Z</dcterms:created>
  <dcterms:modified xsi:type="dcterms:W3CDTF">2026-10-16T17:37:51Z</dcterms:modified>
</cp:coreProperties>
</file>